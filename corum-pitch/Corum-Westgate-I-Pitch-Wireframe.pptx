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D9D9D9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7373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7A7A7A"/>
                </a:solidFill>
                <a:latin typeface="Arial"/>
              </a:rPr>
              <a:t>[ FULL-BLEED FOTO WESTGATE I — Thomas R. Malthusstraat 5, Amsterdam 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114800"/>
            <a:ext cx="12191695" cy="109728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C1C1C"/>
                </a:solidFill>
                <a:latin typeface="Arial"/>
              </a:rPr>
              <a:t>WESTGATE I — PARIS 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12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3002B"/>
                </a:solidFill>
                <a:latin typeface="Arial"/>
              </a:rPr>
              <a:t>Your single point of control for the sustainable transformation of a live, PwC-occupied 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A7A7A"/>
                </a:solidFill>
                <a:latin typeface="Arial"/>
              </a:rPr>
              <a:t>Project Management Proposal  ·  Prepared for Corum A.M.  ·  July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0" y="5074920"/>
            <a:ext cx="1645920" cy="82296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0" y="53492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7A7A"/>
                </a:solidFill>
                <a:latin typeface="Arial"/>
              </a:rPr>
              <a:t>[C&amp;W LOGO]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EXECUTIVE SUMMARY — THE PROPOSAL ON ONE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Appoint C&amp;W as your single point of control: we manage PwC and</a:t>
            </a:r>
          </a:p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organize Paris Proof, so you decide and we deliver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2103120" cy="932688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73352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1600200"/>
            <a:ext cx="9189720" cy="932688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691640"/>
            <a:ext cx="88696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1C1C1C"/>
                </a:solidFill>
                <a:latin typeface="Arial"/>
              </a:rPr>
              <a:t>Corum owns Westgate I — a prime 27,000 m² Amsterdam office, fully let to PwC — and has committed to make the building Paris Proof. This is a binding contractual obligation, not an ambition.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642616"/>
            <a:ext cx="2103120" cy="1170432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715768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COMPLICATION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2642616"/>
            <a:ext cx="9189720" cy="1170432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0" y="2734056"/>
            <a:ext cx="8869680" cy="987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1C1C1C"/>
                </a:solidFill>
                <a:latin typeface="Arial"/>
              </a:rPr>
              <a:t>The upgrade must happen inside a live, occupied building without losing PwC's confidence, within a fixed budget and against a hard sustainability deadline — while being steered from a distance by an owner whose core business is investment, not Dutch construction management.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22776"/>
            <a:ext cx="2103120" cy="932688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QUESTION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0" y="3922776"/>
            <a:ext cx="918972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C300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4014216"/>
            <a:ext cx="88696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1C1C1C"/>
                </a:solidFill>
                <a:latin typeface="Arial"/>
              </a:rPr>
              <a:t>How does Corum deliver Paris Proof and protect both the PwC tenancy and the asset's value, without being pulled into day-to-day tenant and project management in the Netherlands?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965192"/>
            <a:ext cx="2103120" cy="1170432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5038344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4965192"/>
            <a:ext cx="91897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300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5056632"/>
            <a:ext cx="8869680" cy="987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1C1C1C"/>
                </a:solidFill>
                <a:latin typeface="Arial"/>
              </a:rPr>
              <a:t>Appoint Cushman &amp; Wakefield as your single point of control. We manage PwC on your behalf and orchestrate the entire sustainability transformation end-to-end — from a low-commitment preparatory phase to Paris Proof handover. One contact, one report, no surprises.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How this proposal is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1810512" cy="393192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20240"/>
            <a:ext cx="15910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C3002B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591056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C1C1C"/>
                </a:solidFill>
                <a:latin typeface="Arial"/>
              </a:rPr>
              <a:t>THE CASE FOR 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1591056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7A7A7A"/>
                </a:solidFill>
                <a:latin typeface="Arial"/>
              </a:rPr>
              <a:t>Situation, complication</a:t>
            </a:r>
          </a:p>
          <a:p>
            <a:pPr algn="l"/>
            <a:r>
              <a:rPr sz="950" b="0" i="0">
                <a:solidFill>
                  <a:srgbClr val="7A7A7A"/>
                </a:solidFill>
                <a:latin typeface="Arial"/>
              </a:rPr>
              <a:t>&amp; our governing answer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59152" y="1737360"/>
            <a:ext cx="1810512" cy="393192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1920240"/>
            <a:ext cx="15910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C3002B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606040"/>
            <a:ext cx="1591056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C1C1C"/>
                </a:solidFill>
                <a:latin typeface="Arial"/>
              </a:rPr>
              <a:t>WHAT WE TAKE</a:t>
            </a:r>
          </a:p>
          <a:p>
            <a:pPr algn="l"/>
            <a:r>
              <a:rPr sz="1200" b="1" i="0">
                <a:solidFill>
                  <a:srgbClr val="1C1C1C"/>
                </a:solidFill>
                <a:latin typeface="Arial"/>
              </a:rPr>
              <a:t>OFF YOUR 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840480"/>
            <a:ext cx="1591056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7A7A7A"/>
                </a:solidFill>
                <a:latin typeface="Arial"/>
              </a:rPr>
              <a:t>Managing PwC &amp; organizing</a:t>
            </a:r>
          </a:p>
          <a:p>
            <a:pPr algn="l"/>
            <a:r>
              <a:rPr sz="950" b="0" i="0">
                <a:solidFill>
                  <a:srgbClr val="7A7A7A"/>
                </a:solidFill>
                <a:latin typeface="Arial"/>
              </a:rPr>
              <a:t>the Paris Proof works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1104" y="1737360"/>
            <a:ext cx="1810512" cy="393192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832" y="1920240"/>
            <a:ext cx="15910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C3002B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2606040"/>
            <a:ext cx="1591056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C1C1C"/>
                </a:solidFill>
                <a:latin typeface="Arial"/>
              </a:rPr>
              <a:t>THE JOURNEY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3840480"/>
            <a:ext cx="1591056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7A7A7A"/>
                </a:solidFill>
                <a:latin typeface="Arial"/>
              </a:rPr>
              <a:t>Chronological roadmap,</a:t>
            </a:r>
          </a:p>
          <a:p>
            <a:pPr algn="l"/>
            <a:r>
              <a:rPr sz="950" b="0" i="0">
                <a:solidFill>
                  <a:srgbClr val="7A7A7A"/>
                </a:solidFill>
                <a:latin typeface="Arial"/>
              </a:rPr>
              <a:t>phasing &amp; planning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3056" y="1737360"/>
            <a:ext cx="1810512" cy="393192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1920240"/>
            <a:ext cx="15910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C3002B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4" y="2606040"/>
            <a:ext cx="1591056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C1C1C"/>
                </a:solidFill>
                <a:latin typeface="Arial"/>
              </a:rPr>
              <a:t>HOW WE STAY</a:t>
            </a:r>
          </a:p>
          <a:p>
            <a:pPr algn="l"/>
            <a:r>
              <a:rPr sz="1200" b="1" i="0">
                <a:solidFill>
                  <a:srgbClr val="1C1C1C"/>
                </a:solidFill>
                <a:latin typeface="Arial"/>
              </a:rPr>
              <a:t>IN 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840480"/>
            <a:ext cx="1591056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7A7A7A"/>
                </a:solidFill>
                <a:latin typeface="Arial"/>
              </a:rPr>
              <a:t>Organisation, governance,</a:t>
            </a:r>
          </a:p>
          <a:p>
            <a:pPr algn="l"/>
            <a:r>
              <a:rPr sz="950" b="0" i="0">
                <a:solidFill>
                  <a:srgbClr val="7A7A7A"/>
                </a:solidFill>
                <a:latin typeface="Arial"/>
              </a:rPr>
              <a:t>reporting &amp; risk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1737360"/>
            <a:ext cx="1810512" cy="393192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74736" y="1920240"/>
            <a:ext cx="15910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C3002B"/>
                </a:solidFill>
                <a:latin typeface="Arial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2606040"/>
            <a:ext cx="1591056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C1C1C"/>
                </a:solidFill>
                <a:latin typeface="Arial"/>
              </a:rPr>
              <a:t>WHY C&amp;W, TEAM</a:t>
            </a:r>
          </a:p>
          <a:p>
            <a:pPr algn="l"/>
            <a:r>
              <a:rPr sz="1200" b="1" i="0">
                <a:solidFill>
                  <a:srgbClr val="1C1C1C"/>
                </a:solidFill>
                <a:latin typeface="Arial"/>
              </a:rPr>
              <a:t>&amp; TRACK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4736" y="3840480"/>
            <a:ext cx="1591056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7A7A7A"/>
                </a:solidFill>
                <a:latin typeface="Arial"/>
              </a:rPr>
              <a:t>Differentiation, team (t.b.d.)</a:t>
            </a:r>
          </a:p>
          <a:p>
            <a:pPr algn="l"/>
            <a:r>
              <a:rPr sz="950" b="0" i="0">
                <a:solidFill>
                  <a:srgbClr val="7A7A7A"/>
                </a:solidFill>
                <a:latin typeface="Arial"/>
              </a:rPr>
              <a:t>&amp; references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66960" y="1737360"/>
            <a:ext cx="1810512" cy="393192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76688" y="1920240"/>
            <a:ext cx="15910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C3002B"/>
                </a:solidFill>
                <a:latin typeface="Arial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76688" y="2606040"/>
            <a:ext cx="1591056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C1C1C"/>
                </a:solidFill>
                <a:latin typeface="Arial"/>
              </a:rPr>
              <a:t>COMMERCIALS</a:t>
            </a:r>
          </a:p>
          <a:p>
            <a:pPr algn="l"/>
            <a:r>
              <a:rPr sz="1200" b="1" i="0">
                <a:solidFill>
                  <a:srgbClr val="1C1C1C"/>
                </a:solidFill>
                <a:latin typeface="Arial"/>
              </a:rPr>
              <a:t>&amp; THE DECISION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76688" y="3840480"/>
            <a:ext cx="1591056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7A7A7A"/>
                </a:solidFill>
                <a:latin typeface="Arial"/>
              </a:rPr>
              <a:t>Fee, the 2030 vision</a:t>
            </a:r>
          </a:p>
          <a:p>
            <a:pPr algn="l"/>
            <a:r>
              <a:rPr sz="950" b="0" i="0">
                <a:solidFill>
                  <a:srgbClr val="7A7A7A"/>
                </a:solidFill>
                <a:latin typeface="Arial"/>
              </a:rPr>
              <a:t>&amp; next steps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01 — THE CASE FOR ACTION  ·  SITUATION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You own a prime Amsterdam asset with a binding</a:t>
            </a:r>
          </a:p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Paris Proof commitment attached to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67665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874520"/>
            <a:ext cx="1828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THE ASSET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1874520"/>
            <a:ext cx="4709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  <a:latin typeface="Arial"/>
              </a:rPr>
              <a:t>Westgate I — Thomas R. Malthusstraat 5, 1066 JR Amsterdam. A prime, single-tenant office building of ± 27,000 m² GFA.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807208"/>
            <a:ext cx="67665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98648"/>
            <a:ext cx="1828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THE TENANT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898648"/>
            <a:ext cx="4709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  <a:latin typeface="Arial"/>
              </a:rPr>
              <a:t>PwC occupies the building and is in full operation every working day. The tenant relationship is the value of the asset.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31336"/>
            <a:ext cx="67665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22776"/>
            <a:ext cx="1828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THE 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3922776"/>
            <a:ext cx="4709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  <a:latin typeface="Arial"/>
              </a:rPr>
              <a:t>Corum A.M. — an institutional investor steering the asset from a distance, focused on returns, not on day-to-day Dutch construction.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855464"/>
            <a:ext cx="67665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946904"/>
            <a:ext cx="1828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THE COMMITMENT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4946904"/>
            <a:ext cx="4709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  <a:latin typeface="Arial"/>
              </a:rPr>
              <a:t>The building must be brought to Paris Proof. This is a hard contractual obligation with a fixed budget and a fixed horizon.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1783080"/>
            <a:ext cx="4343400" cy="406908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1965960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WHAT THIS MEANS FOR CORUM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560320"/>
            <a:ext cx="4023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Three assets are at stake in one building, at the same time: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The physical asset and its value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The PwC tenancy — and the lease that underpins your return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Your reputation as a reliable, professional landlord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All three are exposed the moment work starts inside an occupied building.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01 — THE CASE FOR ACTION  ·  COMPLICATION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Three forces threaten the asset — and they all converge</a:t>
            </a:r>
          </a:p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on one building, still in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82880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28800"/>
            <a:ext cx="3657600" cy="868680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2024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THE TENANT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3464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C3002B"/>
                </a:solidFill>
                <a:latin typeface="Arial"/>
              </a:rPr>
              <a:t>PwC keeps working while you rebuild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20440"/>
            <a:ext cx="32918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A previous Corum project (Rotterdam) showed how quickly insufficient communication erodes tenant trust. Disruption, noise and uncertainty can damage the relationship — and a damaged relationship puts lease renewal, and asset value, at risk.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33671" y="182880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33671" y="1828800"/>
            <a:ext cx="3657600" cy="868680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1" y="192024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1" y="2240280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THE DELIVERY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1" y="283464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C3002B"/>
                </a:solidFill>
                <a:latin typeface="Arial"/>
              </a:rPr>
              <a:t>Fixed budget, complex technique, live site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6551" y="3520440"/>
            <a:ext cx="32918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Paris Proof means a full climate-system transformation (see M3E's two scenarios). Executed floor-by-floor in an occupied building, on a fixed budget, this is unforgiving: every technical or sequencing mistake becomes visible to the tenant and expensive to the owner.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55862" y="182880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55862" y="1828800"/>
            <a:ext cx="3657600" cy="868680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93022" y="192024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2" y="2240280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THE DEADLINE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8742" y="283464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C3002B"/>
                </a:solidFill>
                <a:latin typeface="Arial"/>
              </a:rPr>
              <a:t>Paris Proof is contractual, not optional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8742" y="3520440"/>
            <a:ext cx="32918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The obligation is binding. Slippage is not a soft cost — it is a breach exposure. The programme must be driven to a hard finish line, with the critical path owned and defended from day one.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9436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1C1C1C"/>
                </a:solidFill>
                <a:latin typeface="Arial"/>
              </a:rPr>
              <a:t>Left unmanaged, these three risks compound. Managed by one accountable party, they become a controlled programme.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OUR GOVERNING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Make Cushman &amp; Wakefield your single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point of control in the Netherlands.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789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Arial"/>
              </a:rPr>
              <a:t>We manage PwC on your behalf, and we organize the entire Paris Proof transformation end-to-end. You steer the asset; we run the building, the tenant and the works — and we bring you every decision, prepared, before it is needed.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69280"/>
            <a:ext cx="4023360" cy="457200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42432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01 — THE CASE FOR ACTION  ·  OUR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In practice, we take three things entirely off your 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91640"/>
            <a:ext cx="3657600" cy="914400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10512"/>
            <a:ext cx="3383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WE MANAGE PwC</a:t>
            </a:r>
          </a:p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FOR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88920"/>
            <a:ext cx="329184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Single point of contact for the tenant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Manage expectations &amp; communication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Minimise disruption to PwC operations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Protect the lease and the relationship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Shield Corum from day-to-day tenant issues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33671" y="169164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33671" y="1691640"/>
            <a:ext cx="3657600" cy="91440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0831" y="1810512"/>
            <a:ext cx="3383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WE ORGANIZE THE</a:t>
            </a:r>
          </a:p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SUSTAINABILITY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1" y="2788920"/>
            <a:ext cx="329184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Translate M3E's design into deliverable scope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Run the tender &amp; select the contractor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Direct and supervise the site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Drive the programme to Paris Proof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Own budget, quality, planning &amp; risk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55862" y="169164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55862" y="1691640"/>
            <a:ext cx="3657600" cy="914400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3022" y="1810512"/>
            <a:ext cx="3383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WE KEEP YOU IN</a:t>
            </a:r>
          </a:p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CONTROL FROM AFAR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2" y="2788920"/>
            <a:ext cx="329184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One contact, one monthly report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Every key decision prepared in advance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Full transparency on cost &amp; progress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Clear escalation lines to Corum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C1C1C"/>
                </a:solidFill>
                <a:latin typeface="Arial"/>
              </a:rPr>
              <a:t>•  No surprises — ever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8978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1C1C1C"/>
                </a:solidFill>
                <a:latin typeface="Arial"/>
              </a:rPr>
              <a:t>Corum keeps the decisions that matter. Everything else — the tenant, the contractor, the site, the paperwork — sits with 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01 — THE CASE FOR ACTION  ·  THE PLAYING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You already sit at the centre of four parties — we become</a:t>
            </a:r>
          </a:p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the hub that connects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4206240" cy="402336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THE PARTIES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1554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C1C1C"/>
                </a:solidFill>
                <a:latin typeface="Arial"/>
              </a:rPr>
              <a:t>CORUM A.M.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33172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C1C1C"/>
                </a:solidFill>
                <a:latin typeface="Arial"/>
              </a:rPr>
              <a:t>Owner / investor — sets objectives, holds the budget, makes the decisions.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72968"/>
            <a:ext cx="1554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C1C1C"/>
                </a:solidFill>
                <a:latin typeface="Arial"/>
              </a:rPr>
              <a:t>PwC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172968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C1C1C"/>
                </a:solidFill>
                <a:latin typeface="Arial"/>
              </a:rPr>
              <a:t>Tenant — must keep operating; their experience defines success.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14216"/>
            <a:ext cx="1554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C1C1C"/>
                </a:solidFill>
                <a:latin typeface="Arial"/>
              </a:rPr>
              <a:t>M3E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014216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C1C1C"/>
                </a:solidFill>
                <a:latin typeface="Arial"/>
              </a:rPr>
              <a:t>Technical advisor — develops the climate-system design (two scenarios).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55464"/>
            <a:ext cx="1554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C1C1C"/>
                </a:solidFill>
                <a:latin typeface="Arial"/>
              </a:rPr>
              <a:t>CONTRACTOR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855464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C1C1C"/>
                </a:solidFill>
                <a:latin typeface="Arial"/>
              </a:rPr>
              <a:t>Executes the works — selected and managed through the tender.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1783080"/>
            <a:ext cx="69037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1920240"/>
            <a:ext cx="6583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C3002B"/>
                </a:solidFill>
                <a:latin typeface="Arial"/>
              </a:rPr>
              <a:t>C&amp;W AS THE HUB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35240" y="2423160"/>
            <a:ext cx="1600200" cy="86868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2532888"/>
            <a:ext cx="1600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1C1C1C"/>
                </a:solidFill>
                <a:latin typeface="Arial"/>
              </a:rPr>
              <a:t>CORUM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0" y="3566160"/>
            <a:ext cx="1600200" cy="86868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0" y="3675888"/>
            <a:ext cx="1600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1C1C1C"/>
                </a:solidFill>
                <a:latin typeface="Arial"/>
              </a:rPr>
              <a:t>PwC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4892040"/>
            <a:ext cx="1600200" cy="86868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35240" y="5001768"/>
            <a:ext cx="1600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1C1C1C"/>
                </a:solidFill>
                <a:latin typeface="Arial"/>
              </a:rPr>
              <a:t>M3E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0" y="3566160"/>
            <a:ext cx="1600200" cy="86868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0" y="3675888"/>
            <a:ext cx="1600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1C1C1C"/>
                </a:solidFill>
                <a:latin typeface="Arial"/>
              </a:rPr>
              <a:t>CONTRACTOR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35240" y="3520440"/>
            <a:ext cx="1600200" cy="868680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35240" y="3630168"/>
            <a:ext cx="1600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C&amp;W</a:t>
            </a:r>
          </a:p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Single point</a:t>
            </a:r>
          </a:p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of 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80" y="548640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7A7A7A"/>
                </a:solidFill>
                <a:latin typeface="Arial"/>
              </a:rPr>
              <a:t>wireframe: verbindingslijnen van C&amp;W naar alle knopen in design uitwerken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02 — WHAT WE TAKE OFF YOUR PLATE  ·  THE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Two technical routes to Paris Proof — we make the choice</a:t>
            </a:r>
          </a:p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decision-ready for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00200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7A7A7A"/>
                </a:solidFill>
                <a:latin typeface="Arial"/>
              </a:rPr>
              <a:t>Based on M3E's scenario notes (9 Feb 2026). Our job is not to design — it is to turn this choice into a clear, costed, de-risked decision.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11680"/>
            <a:ext cx="557784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011680"/>
            <a:ext cx="5577840" cy="502920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" y="2093976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PREFERRED — LT-WKO + CLIMATE CEILINGS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51760"/>
            <a:ext cx="52120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1C1C"/>
                </a:solidFill>
                <a:latin typeface="Arial"/>
              </a:rPr>
              <a:t>•  Full replacement of the gas installation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1C1C"/>
                </a:solidFill>
                <a:latin typeface="Arial"/>
              </a:rPr>
              <a:t>•  Low-temperature thermal storage (WKO): warm &amp; cold source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1C1C"/>
                </a:solidFill>
                <a:latin typeface="Arial"/>
              </a:rPr>
              <a:t>•  Energy plant in the basement (heat pumps, buffers)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1C1C"/>
                </a:solidFill>
                <a:latin typeface="Arial"/>
              </a:rPr>
              <a:t>•  Climate ceilings + new VAV (no induction) per floor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1C1C"/>
                </a:solidFill>
                <a:latin typeface="Arial"/>
              </a:rPr>
              <a:t>•  New integral controls; energy metering per floor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1C1C"/>
                </a:solidFill>
                <a:latin typeface="Arial"/>
              </a:rPr>
              <a:t>•  Phased floor-by-floor — building stays in use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1C1C"/>
                </a:solidFill>
                <a:latin typeface="Arial"/>
              </a:rPr>
              <a:t>•  Future-proof: one intervention, done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011680"/>
            <a:ext cx="557784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011680"/>
            <a:ext cx="5577840" cy="50292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2093976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ALTERNATIVE — AIR-WATER HP + VRF + RETAINED VAV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651760"/>
            <a:ext cx="52120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1C1C"/>
                </a:solidFill>
                <a:latin typeface="Arial"/>
              </a:rPr>
              <a:t>•  Air-water heat pump for base heating (roof)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1C1C"/>
                </a:solidFill>
                <a:latin typeface="Arial"/>
              </a:rPr>
              <a:t>•  Existing VAV induction units retained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1C1C"/>
                </a:solidFill>
                <a:latin typeface="Arial"/>
              </a:rPr>
              <a:t>•  VRF system with convectors for zone control per floor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1C1C"/>
                </a:solidFill>
                <a:latin typeface="Arial"/>
              </a:rPr>
              <a:t>•  New DX block replaces outdated cooling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1C1C"/>
                </a:solidFill>
                <a:latin typeface="Arial"/>
              </a:rPr>
              <a:t>•  Fewer interventions on the office floors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1C1C"/>
                </a:solidFill>
                <a:latin typeface="Arial"/>
              </a:rPr>
              <a:t>•  Hybrid system — careful controls integration needed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1C1C"/>
                </a:solidFill>
                <a:latin typeface="Arial"/>
              </a:rPr>
              <a:t>•  Residual VAV life ± 6–9 yrs → a second intervention later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440680"/>
            <a:ext cx="11338560" cy="7772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C1C1C"/>
                </a:solidFill>
                <a:latin typeface="Arial"/>
              </a:rPr>
              <a:t>C&amp;W's role: benchmark both routes on cost, disruption to PwC and long-term asset value — then bring Corum a single, recommended decision. Our management approach is robust for either scenario: phased, floor-by-floor, tenant-first.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02 — WHAT WE TAKE OFF YOUR PLATE  ·  DEEP DIVE 1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We manage PwC for you — so your tenant stays confident</a:t>
            </a:r>
          </a:p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and your lease stays intact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916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1C1C1C"/>
                </a:solidFill>
                <a:latin typeface="Arial"/>
              </a:rPr>
              <a:t>From day one, PwC deals with one familiar C&amp;W face, not with Corum and not with a rotating cast of contractors. We absorb the friction of a live rebuild so that the tenant experiences a landlord who is organised, transparent and in control. This is how a construction programme protects — rather than erodes — the value of the tenancy.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788920"/>
            <a:ext cx="55778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289864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SINGLE TENANT INTERFACE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3337560"/>
            <a:ext cx="5257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One dedicated Stakeholder Management PM owns the PwC relationship end-to-end: the single, consistent point of contact for everything that touches the tenant.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788920"/>
            <a:ext cx="55778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89864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EXPECTATION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3337560"/>
            <a:ext cx="5257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A tenant communication plan agreed up front: what happens, when, on which floor, and how we keep noise, dust and disruption inside agreed windows.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389120"/>
            <a:ext cx="55778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449884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DECISIONS PREPARED WITH PwC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4937760"/>
            <a:ext cx="5257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PwC is actively involved in decisions that affect them — briefed early, never surprised — so impact on their operations is designed out before it occurs.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389120"/>
            <a:ext cx="55778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449884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PROTECTING THE ASSET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937760"/>
            <a:ext cx="5257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A satisfied tenant renews. By managing PwC professionally through the works, we protect lease retention and, with it, the income and exit value of the asset for Corum.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02 — WHAT WE TAKE OFF YOUR PLATE  ·  DEEP DIVE 2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We organize the sustainability works — from M3E's design</a:t>
            </a:r>
          </a:p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to a building that is Paris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916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1C1C1C"/>
                </a:solidFill>
                <a:latin typeface="Arial"/>
              </a:rPr>
              <a:t>C&amp;W is the orchestrator of the transformation. We take M3E's technical concept and turn it into a scope that can be tendered, contracted, built and commissioned — floor-by-floor, on budget, to the Paris Proof standard. Corum gets a finished, verified building; not a construction site to supervise.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743200"/>
            <a:ext cx="21945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743200"/>
            <a:ext cx="2194560" cy="594360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" y="2816352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1 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2044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Translate M3E's chosen scenario into a clear, tenderable scope of work.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87752" y="3794760"/>
            <a:ext cx="201168" cy="256032"/>
          </a:xfrm>
          <a:prstGeom prst="rightArrow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51760" y="2743200"/>
            <a:ext cx="21945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51760" y="2743200"/>
            <a:ext cx="2194560" cy="59436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61488" y="2816352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2  TENDER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352044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Run a structured tender; select the contractor on price, quality and risk.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828032" y="3794760"/>
            <a:ext cx="201168" cy="256032"/>
          </a:xfrm>
          <a:prstGeom prst="rightArrow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40" y="2743200"/>
            <a:ext cx="21945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2040" y="2743200"/>
            <a:ext cx="2194560" cy="59436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1768" y="2816352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3  BUILD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52044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Direct and supervise the site; phased, floor-by-floor, tenant-first.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068312" y="3794760"/>
            <a:ext cx="201168" cy="256032"/>
          </a:xfrm>
          <a:prstGeom prst="rightArrow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0" y="2743200"/>
            <a:ext cx="21945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2743200"/>
            <a:ext cx="2194560" cy="59436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2816352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4  COMMISSION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352044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Test, commission and verify each floor before handing it back in use.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308592" y="3794760"/>
            <a:ext cx="201168" cy="256032"/>
          </a:xfrm>
          <a:prstGeom prst="rightArrow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72600" y="2743200"/>
            <a:ext cx="21945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72600" y="2743200"/>
            <a:ext cx="2194560" cy="594360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82328" y="2816352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5  PARIS PROOF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352044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Deliver the verified, Paris Proof building and a documented handover.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5778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1C1C1C"/>
                </a:solidFill>
                <a:latin typeface="Arial"/>
              </a:rPr>
              <a:t>One accountable owner across all five steps. Corum never has to stitch together advisors, contractors and inspectors — that is our job.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02 — WHAT WE TAKE OFF YOUR PLATE  ·  WHAT MAKES IT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Four principles turn a risky rebuild into a controlled programme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55778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C3002B"/>
                </a:solidFill>
                <a:latin typeface="Arial"/>
              </a:rPr>
              <a:t>TENANT SATISFACTION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377440"/>
            <a:ext cx="52578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The tenant experience is the lead indicator of success. Everything — sequencing, timing, communication — is designed around keeping PwC operational and confident. The lesson from Rotterdam is built into how we work.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91640"/>
            <a:ext cx="55778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82880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C3002B"/>
                </a:solidFill>
                <a:latin typeface="Arial"/>
              </a:rPr>
              <a:t>PHASED DELIVERY IN A LIVE BUILDING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377440"/>
            <a:ext cx="52578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Floor-by-floor execution: one zone temporarily out of use, tested and handed back before the next begins. The building keeps running; the programme keeps moving.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40480"/>
            <a:ext cx="55778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397764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C3002B"/>
                </a:solidFill>
                <a:latin typeface="Arial"/>
              </a:rPr>
              <a:t>CLEAR GOVERNANCE &amp; DECISION RIGHTS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26280"/>
            <a:ext cx="52578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Everyone knows who decides what, and when. PwC is involved where it matters, Corum decides the big calls, C&amp;W runs the rest — with clean escalation lines.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840480"/>
            <a:ext cx="55778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397764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C3002B"/>
                </a:solidFill>
                <a:latin typeface="Arial"/>
              </a:rPr>
              <a:t>NO SURPRISES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4526280"/>
            <a:ext cx="52578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Arial"/>
              </a:rPr>
              <a:t>A live Risk Register from day one and decisions prepared in advance. Corum hears about issues as early intelligence, with an option to decide — never as a problem after the fact.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03 —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From today to Paris Proof: the story of the next few years,</a:t>
            </a:r>
          </a:p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on 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63240"/>
            <a:ext cx="11064240" cy="54864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1324356" y="2944368"/>
            <a:ext cx="292608" cy="292608"/>
          </a:xfrm>
          <a:prstGeom prst="diamond">
            <a:avLst/>
          </a:prstGeom>
          <a:solidFill>
            <a:srgbClr val="C3002B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00200"/>
            <a:ext cx="1661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C3002B"/>
                </a:solidFill>
                <a:latin typeface="Arial"/>
              </a:rPr>
              <a:t>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56232"/>
            <a:ext cx="1661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7A7A7A"/>
                </a:solidFill>
                <a:latin typeface="Arial"/>
              </a:rPr>
              <a:t>Jul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103120"/>
            <a:ext cx="1661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1C1C1C"/>
                </a:solidFill>
                <a:latin typeface="Arial"/>
              </a:rPr>
              <a:t>NDA signed, mandate confirmed. C&amp;W becomes Corum's single point of control.</a:t>
            </a:r>
          </a:p>
        </p:txBody>
      </p:sp>
      <p:sp>
        <p:nvSpPr>
          <p:cNvPr id="14" name="Diamond 13"/>
          <p:cNvSpPr/>
          <p:nvPr/>
        </p:nvSpPr>
        <p:spPr>
          <a:xfrm>
            <a:off x="3168396" y="2944368"/>
            <a:ext cx="292608" cy="292608"/>
          </a:xfrm>
          <a:prstGeom prst="diamond">
            <a:avLst/>
          </a:prstGeom>
          <a:solidFill>
            <a:srgbClr val="1C1C1C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4120" y="3611880"/>
            <a:ext cx="1661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C3002B"/>
                </a:solidFill>
                <a:latin typeface="Arial"/>
              </a:rPr>
              <a:t>MOBILISE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4120" y="3867912"/>
            <a:ext cx="1661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7A7A7A"/>
                </a:solidFill>
                <a:latin typeface="Arial"/>
              </a:rPr>
              <a:t>Q3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84120" y="4114800"/>
            <a:ext cx="1661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1C1C1C"/>
                </a:solidFill>
                <a:latin typeface="Arial"/>
              </a:rPr>
              <a:t>Preparatory phase: stakeholders mapped, PwC engaged, project organisation stood up.</a:t>
            </a:r>
          </a:p>
        </p:txBody>
      </p:sp>
      <p:sp>
        <p:nvSpPr>
          <p:cNvPr id="18" name="Diamond 17"/>
          <p:cNvSpPr/>
          <p:nvPr/>
        </p:nvSpPr>
        <p:spPr>
          <a:xfrm>
            <a:off x="5012436" y="2944368"/>
            <a:ext cx="292608" cy="292608"/>
          </a:xfrm>
          <a:prstGeom prst="diamond">
            <a:avLst/>
          </a:prstGeom>
          <a:solidFill>
            <a:srgbClr val="1C1C1C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28160" y="1600200"/>
            <a:ext cx="1661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C3002B"/>
                </a:solidFill>
                <a:latin typeface="Arial"/>
              </a:rPr>
              <a:t>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8160" y="1856232"/>
            <a:ext cx="1661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7A7A7A"/>
                </a:solidFill>
                <a:latin typeface="Arial"/>
              </a:rPr>
              <a:t>Q4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8160" y="2103120"/>
            <a:ext cx="1661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1C1C1C"/>
                </a:solidFill>
                <a:latin typeface="Arial"/>
              </a:rPr>
              <a:t>M3E scenario chosen with C&amp;W's decision-ready recommendation; scope fixed.</a:t>
            </a:r>
          </a:p>
        </p:txBody>
      </p:sp>
      <p:sp>
        <p:nvSpPr>
          <p:cNvPr id="22" name="Diamond 21"/>
          <p:cNvSpPr/>
          <p:nvPr/>
        </p:nvSpPr>
        <p:spPr>
          <a:xfrm>
            <a:off x="6856476" y="2944368"/>
            <a:ext cx="292608" cy="292608"/>
          </a:xfrm>
          <a:prstGeom prst="diamond">
            <a:avLst/>
          </a:prstGeom>
          <a:solidFill>
            <a:srgbClr val="1C1C1C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611880"/>
            <a:ext cx="1661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C3002B"/>
                </a:solidFill>
                <a:latin typeface="Arial"/>
              </a:rPr>
              <a:t>TENDER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867912"/>
            <a:ext cx="1661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7A7A7A"/>
                </a:solidFill>
                <a:latin typeface="Arial"/>
              </a:rPr>
              <a:t>Q1–Q2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114800"/>
            <a:ext cx="1661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1C1C1C"/>
                </a:solidFill>
                <a:latin typeface="Arial"/>
              </a:rPr>
              <a:t>Contractor selected on price, quality and risk. Works contracted.</a:t>
            </a:r>
          </a:p>
        </p:txBody>
      </p:sp>
      <p:sp>
        <p:nvSpPr>
          <p:cNvPr id="26" name="Diamond 25"/>
          <p:cNvSpPr/>
          <p:nvPr/>
        </p:nvSpPr>
        <p:spPr>
          <a:xfrm>
            <a:off x="8700516" y="2944368"/>
            <a:ext cx="292608" cy="292608"/>
          </a:xfrm>
          <a:prstGeom prst="diamond">
            <a:avLst/>
          </a:prstGeom>
          <a:solidFill>
            <a:srgbClr val="1C1C1C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6240" y="1600200"/>
            <a:ext cx="1661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C3002B"/>
                </a:solidFill>
                <a:latin typeface="Arial"/>
              </a:rPr>
              <a:t>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6240" y="1856232"/>
            <a:ext cx="1661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7A7A7A"/>
                </a:solidFill>
                <a:latin typeface="Arial"/>
              </a:rPr>
              <a:t>2027–2029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6240" y="2103120"/>
            <a:ext cx="1661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1C1C1C"/>
                </a:solidFill>
                <a:latin typeface="Arial"/>
              </a:rPr>
              <a:t>Floor-by-floor execution in the live building. PwC operational throughout.</a:t>
            </a:r>
          </a:p>
        </p:txBody>
      </p:sp>
      <p:sp>
        <p:nvSpPr>
          <p:cNvPr id="30" name="Diamond 29"/>
          <p:cNvSpPr/>
          <p:nvPr/>
        </p:nvSpPr>
        <p:spPr>
          <a:xfrm>
            <a:off x="10544556" y="2944368"/>
            <a:ext cx="292608" cy="292608"/>
          </a:xfrm>
          <a:prstGeom prst="diamond">
            <a:avLst/>
          </a:prstGeom>
          <a:solidFill>
            <a:srgbClr val="C3002B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60280" y="3611880"/>
            <a:ext cx="1661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C3002B"/>
                </a:solidFill>
                <a:latin typeface="Arial"/>
              </a:rPr>
              <a:t>PARIS PROOF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60280" y="3867912"/>
            <a:ext cx="1661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7A7A7A"/>
                </a:solidFill>
                <a:latin typeface="Arial"/>
              </a:rPr>
              <a:t>target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60280" y="4114800"/>
            <a:ext cx="1661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1C1C1C"/>
                </a:solidFill>
                <a:latin typeface="Arial"/>
              </a:rPr>
              <a:t>Verified handover. Asset compliant, tenant retained, value protected.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9893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7A7A7A"/>
                </a:solidFill>
                <a:latin typeface="Arial"/>
              </a:rPr>
              <a:t>wireframe: tijdlijn indicatief — jaartallen te valideren met M3E-ontwerpplanning, Paris Proof-deadline en Corum–PwC afspraken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03 — THE JOURNEY  ·  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You commit in steps: start small, then scale with confidence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69748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783080"/>
            <a:ext cx="2697480" cy="731520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856231"/>
            <a:ext cx="2514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PHASE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2103120"/>
            <a:ext cx="2514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PREPARATORY ASSIGNMENT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97480"/>
            <a:ext cx="242316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C1C1C"/>
                </a:solidFill>
                <a:latin typeface="Arial"/>
              </a:rPr>
              <a:t>A limited, low-commitment start: map all stakeholders, set up the project organisation, gather M3E's input, capture PwC's requirements. Deliverable: one integral project plan you can rely on.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90672" y="3154680"/>
            <a:ext cx="237744" cy="274320"/>
          </a:xfrm>
          <a:prstGeom prst="rightArrow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1783080"/>
            <a:ext cx="269748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46120" y="1783080"/>
            <a:ext cx="2697480" cy="73152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1856231"/>
            <a:ext cx="2514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5848" y="2103120"/>
            <a:ext cx="2514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PM PREPARATION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697480"/>
            <a:ext cx="242316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C1C1C"/>
                </a:solidFill>
                <a:latin typeface="Arial"/>
              </a:rPr>
              <a:t>Guide the technical design to a fixed scope, prepare the tender documents, run the tender and select the contractor.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5312" y="3154680"/>
            <a:ext cx="237744" cy="274320"/>
          </a:xfrm>
          <a:prstGeom prst="rightArrow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783080"/>
            <a:ext cx="269748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1783080"/>
            <a:ext cx="2697480" cy="73152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0488" y="1856231"/>
            <a:ext cx="2514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PHASE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0488" y="2103120"/>
            <a:ext cx="2514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PM EXECUTION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697480"/>
            <a:ext cx="242316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C1C1C"/>
                </a:solidFill>
                <a:latin typeface="Arial"/>
              </a:rPr>
              <a:t>Direct and supervise the works: floor-by-floor phasing, tenant communication, and control of budget, quality, planning and risk.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759952" y="3154680"/>
            <a:ext cx="237744" cy="274320"/>
          </a:xfrm>
          <a:prstGeom prst="rightArrow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783080"/>
            <a:ext cx="269748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15400" y="1783080"/>
            <a:ext cx="2697480" cy="73152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25128" y="1856231"/>
            <a:ext cx="2514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PHASE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2103120"/>
            <a:ext cx="2514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BUILDING CONSULTANCY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697480"/>
            <a:ext cx="242316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C1C1C"/>
                </a:solidFill>
                <a:latin typeface="Arial"/>
              </a:rPr>
              <a:t>Independent quality inspections during construction — an extra pair of expert eyes protecting Corum's interest on site.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57800"/>
            <a:ext cx="1133856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394960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C1C1C"/>
                </a:solidFill>
                <a:latin typeface="Arial"/>
              </a:rPr>
              <a:t>Each phase is a separate assignment with its own scope, deliverables and fee. You are never asked to commit to the whole programme up front — you decide, phase by phase, on the strength of what we have delivered.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03 — THE JOURNEY  · 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The programme on a page — indicative, and ours to defend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645920"/>
            <a:ext cx="106299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7A7A"/>
                </a:solidFill>
                <a:latin typeface="Arial"/>
              </a:rPr>
              <a:t>Q3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3390" y="1645920"/>
            <a:ext cx="106299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7A7A"/>
                </a:solidFill>
                <a:latin typeface="Arial"/>
              </a:rPr>
              <a:t>Q4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6380" y="1645920"/>
            <a:ext cx="106299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7A7A"/>
                </a:solidFill>
                <a:latin typeface="Arial"/>
              </a:rPr>
              <a:t>Q1 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9370" y="1645920"/>
            <a:ext cx="106299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7A7A"/>
                </a:solidFill>
                <a:latin typeface="Arial"/>
              </a:rPr>
              <a:t>Q2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1645920"/>
            <a:ext cx="106299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7A7A"/>
                </a:solidFill>
                <a:latin typeface="Arial"/>
              </a:rPr>
              <a:t>Q3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15350" y="1645920"/>
            <a:ext cx="106299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7A7A"/>
                </a:solidFill>
                <a:latin typeface="Arial"/>
              </a:rPr>
              <a:t>Q4 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78340" y="1645920"/>
            <a:ext cx="106299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7A7A"/>
                </a:solidFill>
                <a:latin typeface="Arial"/>
              </a:rPr>
              <a:t>2028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41330" y="1645920"/>
            <a:ext cx="106299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7A7A"/>
                </a:solidFill>
                <a:latin typeface="Arial"/>
              </a:rPr>
              <a:t>2029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01168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NDA · mandate · award Phase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2039112"/>
            <a:ext cx="637794" cy="274320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46888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Phase 0 — preparatory → project plan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66147" y="2496312"/>
            <a:ext cx="1062990" cy="274320"/>
          </a:xfrm>
          <a:prstGeom prst="round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92608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Scenario decision (M3E + C&amp;W)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88586" y="2953512"/>
            <a:ext cx="425196" cy="274320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338328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Technical design guided to fixed scope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63390" y="3410712"/>
            <a:ext cx="1700784" cy="274320"/>
          </a:xfrm>
          <a:prstGeom prst="round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84048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Tender &amp; contractor selection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8978" y="3867912"/>
            <a:ext cx="1700784" cy="274320"/>
          </a:xfrm>
          <a:prstGeom prst="round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9768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Contracting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27164" y="4325112"/>
            <a:ext cx="425196" cy="274320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475488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Execution — floor-by-floor (PM + inspections)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46061" y="4782312"/>
            <a:ext cx="3614166" cy="274320"/>
          </a:xfrm>
          <a:prstGeom prst="round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521208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Commissioning &amp; Paris Proof handover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747629" y="5239512"/>
            <a:ext cx="744093" cy="274320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566928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Aftercare &amp; fine-tuning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279124" y="5696712"/>
            <a:ext cx="425196" cy="274320"/>
          </a:xfrm>
          <a:prstGeom prst="round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5989320"/>
            <a:ext cx="4114800" cy="41148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053328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■ red = decision / milestone owned by C&amp;W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6053328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7A7A7A"/>
                </a:solidFill>
                <a:latin typeface="Arial"/>
              </a:rPr>
              <a:t>indicatief — te valideren met M3E-ontwerpplanning, Paris Proof-deadline en Corum–PwC afspraken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04 — HOW WE STAY IN CONTROL  ·  ORGANISATION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Two project managers cover both sides of this project:</a:t>
            </a:r>
          </a:p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the diplomatic and the technical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691640"/>
            <a:ext cx="2651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78308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1C1C1C"/>
                </a:solidFill>
                <a:latin typeface="Arial"/>
              </a:rPr>
              <a:t>CORUM A.M.</a:t>
            </a:r>
          </a:p>
          <a:p>
            <a:pPr algn="ctr"/>
            <a:r>
              <a:rPr sz="1000" b="1" i="0">
                <a:solidFill>
                  <a:srgbClr val="1C1C1C"/>
                </a:solidFill>
                <a:latin typeface="Arial"/>
              </a:rPr>
              <a:t>Client / Owner — decides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1691640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78308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1C1C1C"/>
                </a:solidFill>
                <a:latin typeface="Arial"/>
              </a:rPr>
              <a:t>PwC</a:t>
            </a:r>
          </a:p>
          <a:p>
            <a:pPr algn="ctr"/>
            <a:r>
              <a:rPr sz="1000" b="1" i="0">
                <a:solidFill>
                  <a:srgbClr val="1C1C1C"/>
                </a:solidFill>
                <a:latin typeface="Arial"/>
              </a:rPr>
              <a:t>Tenant — kept operational &amp; involved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2743200"/>
            <a:ext cx="2834640" cy="1005840"/>
          </a:xfrm>
          <a:prstGeom prst="rect">
            <a:avLst/>
          </a:prstGeom>
          <a:solidFill>
            <a:srgbClr val="C3002B"/>
          </a:solidFill>
          <a:ln w="9525">
            <a:solidFill>
              <a:srgbClr val="C30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2834640"/>
            <a:ext cx="2834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STAKEHOLDER MANAGEMENT PM</a:t>
            </a:r>
          </a:p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Owns the PwC relationship:</a:t>
            </a:r>
          </a:p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communication · expectations · decisions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743200"/>
            <a:ext cx="2834640" cy="1005840"/>
          </a:xfrm>
          <a:prstGeom prst="rect">
            <a:avLst/>
          </a:prstGeom>
          <a:solidFill>
            <a:srgbClr val="C3002B"/>
          </a:solidFill>
          <a:ln w="9525">
            <a:solidFill>
              <a:srgbClr val="C30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834640"/>
            <a:ext cx="2834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TECHNICAL PM</a:t>
            </a:r>
          </a:p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Owns the works:</a:t>
            </a:r>
          </a:p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technical coordination · site management ·</a:t>
            </a:r>
          </a:p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M3E alignment · tender &amp; execution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40" y="4297680"/>
            <a:ext cx="28346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63240" y="4389120"/>
            <a:ext cx="28346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1C1C1C"/>
                </a:solidFill>
                <a:latin typeface="Arial"/>
              </a:rPr>
              <a:t>M3E</a:t>
            </a:r>
          </a:p>
          <a:p>
            <a:pPr algn="ctr"/>
            <a:r>
              <a:rPr sz="1000" b="1" i="0">
                <a:solidFill>
                  <a:srgbClr val="1C1C1C"/>
                </a:solidFill>
                <a:latin typeface="Arial"/>
              </a:rPr>
              <a:t>Technical advisor / installation design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297680"/>
            <a:ext cx="28346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389120"/>
            <a:ext cx="28346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1C1C1C"/>
                </a:solidFill>
                <a:latin typeface="Arial"/>
              </a:rPr>
              <a:t>CONTRACTOR</a:t>
            </a:r>
          </a:p>
          <a:p>
            <a:pPr algn="ctr"/>
            <a:r>
              <a:rPr sz="1000" b="1" i="0">
                <a:solidFill>
                  <a:srgbClr val="1C1C1C"/>
                </a:solidFill>
                <a:latin typeface="Arial"/>
              </a:rPr>
              <a:t>Selected &amp; managed via tender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51663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7A7A7A"/>
                </a:solidFill>
                <a:latin typeface="Arial"/>
              </a:rPr>
              <a:t>wireframe: verbindingslijnen + eventueel cost management / inspecties toevoegen in design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532120"/>
            <a:ext cx="11338560" cy="82296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5099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C1C1C"/>
                </a:solidFill>
                <a:latin typeface="Arial"/>
              </a:rPr>
              <a:t>One PM guards the relationship and the tenant experience; one guards the technique and the site. Together they are your single point of control — nothing falls between the diplomatic and the technical.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04 — HOW WE STAY IN CONTROL  · 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Clear decision rights: you decide the big calls, we run</a:t>
            </a:r>
          </a:p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everything around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3657600" cy="41148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847088"/>
            <a:ext cx="3520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DECISION AREA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1783080"/>
            <a:ext cx="2011680" cy="41148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42232" y="1847088"/>
            <a:ext cx="1874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CORUM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783080"/>
            <a:ext cx="2651760" cy="41148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3912" y="184708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C&amp;W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32520" y="1783080"/>
            <a:ext cx="1828800" cy="41148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5672" y="184708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PwC / M3E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61320" y="1783080"/>
            <a:ext cx="1280160" cy="41148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34472" y="1847088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SITS WITH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194560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249424"/>
            <a:ext cx="3520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Strategic &amp; budget decisions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9080" y="2194560"/>
            <a:ext cx="2011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42232" y="2249424"/>
            <a:ext cx="1874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C3002B"/>
                </a:solidFill>
                <a:latin typeface="Arial"/>
              </a:rPr>
              <a:t>DECIDE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2194560"/>
            <a:ext cx="26517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2249424"/>
            <a:ext cx="2514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recommend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32520" y="2194560"/>
            <a:ext cx="18288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05672" y="2249424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consult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561320" y="2194560"/>
            <a:ext cx="12801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34472" y="2249424"/>
            <a:ext cx="1143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C1C1C"/>
                </a:solidFill>
                <a:latin typeface="Arial"/>
              </a:rPr>
              <a:t>CORUM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743200"/>
            <a:ext cx="365760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2798064"/>
            <a:ext cx="3520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Scenario / design choice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2743200"/>
            <a:ext cx="201168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42232" y="2798064"/>
            <a:ext cx="1874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C3002B"/>
                </a:solidFill>
                <a:latin typeface="Arial"/>
              </a:rPr>
              <a:t>DECIDE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2743200"/>
            <a:ext cx="265176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53912" y="2798064"/>
            <a:ext cx="2514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recommend &amp; prepare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732520" y="2743200"/>
            <a:ext cx="182880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05672" y="2798064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input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61320" y="2743200"/>
            <a:ext cx="128016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34472" y="2798064"/>
            <a:ext cx="1143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C1C1C"/>
                </a:solidFill>
                <a:latin typeface="Arial"/>
              </a:rPr>
              <a:t>CORUM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291840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" y="3346704"/>
            <a:ext cx="3520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Tenant communication &amp; impact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69080" y="3291840"/>
            <a:ext cx="2011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42232" y="3346704"/>
            <a:ext cx="1874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informed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3291840"/>
            <a:ext cx="26517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53912" y="3346704"/>
            <a:ext cx="2514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C3002B"/>
                </a:solidFill>
                <a:latin typeface="Arial"/>
              </a:rPr>
              <a:t>MANAGE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32520" y="3291840"/>
            <a:ext cx="18288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05672" y="3346704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involved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561320" y="3291840"/>
            <a:ext cx="12801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34472" y="3346704"/>
            <a:ext cx="1143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C1C1C"/>
                </a:solidFill>
                <a:latin typeface="Arial"/>
              </a:rPr>
              <a:t>C&amp;W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3840480"/>
            <a:ext cx="365760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4632" y="3895344"/>
            <a:ext cx="3520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Contractor selection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69080" y="3840480"/>
            <a:ext cx="201168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42232" y="3895344"/>
            <a:ext cx="1874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approve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3840480"/>
            <a:ext cx="265176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53912" y="3895344"/>
            <a:ext cx="2514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run &amp; recommend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732520" y="3840480"/>
            <a:ext cx="182880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805672" y="3895344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561320" y="3840480"/>
            <a:ext cx="128016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634472" y="3895344"/>
            <a:ext cx="1143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C&amp;W→Corum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4389120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4632" y="4443984"/>
            <a:ext cx="3520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Day-to-day site &amp; works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069080" y="4389120"/>
            <a:ext cx="2011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42232" y="4443984"/>
            <a:ext cx="1874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informed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4389120"/>
            <a:ext cx="26517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3912" y="4443984"/>
            <a:ext cx="2514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C3002B"/>
                </a:solidFill>
                <a:latin typeface="Arial"/>
              </a:rPr>
              <a:t>DIRECT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32520" y="4389120"/>
            <a:ext cx="18288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805672" y="4443984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execute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561320" y="4389120"/>
            <a:ext cx="12801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34472" y="4443984"/>
            <a:ext cx="1143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C1C1C"/>
                </a:solidFill>
                <a:latin typeface="Arial"/>
              </a:rPr>
              <a:t>C&amp;W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4937760"/>
            <a:ext cx="365760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4632" y="4992624"/>
            <a:ext cx="3520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Risk &amp; escalation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69080" y="4937760"/>
            <a:ext cx="201168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42232" y="4992624"/>
            <a:ext cx="1874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escalation point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80760" y="4937760"/>
            <a:ext cx="265176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53912" y="4992624"/>
            <a:ext cx="2514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OWN &amp; flag early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732520" y="4937760"/>
            <a:ext cx="182880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805672" y="4992624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561320" y="4937760"/>
            <a:ext cx="128016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634472" y="4992624"/>
            <a:ext cx="1143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1C1C1C"/>
                </a:solidFill>
                <a:latin typeface="Arial"/>
              </a:rPr>
              <a:t>C&amp;W→Corum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1480" y="52578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1C1C1C"/>
                </a:solidFill>
                <a:latin typeface="Arial"/>
              </a:rPr>
              <a:t>The full project team is personally introduced to all parties at the outset — so every name has a face from day one.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57607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7A7A7A"/>
                </a:solidFill>
                <a:latin typeface="Arial"/>
              </a:rPr>
              <a:t>wireframe: RACI-achtige matrix — definitief af te stemmen met Corum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04 — HOW WE STAY IN CONTROL  · 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You stay fully in control from Paris — on one page a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737360"/>
            <a:ext cx="49377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1C1C"/>
                </a:solidFill>
                <a:latin typeface="Arial"/>
              </a:rPr>
              <a:t>Corum steers the asset from a distance. Our reporting is built for exactly that: one concise monthly report that tells you everything you need — and nothing you don't.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1C1C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1C1C"/>
                </a:solidFill>
                <a:latin typeface="Arial"/>
              </a:rPr>
              <a:t>Every report answers four questions: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1C1C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1C1C"/>
                </a:solidFill>
                <a:latin typeface="Arial"/>
              </a:rPr>
              <a:t>•  Are we on schedule?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1C1C"/>
                </a:solidFill>
                <a:latin typeface="Arial"/>
              </a:rPr>
              <a:t>•  Are we on budget?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1C1C"/>
                </a:solidFill>
                <a:latin typeface="Arial"/>
              </a:rPr>
              <a:t>•  Is PwC satisfied?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1C1C"/>
                </a:solidFill>
                <a:latin typeface="Arial"/>
              </a:rPr>
              <a:t>•  What decisions do you need to make next?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1C1C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1C1C"/>
                </a:solidFill>
                <a:latin typeface="Arial"/>
              </a:rPr>
              <a:t>Detail sits in the appendix. Decisions come to you already prepared, with a recommendation.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0" y="1737360"/>
            <a:ext cx="61722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1874519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3002B"/>
                </a:solidFill>
                <a:latin typeface="Arial"/>
              </a:rPr>
              <a:t>MONTHLY ONE-PAGE REPORT  [ dashboard mock-up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2377440"/>
            <a:ext cx="1828800" cy="137160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70448" y="2487168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C1C1C"/>
                </a:solidFill>
                <a:latin typeface="Arial"/>
              </a:rPr>
              <a:t>SCHEDULE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0448" y="288036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on track / at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0448" y="333756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[ ● 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80" y="2377440"/>
            <a:ext cx="1828800" cy="137160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36408" y="2487168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C1C1C"/>
                </a:solidFill>
                <a:latin typeface="Arial"/>
              </a:rPr>
              <a:t>BUDGET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6408" y="288036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forecast vs. fixed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333756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[ ● 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92640" y="2377440"/>
            <a:ext cx="1828800" cy="137160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2368" y="2487168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C1C1C"/>
                </a:solidFill>
                <a:latin typeface="Arial"/>
              </a:rPr>
              <a:t>TENANT (PwC)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288036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satisfaction &amp; issues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2368" y="333756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[ ●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720" y="3931920"/>
            <a:ext cx="1828800" cy="137160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70448" y="4041648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C1C1C"/>
                </a:solidFill>
                <a:latin typeface="Arial"/>
              </a:rPr>
              <a:t>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0448" y="443484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top items · RAG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0448" y="489204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[ ● 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26680" y="3931920"/>
            <a:ext cx="1828800" cy="137160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6408" y="4041648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C1C1C"/>
                </a:solidFill>
                <a:latin typeface="Arial"/>
              </a:rPr>
              <a:t>DECISIONS DUE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36408" y="443484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prepared for Corum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36408" y="489204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[ ● 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92640" y="3931920"/>
            <a:ext cx="1828800" cy="137160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02368" y="4041648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C1C1C"/>
                </a:solidFill>
                <a:latin typeface="Arial"/>
              </a:rPr>
              <a:t>PROGRESS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443484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floors complete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2368" y="489204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[ ● 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04 — HOW WE STAY IN CONTROL  · 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We manage risk as asset-value protection — not as paperwork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002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  <a:latin typeface="Arial"/>
              </a:rPr>
              <a:t>A live Risk Register from day one: risks identified early, ownership assigned, mitigation agreed. Each risk is framed by what it threatens — the tenant, the budget or the deadline — the three things that drive Corum's return.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194560"/>
            <a:ext cx="457200" cy="36576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194560"/>
            <a:ext cx="3383280" cy="36576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RISK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2194560"/>
            <a:ext cx="1371600" cy="36576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24028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THREATENS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23560" y="2194560"/>
            <a:ext cx="4206240" cy="36576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24028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MITIGATION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9800" y="2194560"/>
            <a:ext cx="1005840" cy="36576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24028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OWNER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35640" y="2194560"/>
            <a:ext cx="640080" cy="365760"/>
          </a:xfrm>
          <a:prstGeom prst="rect">
            <a:avLst/>
          </a:prstGeom>
          <a:solidFill>
            <a:srgbClr val="1C1C1C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0" y="224028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RAG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560320"/>
            <a:ext cx="4572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596896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2560320"/>
            <a:ext cx="33832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2596896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Tenant disturbance / PwC dissatisfaction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560320"/>
            <a:ext cx="13716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80" y="2596896"/>
            <a:ext cx="1280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 i="0">
                <a:solidFill>
                  <a:srgbClr val="C3002B"/>
                </a:solidFill>
                <a:latin typeface="Arial"/>
              </a:rPr>
              <a:t>Tenancy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23560" y="2560320"/>
            <a:ext cx="42062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2596896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Floor-by-floor phasing, tenant comms plan, agreed working windows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29800" y="2560320"/>
            <a:ext cx="10058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20" y="2596896"/>
            <a:ext cx="914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SPM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835640" y="2560320"/>
            <a:ext cx="6400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81360" y="2596896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 i="0">
                <a:solidFill>
                  <a:srgbClr val="E89A00"/>
                </a:solidFill>
                <a:latin typeface="Arial"/>
              </a:rPr>
              <a:t>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072384"/>
            <a:ext cx="45720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3108960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" y="3072384"/>
            <a:ext cx="338328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310896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Phasing conflicts between floors in a live building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0" y="3072384"/>
            <a:ext cx="137160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80" y="3108960"/>
            <a:ext cx="1280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 i="0">
                <a:solidFill>
                  <a:srgbClr val="C3002B"/>
                </a:solidFill>
                <a:latin typeface="Arial"/>
              </a:rPr>
              <a:t>Deadline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23560" y="3072384"/>
            <a:ext cx="420624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310896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Integral phasing plan, buffer per floor, weekly look-ahead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29800" y="3072384"/>
            <a:ext cx="100584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5520" y="3108960"/>
            <a:ext cx="914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TPM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835640" y="3072384"/>
            <a:ext cx="64008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81360" y="310896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 i="0">
                <a:solidFill>
                  <a:srgbClr val="C3002B"/>
                </a:solidFill>
                <a:latin typeface="Arial"/>
              </a:rPr>
              <a:t>●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3584448"/>
            <a:ext cx="4572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3621024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680" y="3584448"/>
            <a:ext cx="33832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3621024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WKO permits &amp; source-drilling lead time (preferred)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51960" y="3584448"/>
            <a:ext cx="13716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0" y="3621024"/>
            <a:ext cx="1280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 i="0">
                <a:solidFill>
                  <a:srgbClr val="C3002B"/>
                </a:solidFill>
                <a:latin typeface="Arial"/>
              </a:rPr>
              <a:t>Deadline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23560" y="3584448"/>
            <a:ext cx="42062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0" y="3621024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Early permit inventory &amp; plan; applications started in Phase 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29800" y="3584448"/>
            <a:ext cx="10058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75520" y="3621024"/>
            <a:ext cx="914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TPM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835640" y="3584448"/>
            <a:ext cx="6400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81360" y="3621024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 i="0">
                <a:solidFill>
                  <a:srgbClr val="C3002B"/>
                </a:solidFill>
                <a:latin typeface="Arial"/>
              </a:rPr>
              <a:t>●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1480" y="4096512"/>
            <a:ext cx="45720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4133088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8680" y="4096512"/>
            <a:ext cx="338328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4133088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Tender result exceeds fixed budget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51960" y="4096512"/>
            <a:ext cx="137160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97680" y="4133088"/>
            <a:ext cx="1280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 i="0">
                <a:solidFill>
                  <a:srgbClr val="C3002B"/>
                </a:solidFill>
                <a:latin typeface="Arial"/>
              </a:rPr>
              <a:t>Budget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23560" y="4096512"/>
            <a:ext cx="420624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69280" y="4133088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Cost estimates at design milestones, VE options, market sounding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29800" y="4096512"/>
            <a:ext cx="100584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75520" y="4133088"/>
            <a:ext cx="914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TPM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835640" y="4096512"/>
            <a:ext cx="64008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881360" y="4133088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 i="0">
                <a:solidFill>
                  <a:srgbClr val="E89A00"/>
                </a:solidFill>
                <a:latin typeface="Arial"/>
              </a:rPr>
              <a:t>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4608576"/>
            <a:ext cx="4572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4645152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8680" y="4608576"/>
            <a:ext cx="33832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4645152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Controls / systems integration (esp. hybrid alt.)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51960" y="4608576"/>
            <a:ext cx="13716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297680" y="4645152"/>
            <a:ext cx="1280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 i="0">
                <a:solidFill>
                  <a:srgbClr val="C3002B"/>
                </a:solidFill>
                <a:latin typeface="Arial"/>
              </a:rPr>
              <a:t>Budget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23560" y="4608576"/>
            <a:ext cx="42062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0" y="4645152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Commissioning plan, integral controls party, test per floor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829800" y="4608576"/>
            <a:ext cx="10058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875520" y="4645152"/>
            <a:ext cx="914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TPM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835640" y="4608576"/>
            <a:ext cx="6400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881360" y="4645152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 i="0">
                <a:solidFill>
                  <a:srgbClr val="E89A00"/>
                </a:solidFill>
                <a:latin typeface="Arial"/>
              </a:rPr>
              <a:t>●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" y="5120640"/>
            <a:ext cx="45720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7200" y="5157216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6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68680" y="5120640"/>
            <a:ext cx="338328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14400" y="5157216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Slow owner/tenant decision-making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251960" y="5120640"/>
            <a:ext cx="137160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297680" y="5157216"/>
            <a:ext cx="1280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 i="0">
                <a:solidFill>
                  <a:srgbClr val="C3002B"/>
                </a:solidFill>
                <a:latin typeface="Arial"/>
              </a:rPr>
              <a:t>Deadline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623560" y="5120640"/>
            <a:ext cx="420624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669280" y="5157216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Decision calendar; every decision prepared in advance by C&amp;W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829800" y="5120640"/>
            <a:ext cx="100584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875520" y="5157216"/>
            <a:ext cx="914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0">
                <a:solidFill>
                  <a:srgbClr val="1C1C1C"/>
                </a:solidFill>
                <a:latin typeface="Arial"/>
              </a:rPr>
              <a:t>SPM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835640" y="5120640"/>
            <a:ext cx="640080" cy="512064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881360" y="5157216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 i="0">
                <a:solidFill>
                  <a:srgbClr val="E89A00"/>
                </a:solidFill>
                <a:latin typeface="Arial"/>
              </a:rPr>
              <a:t>●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59436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7A7A7A"/>
                </a:solidFill>
                <a:latin typeface="Arial"/>
              </a:rPr>
              <a:t>wireframe: voorbeeldrisico's — definitief register in fase 0; RAG rood/amber/groen in design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05 — WHY C&amp;W, TEAM &amp;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Why Cushman &amp; Wakefield — not a local project-management firm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37360"/>
            <a:ext cx="557784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745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C3002B"/>
                </a:solidFill>
                <a:latin typeface="Arial"/>
              </a:rPr>
              <a:t>WE SPEAK INVESTOR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377440"/>
            <a:ext cx="52578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  <a:latin typeface="Arial"/>
              </a:rPr>
              <a:t>As a global real estate adviser, we understand Corum's world: returns, lease value, exit. We manage the project in the language of asset value, not just square metres.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37360"/>
            <a:ext cx="557784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8745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C3002B"/>
                </a:solidFill>
                <a:latin typeface="Arial"/>
              </a:rPr>
              <a:t>WE MANAGE CORPORATE OCCUPIERS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377440"/>
            <a:ext cx="52578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  <a:latin typeface="Arial"/>
              </a:rPr>
              <a:t>Managing demanding corporate tenants like PwC is core C&amp;W business. We know how to keep a blue-chip occupier confident through disruptive works.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40480"/>
            <a:ext cx="557784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397764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C3002B"/>
                </a:solidFill>
                <a:latin typeface="Arial"/>
              </a:rPr>
              <a:t>WE ARE ONE INTEGRATED PARTNER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480560"/>
            <a:ext cx="52578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  <a:latin typeface="Arial"/>
              </a:rPr>
              <a:t>Project &amp; Development Services, cost management, building consultancy and market knowledge under one roof — one accountable partner, not a chain of sub-advisers.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840480"/>
            <a:ext cx="557784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397764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C3002B"/>
                </a:solidFill>
                <a:latin typeface="Arial"/>
              </a:rPr>
              <a:t>WE ARE LOCAL, FOR A REMOTE OWNER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4480560"/>
            <a:ext cx="52578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  <a:latin typeface="Arial"/>
              </a:rPr>
              <a:t>Feet on the ground in the Netherlands, reporting to an owner abroad. We are your eyes, ears and hands in Amsterdam — exactly the gap Corum needs filled.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D9D9D9"/>
                </a:solidFill>
                <a:latin typeface="Arial"/>
              </a:rPr>
              <a:t>05 —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D9D9D9"/>
                </a:solidFill>
                <a:latin typeface="Arial"/>
              </a:rPr>
              <a:t>[ TEAMPAGINA — BEWUST LEEG GELATEN / IN TE VULLEN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D9D9D9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05 — WHY C&amp;W, TEAM &amp;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We have done exactly this: sustainability upgrades in</a:t>
            </a:r>
          </a:p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occupied, blue-chip buildings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697480" cy="393192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2514600" cy="1371600"/>
          </a:xfrm>
          <a:prstGeom prst="rect">
            <a:avLst/>
          </a:prstGeom>
          <a:solidFill>
            <a:srgbClr val="D9D9D9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77440"/>
            <a:ext cx="2514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7A7A"/>
                </a:solidFill>
                <a:latin typeface="Arial"/>
              </a:rPr>
              <a:t>[FOTO]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3280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3002B"/>
                </a:solidFill>
                <a:latin typeface="Arial"/>
              </a:rPr>
              <a:t>REFERENCE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49039"/>
            <a:ext cx="2423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Project name</a:t>
            </a:r>
          </a:p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Sustainability upgrade / renovation in an occupied office</a:t>
            </a:r>
          </a:p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Size · C&amp;W role · outcome (tenant retained, on time, on budget)</a:t>
            </a:r>
          </a:p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[ in te vullen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1783080"/>
            <a:ext cx="2697480" cy="393192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874519"/>
            <a:ext cx="2514600" cy="1371600"/>
          </a:xfrm>
          <a:prstGeom prst="rect">
            <a:avLst/>
          </a:prstGeom>
          <a:solidFill>
            <a:srgbClr val="D9D9D9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2377440"/>
            <a:ext cx="2514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7A7A"/>
                </a:solidFill>
                <a:latin typeface="Arial"/>
              </a:rPr>
              <a:t>[FOTO]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383280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3002B"/>
                </a:solidFill>
                <a:latin typeface="Arial"/>
              </a:rPr>
              <a:t>REFERENCE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749039"/>
            <a:ext cx="2423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Project name</a:t>
            </a:r>
          </a:p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Sustainability upgrade / renovation in an occupied office</a:t>
            </a:r>
          </a:p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Size · C&amp;W role · outcome (tenant retained, on time, on budget)</a:t>
            </a:r>
          </a:p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[ in te vullen 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783080"/>
            <a:ext cx="2697480" cy="393192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874519"/>
            <a:ext cx="2514600" cy="1371600"/>
          </a:xfrm>
          <a:prstGeom prst="rect">
            <a:avLst/>
          </a:prstGeom>
          <a:solidFill>
            <a:srgbClr val="D9D9D9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377440"/>
            <a:ext cx="2514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7A7A"/>
                </a:solidFill>
                <a:latin typeface="Arial"/>
              </a:rPr>
              <a:t>[FOTO]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383280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3002B"/>
                </a:solidFill>
                <a:latin typeface="Arial"/>
              </a:rPr>
              <a:t>REFERENCE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49039"/>
            <a:ext cx="2423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Project name</a:t>
            </a:r>
          </a:p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Sustainability upgrade / renovation in an occupied office</a:t>
            </a:r>
          </a:p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Size · C&amp;W role · outcome (tenant retained, on time, on budget)</a:t>
            </a:r>
          </a:p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[ in te vullen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52560" y="1783080"/>
            <a:ext cx="2697480" cy="393192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0" y="1874519"/>
            <a:ext cx="2514600" cy="1371600"/>
          </a:xfrm>
          <a:prstGeom prst="rect">
            <a:avLst/>
          </a:prstGeom>
          <a:solidFill>
            <a:srgbClr val="D9D9D9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2377440"/>
            <a:ext cx="2514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7A7A"/>
                </a:solidFill>
                <a:latin typeface="Arial"/>
              </a:rPr>
              <a:t>[FOTO]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3383280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3002B"/>
                </a:solidFill>
                <a:latin typeface="Arial"/>
              </a:rPr>
              <a:t>REFERENCE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749039"/>
            <a:ext cx="2423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Project name</a:t>
            </a:r>
          </a:p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Sustainability upgrade / renovation in an occupied office</a:t>
            </a:r>
          </a:p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Size · C&amp;W role · outcome (tenant retained, on time, on budget)</a:t>
            </a:r>
          </a:p>
          <a:p>
            <a:pPr algn="l"/>
            <a:r>
              <a:rPr sz="900" b="0" i="0">
                <a:solidFill>
                  <a:srgbClr val="7A7A7A"/>
                </a:solidFill>
                <a:latin typeface="Arial"/>
              </a:rPr>
              <a:t>[ in te vullen 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589788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7A7A7A"/>
                </a:solidFill>
                <a:latin typeface="Arial"/>
              </a:rPr>
              <a:t>selectiecriteria: verduurzaming/renovatie in gebruik zijnd kantoor · institutionele eigenaar · veeleisende huurder behouden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3002B"/>
                </a:solidFill>
                <a:latin typeface="Arial"/>
              </a:rPr>
              <a:t>06 — COMMERCIALS &amp; THE DECISION  ·  FEE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A fee structured as a phased investment — low to start,</a:t>
            </a:r>
          </a:p>
          <a:p>
            <a:pPr algn="l"/>
            <a:r>
              <a:rPr sz="2300" b="1" i="0">
                <a:solidFill>
                  <a:srgbClr val="1C1C1C"/>
                </a:solidFill>
                <a:latin typeface="Arial"/>
              </a:rPr>
              <a:t>earned as we deliver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Arial"/>
              </a:rPr>
              <a:t>CUSHMAN &amp; WAKEFIELD  |  CORUM A.M.  ·  WESTGATE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A7A7A"/>
                </a:solidFill>
                <a:latin typeface="Arial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6419088"/>
            <a:ext cx="2514600" cy="292608"/>
          </a:xfrm>
          <a:prstGeom prst="round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6446520"/>
            <a:ext cx="2514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CORUM DECIDES  ·  C&amp;W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6949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856232"/>
            <a:ext cx="4206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1C1C1C"/>
                </a:solidFill>
                <a:latin typeface="Arial"/>
              </a:rPr>
              <a:t>PHASE 0 — Preparatory assignment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856232"/>
            <a:ext cx="1554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1C1C1C"/>
                </a:solidFill>
                <a:latin typeface="Arial"/>
              </a:rPr>
              <a:t>Lump sum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56232"/>
            <a:ext cx="914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C3002B"/>
                </a:solidFill>
                <a:latin typeface="Arial"/>
              </a:rPr>
              <a:t>€ [ •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41448"/>
            <a:ext cx="69494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4206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1C1C1C"/>
                </a:solidFill>
                <a:latin typeface="Arial"/>
              </a:rPr>
              <a:t>PHASE 1 — PM Preparation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514600"/>
            <a:ext cx="1554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1C1C1C"/>
                </a:solidFill>
                <a:latin typeface="Arial"/>
              </a:rPr>
              <a:t>Fixed fee / monthly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14600"/>
            <a:ext cx="914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C3002B"/>
                </a:solidFill>
                <a:latin typeface="Arial"/>
              </a:rPr>
              <a:t>€ [ •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099816"/>
            <a:ext cx="6949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172968"/>
            <a:ext cx="4206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1C1C1C"/>
                </a:solidFill>
                <a:latin typeface="Arial"/>
              </a:rPr>
              <a:t>PHASE 2 — PM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172968"/>
            <a:ext cx="1554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1C1C1C"/>
                </a:solidFill>
                <a:latin typeface="Arial"/>
              </a:rPr>
              <a:t>Fixed fee / monthly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172968"/>
            <a:ext cx="914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C3002B"/>
                </a:solidFill>
                <a:latin typeface="Arial"/>
              </a:rPr>
              <a:t>€ [ •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758184"/>
            <a:ext cx="69494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831336"/>
            <a:ext cx="4206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1C1C1C"/>
                </a:solidFill>
                <a:latin typeface="Arial"/>
              </a:rPr>
              <a:t>PHASE 3 — Building Consultancy (inspections)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831336"/>
            <a:ext cx="1554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1C1C1C"/>
                </a:solidFill>
                <a:latin typeface="Arial"/>
              </a:rPr>
              <a:t>Unit rate per inspection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831336"/>
            <a:ext cx="914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C3002B"/>
                </a:solidFill>
                <a:latin typeface="Arial"/>
              </a:rPr>
              <a:t>€ [ • 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1783080"/>
            <a:ext cx="4160520" cy="2651760"/>
          </a:xfrm>
          <a:prstGeom prst="rect">
            <a:avLst/>
          </a:prstGeom>
          <a:solidFill>
            <a:srgbClr val="F3F3F3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1920240"/>
            <a:ext cx="3840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3002B"/>
                </a:solidFill>
                <a:latin typeface="Arial"/>
              </a:rPr>
              <a:t>RATE CARD (REFERENCE)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286000"/>
            <a:ext cx="38404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Arial"/>
              </a:rPr>
              <a:t>Senior Project Manager   € 145 / hr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Arial"/>
              </a:rPr>
              <a:t>Project Manager             € 135 / hr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Arial"/>
              </a:rPr>
              <a:t>Technical PM                 € 135 / hr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Arial"/>
              </a:rPr>
              <a:t>Cost Manager                € 125 / hr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Arial"/>
              </a:rPr>
              <a:t>Site Manager                 € 120 / hr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Arial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Arial"/>
              </a:rPr>
              <a:t>[ tarieven &amp; inzet definitief met Frank 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572000"/>
            <a:ext cx="113385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6817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3002B"/>
                </a:solidFill>
                <a:latin typeface="Arial"/>
              </a:rPr>
              <a:t>WHY THIS STRUCTURE WORKS FOR CORUM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029200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Arial"/>
              </a:rPr>
              <a:t>•  You commit phase by phase — the Phase 0 fee is small relative to the asset and the Paris Proof exposure it protects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Arial"/>
              </a:rPr>
              <a:t>•  Design, calculations and specifications are by M3E (outside C&amp;W scope)  ·  DNR 2011 applicable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Arial"/>
              </a:rPr>
              <a:t>•  [ verdere uitgangspunten &amp; exclusies in te vullen met Frank 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3002B"/>
                </a:solidFill>
                <a:latin typeface="Arial"/>
              </a:rPr>
              <a:t>06 — 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Picture Westgate I in 2030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rial"/>
              </a:rPr>
              <a:t>A Paris Proof building. PwC still in place, still confident, lease renewed. An asset whose value is protected and whose compliance is proven — delivered without Corum ever having to manage a Dutch building site or a tenant dispute. That is what a single point of control buys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017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C3002B"/>
                </a:solidFill>
                <a:latin typeface="Arial"/>
              </a:rPr>
              <a:t>THE DECISION WE ASK YOU TO MAKE NOW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474720"/>
            <a:ext cx="411480" cy="411480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520440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502152"/>
            <a:ext cx="7680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1C1C1C"/>
                </a:solidFill>
                <a:latin typeface="Arial"/>
              </a:rPr>
              <a:t>Confirm the NDA (via Dentons)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02152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1">
                <a:solidFill>
                  <a:srgbClr val="7A7A7A"/>
                </a:solidFill>
                <a:latin typeface="Arial"/>
              </a:rPr>
              <a:t>in progress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986784"/>
            <a:ext cx="411480" cy="411480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4032504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14216"/>
            <a:ext cx="7680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1C1C1C"/>
                </a:solidFill>
                <a:latin typeface="Arial"/>
              </a:rPr>
              <a:t>Share the Corum–PwC agreement &amp; Corum–M3E arrangement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4014216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1">
                <a:solidFill>
                  <a:srgbClr val="7A7A7A"/>
                </a:solidFill>
                <a:latin typeface="Arial"/>
              </a:rPr>
              <a:t>upon NDA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498848"/>
            <a:ext cx="411480" cy="411480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544568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526280"/>
            <a:ext cx="7680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1C1C1C"/>
                </a:solidFill>
                <a:latin typeface="Arial"/>
              </a:rPr>
              <a:t>Award Phase 0 — the preparatory assignment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4526280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1">
                <a:solidFill>
                  <a:srgbClr val="7A7A7A"/>
                </a:solidFill>
                <a:latin typeface="Arial"/>
              </a:rPr>
              <a:t>July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10912"/>
            <a:ext cx="411480" cy="411480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0566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038344"/>
            <a:ext cx="7680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1C1C1C"/>
                </a:solidFill>
                <a:latin typeface="Arial"/>
              </a:rPr>
              <a:t>Kick-off &amp; personal introduction of the full 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5038344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1">
                <a:solidFill>
                  <a:srgbClr val="7A7A7A"/>
                </a:solidFill>
                <a:latin typeface="Arial"/>
              </a:rPr>
              <a:t>within 2 weeks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522976"/>
            <a:ext cx="411480" cy="411480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5568696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550408"/>
            <a:ext cx="7680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1C1C1C"/>
                </a:solidFill>
                <a:latin typeface="Arial"/>
              </a:rPr>
              <a:t>Integral project plan → decide on Phases 1–3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5550408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1">
                <a:solidFill>
                  <a:srgbClr val="7A7A7A"/>
                </a:solidFill>
                <a:latin typeface="Arial"/>
              </a:rPr>
              <a:t>end of Phase 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080760"/>
            <a:ext cx="11338560" cy="566928"/>
          </a:xfrm>
          <a:prstGeom prst="rect">
            <a:avLst/>
          </a:prstGeom>
          <a:solidFill>
            <a:srgbClr val="C3002B"/>
          </a:solidFill>
          <a:ln w="952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17220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Sjoerd Bezemer  ·  +31 (0)6 128 485 42  ·  sjoerd.bezemer@cushwake.com      |      Frank Okker — Head of PDS Netherlands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