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D9D9D9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A8A8A"/>
                </a:solidFill>
                <a:latin typeface="Arial"/>
              </a:rPr>
              <a:t>[ FULL-BLEED FOTO WESTGATE I — Thomas R. Malthusstraat 5, Amsterdam 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109728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C1C1C"/>
                </a:solidFill>
                <a:latin typeface="Arial"/>
              </a:rPr>
              <a:t>WESTGATE I — PARIS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578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C3002B"/>
                </a:solidFill>
                <a:latin typeface="Arial"/>
              </a:rPr>
              <a:t>Project Management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  <a:latin typeface="Arial"/>
              </a:rPr>
              <a:t>Prepared for Corum A.M.  ·  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0" y="5120640"/>
            <a:ext cx="173736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53949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8A8A8A"/>
                </a:solidFill>
                <a:latin typeface="Arial"/>
              </a:rPr>
              <a:t>[C&amp;W LOGO]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48840" cy="384048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874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3002B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874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Arial"/>
              </a:rPr>
              <a:t>INTRODUCTION &amp;</a:t>
            </a:r>
          </a:p>
          <a:p>
            <a:pPr algn="l"/>
            <a:r>
              <a:rPr sz="1300" b="1" i="0">
                <a:solidFill>
                  <a:srgbClr val="1C1C1C"/>
                </a:solidFill>
                <a:latin typeface="Arial"/>
              </a:rPr>
              <a:t>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874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Cover letter, the project,</a:t>
            </a:r>
          </a:p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two Paris Proof scenarios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645920"/>
            <a:ext cx="2148840" cy="384048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828800"/>
            <a:ext cx="1874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3002B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60320"/>
            <a:ext cx="1874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Arial"/>
              </a:rPr>
              <a:t>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1874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Role, success factors,</a:t>
            </a:r>
          </a:p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phased plan &amp; planning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645920"/>
            <a:ext cx="2148840" cy="384048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828800"/>
            <a:ext cx="1874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3002B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560320"/>
            <a:ext cx="1874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Arial"/>
              </a:rPr>
              <a:t>ORGANISATION &amp;</a:t>
            </a:r>
          </a:p>
          <a:p>
            <a:pPr algn="l"/>
            <a:r>
              <a:rPr sz="1300" b="1" i="0">
                <a:solidFill>
                  <a:srgbClr val="1C1C1C"/>
                </a:solidFill>
                <a:latin typeface="Arial"/>
              </a:rPr>
              <a:t>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657600"/>
            <a:ext cx="1874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Two-PM model, governance,</a:t>
            </a:r>
          </a:p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risk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1645920"/>
            <a:ext cx="2148840" cy="384048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828800"/>
            <a:ext cx="1874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3002B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560320"/>
            <a:ext cx="1874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Arial"/>
              </a:rPr>
              <a:t>TEAM &amp;</a:t>
            </a:r>
          </a:p>
          <a:p>
            <a:pPr algn="l"/>
            <a:r>
              <a:rPr sz="1300" b="1" i="0">
                <a:solidFill>
                  <a:srgbClr val="1C1C1C"/>
                </a:solidFill>
                <a:latin typeface="Arial"/>
              </a:rPr>
              <a:t>TRACK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657600"/>
            <a:ext cx="1874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Team (t.b.d.),</a:t>
            </a:r>
          </a:p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references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1645920"/>
            <a:ext cx="2148840" cy="384048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828800"/>
            <a:ext cx="1874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3002B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560320"/>
            <a:ext cx="1874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1C1C"/>
                </a:solidFill>
                <a:latin typeface="Arial"/>
              </a:rPr>
              <a:t>FEE &amp;</a:t>
            </a:r>
          </a:p>
          <a:p>
            <a:pPr algn="l"/>
            <a:r>
              <a:rPr sz="1300" b="1" i="0">
                <a:solidFill>
                  <a:srgbClr val="1C1C1C"/>
                </a:solidFill>
                <a:latin typeface="Arial"/>
              </a:rPr>
              <a:t>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657600"/>
            <a:ext cx="1874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Fee structure per phase,</a:t>
            </a:r>
          </a:p>
          <a:p>
            <a:pPr algn="l"/>
            <a:r>
              <a:rPr sz="1000" b="0" i="0">
                <a:solidFill>
                  <a:srgbClr val="8A8A8A"/>
                </a:solidFill>
                <a:latin typeface="Arial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01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COVER LETTER &amp;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766560" cy="283464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64008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Dear Dirk, dear Marcus,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Thank you for the open discussion on 2 July. Cushman &amp; Wakefield is pleased to present our proposal to act as project manager on behalf of Corum for the Paris Proof upgrade of Westgate I — a technically complex programme in a fully occupied building, where tenant satisfaction is as important as technical delivery.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/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[ korte alinea's — definitieve brieftekst volgt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77639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8A8A8A"/>
                </a:solidFill>
                <a:latin typeface="Arial"/>
              </a:rPr>
              <a:t>placeholder: brieftekst ± 120 woorden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417320"/>
            <a:ext cx="43891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472184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709928"/>
            <a:ext cx="4160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Paris Proof is a hard contractual agreement. Works in a live building with PwC as tenant. M3E develops the technical design; contractor via tender.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2404872"/>
            <a:ext cx="43891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459736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697480"/>
            <a:ext cx="4160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Start small with a preparatory assignment; then three assignments: PM Preparation, PM Execution and Building Consultancy. Two complementary project managers.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3392424"/>
            <a:ext cx="43891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34472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COMMITMENT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685032"/>
            <a:ext cx="4160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Proactive communication, transparent decision-making, no surprises. We prepare every key decision so Corum decides well-informed and PwC keeps full confidence.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434840"/>
            <a:ext cx="1133856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SJOERD BEZEMER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Associate — Business Development / Senior Project Manager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M +31 (0)6 128 485 42  ·  sjoerd.bezemer@cushwake.com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FRANK OKKER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Head of Project &amp; Development Services Netherlands</a:t>
            </a:r>
          </a:p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[ handtekening / foto placeholder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01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UNDERSTANDING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63040"/>
            <a:ext cx="4023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Westgate I, Thomas R. Malthusstraat 5, 1066 JR Amsterdam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12848"/>
            <a:ext cx="4023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± 27,000 m² GFA —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62656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962656"/>
            <a:ext cx="4023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Corum A.M.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12464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TENANT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4023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PwC — building in full 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6227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462272"/>
            <a:ext cx="4023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Technically upgrade to Paris Proof — hard contractual agreement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212080"/>
            <a:ext cx="4023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  <a:latin typeface="Arial"/>
              </a:rPr>
              <a:t>M3E develops technical design; scope fixed, contractor via tender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0020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3002B"/>
                </a:solidFill>
                <a:latin typeface="Arial"/>
              </a:rPr>
              <a:t>STAKEHOLDER 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011680"/>
            <a:ext cx="173736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121408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C1C1C"/>
                </a:solidFill>
                <a:latin typeface="Arial"/>
              </a:rPr>
              <a:t>CORUM</a:t>
            </a:r>
          </a:p>
          <a:p>
            <a:pPr algn="ctr"/>
            <a:r>
              <a:rPr sz="900" b="1" i="0">
                <a:solidFill>
                  <a:srgbClr val="1C1C1C"/>
                </a:solidFill>
                <a:latin typeface="Arial"/>
              </a:rPr>
              <a:t>(owner / client)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011680"/>
            <a:ext cx="173736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121408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C1C1C"/>
                </a:solidFill>
                <a:latin typeface="Arial"/>
              </a:rPr>
              <a:t>PWC</a:t>
            </a:r>
          </a:p>
          <a:p>
            <a:pPr algn="ctr"/>
            <a:r>
              <a:rPr sz="900" b="1" i="0">
                <a:solidFill>
                  <a:srgbClr val="1C1C1C"/>
                </a:solidFill>
                <a:latin typeface="Arial"/>
              </a:rPr>
              <a:t>(tenant)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2880360"/>
            <a:ext cx="1737360" cy="68580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990088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C&amp;W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(project manager)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3749039"/>
            <a:ext cx="173736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3858768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C1C1C"/>
                </a:solidFill>
                <a:latin typeface="Arial"/>
              </a:rPr>
              <a:t>M3E</a:t>
            </a:r>
          </a:p>
          <a:p>
            <a:pPr algn="ctr"/>
            <a:r>
              <a:rPr sz="900" b="1" i="0">
                <a:solidFill>
                  <a:srgbClr val="1C1C1C"/>
                </a:solidFill>
                <a:latin typeface="Arial"/>
              </a:rPr>
              <a:t>(technical advisor)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3749039"/>
            <a:ext cx="173736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3858768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C1C1C"/>
                </a:solidFill>
                <a:latin typeface="Arial"/>
              </a:rPr>
              <a:t>CONTRACTOR</a:t>
            </a:r>
          </a:p>
          <a:p>
            <a:pPr algn="ctr"/>
            <a:r>
              <a:rPr sz="900" b="1" i="0">
                <a:solidFill>
                  <a:srgbClr val="1C1C1C"/>
                </a:solidFill>
                <a:latin typeface="Arial"/>
              </a:rPr>
              <a:t>(via tender)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5262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8A8A8A"/>
                </a:solidFill>
                <a:latin typeface="Arial"/>
              </a:rPr>
              <a:t>wireframe: verbindingslijnen + rollen in design uitwerken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800600"/>
            <a:ext cx="534924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983480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1C1C"/>
                </a:solidFill>
                <a:latin typeface="Arial"/>
              </a:rPr>
              <a:t>KEY MESSAGE — Sustainability upgrade of a fully occupied building:</a:t>
            </a:r>
          </a:p>
          <a:p>
            <a:pPr algn="l"/>
            <a:r>
              <a:rPr sz="1100" b="1" i="0">
                <a:solidFill>
                  <a:srgbClr val="1C1C1C"/>
                </a:solidFill>
                <a:latin typeface="Arial"/>
              </a:rPr>
              <a:t>floor-by-floor delivery, tenant experience is the measure of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01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TWO ROUTES TO PARIS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A8A8A"/>
                </a:solidFill>
                <a:latin typeface="Arial"/>
              </a:rPr>
              <a:t>Based on the M3E scenario notes (9 Feb 2026) shared by Corum — summary of both options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55778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5577840" cy="45720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10512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PREFERRED — LT-WKO + CLIMATE CEILINGS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5212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Full replacement of gas-fired installation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Low-temperature thermal storage (WKO): warm &amp; cold source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Energy plant in basement (heat pumps, buffers)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Climate ceilings + new VAV (no induction) per floor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New integral building controls, energy metering per floor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Phased floor-by-floor — building stays operational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Future-proof: one intervention, done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5778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577840" cy="45720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10512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ALTERNATIVE — AIR-WATER HP + RETAIN VAV + VRF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5212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Air-water heat pump for base heating (roof)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Existing VAV induction units retained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VRF system with convectors as zone control per floor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New DX block replaces outdated cooling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Limited interventions on office floors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Hybrid system — careful controls integration required</a:t>
            </a:r>
          </a:p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•  Residual life VAV ± 6–9 yrs → second intervention later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715000"/>
            <a:ext cx="1133856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  <a:latin typeface="Arial"/>
              </a:rPr>
              <a:t>Our project management approach is robust for either scenario — phased, floor-by-floor, tenant-first.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02 —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THE ASSIGNMENT &amp; OUR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1206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3002B"/>
                </a:solidFill>
                <a:latin typeface="Arial"/>
              </a:rPr>
              <a:t>PROJECT MANAGER ON BEHALF OF THE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47548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>C&amp;W acts as project manager on behalf of Corum during preparation and execution: representing Corum's interests and ensuring effective collaboration between tenant, technical advisor and contractor.</a:t>
            </a:r>
          </a:p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/>
            </a:r>
          </a:p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>We proactively anticipate key decisions by preparing them thoroughly in advance — Corum is well-advised at every stage, and PwC experiences full confidence that the project is under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463040"/>
            <a:ext cx="457200" cy="45720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51790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99616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>Represent Corum's interests towards all parties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2212848"/>
            <a:ext cx="457200" cy="45720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2677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9424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>Coordinate communication between tenant, advisor &amp; contractor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2962656"/>
            <a:ext cx="457200" cy="45720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30175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99232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>Monitor planning, budget, quality and risks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3712464"/>
            <a:ext cx="457200" cy="45720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376732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40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>Manage the tender and contractor selection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4462272"/>
            <a:ext cx="457200" cy="45720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451713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98848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>Manage the execution phase, floor-by-floor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5212080"/>
            <a:ext cx="457200" cy="45720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52669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48656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>Ensure transparent decision-making throughout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02 —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KEY SUCCESS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3002B"/>
                </a:solidFill>
                <a:latin typeface="Arial"/>
              </a:rPr>
              <a:t>TENANT SATISFACTION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212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Tenant satisfaction is central to Corum's objectives. A previous project (Rotterdam) showed how insufficient communication erodes trust — we put the tenant experience at the heart of planning and communication.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3002B"/>
                </a:solidFill>
                <a:latin typeface="Arial"/>
              </a:rPr>
              <a:t>PHASED DELIVERY IN A LIVE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212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Floor-by-floor execution: one zone temporarily out of use, handed back before the next starts. The building remains operational throughout.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3192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690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3002B"/>
                </a:solidFill>
                <a:latin typeface="Arial"/>
              </a:rPr>
              <a:t>CLEAR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5212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PwC actively involved in decision-making, continuous insight into progress and planning, timely communication of impact on business operations, clear escalation lines, team personally introduced at the outset.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3002B"/>
                </a:solidFill>
                <a:latin typeface="Arial"/>
              </a:rPr>
              <a:t>NO SURPRISES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212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Risk Register from day one: risks identified early, ownership assigned, mitigation agreed. Transparent reporting on budget and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02 —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A PHASED APPROACH — START SMALL, SCALE WITH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26974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2697480" cy="68580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810512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029968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PREPARATORY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2423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Limited assignment: map all stakeholders, set up project organisation, gather input from M3E, identify tenant requirements → integral project plan.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40" y="3108960"/>
            <a:ext cx="256032" cy="274320"/>
          </a:xfrm>
          <a:prstGeom prst="rightArrow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737360"/>
            <a:ext cx="26974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737360"/>
            <a:ext cx="2697480" cy="68580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810512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029968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PM 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606040"/>
            <a:ext cx="2423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Guide technical design, fix scope, prepare tender documents, run tender and contractor selection.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3108960"/>
            <a:ext cx="256032" cy="274320"/>
          </a:xfrm>
          <a:prstGeom prst="rightArrow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737360"/>
            <a:ext cx="26974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737360"/>
            <a:ext cx="2697480" cy="68580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810512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029968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PM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06040"/>
            <a:ext cx="2423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Site &amp; execution management, floor-by-floor phasing, progress/budget/risk control, tenant communication.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32520" y="3108960"/>
            <a:ext cx="256032" cy="274320"/>
          </a:xfrm>
          <a:prstGeom prst="rightArrow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1737360"/>
            <a:ext cx="26974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1737360"/>
            <a:ext cx="2697480" cy="68580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5128" y="1810512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2029968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BUILDING CONSULTANCY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06040"/>
            <a:ext cx="2423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Independent quality inspections during construction.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257800"/>
            <a:ext cx="1133856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9496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C1C1C"/>
                </a:solidFill>
                <a:latin typeface="Arial"/>
              </a:rPr>
              <a:t>Following the preparatory assignment, we propose three separate assignments — PM Preparation, PM Execution and Building Consultancy — each with its own scope, deliverables and fee. Corum decides per phase.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02 —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PROCESS PLANNING (INDICATIVE)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12279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Arial"/>
              </a:rPr>
              <a:t>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5428" y="1554480"/>
            <a:ext cx="12279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Arial"/>
              </a:rPr>
              <a:t>Q4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3336" y="1554480"/>
            <a:ext cx="12279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Arial"/>
              </a:rPr>
              <a:t>Q1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1244" y="1554480"/>
            <a:ext cx="12279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Arial"/>
              </a:rPr>
              <a:t>Q2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9152" y="1554480"/>
            <a:ext cx="12279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Arial"/>
              </a:rPr>
              <a:t>Q3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7060" y="1554480"/>
            <a:ext cx="12279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Arial"/>
              </a:rPr>
              <a:t>Q4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4968" y="1554480"/>
            <a:ext cx="12279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Arial"/>
              </a:rP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2024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NDA · proposal · award Phase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1965960"/>
            <a:ext cx="859535" cy="292608"/>
          </a:xfrm>
          <a:prstGeom prst="round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87168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Phase 0 — preparatory → project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5892" y="2532888"/>
            <a:ext cx="1227908" cy="292608"/>
          </a:xfrm>
          <a:prstGeom prst="round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54096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Technical design (M3E) — guided by C&amp;W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5428" y="3099816"/>
            <a:ext cx="2455816" cy="292608"/>
          </a:xfrm>
          <a:prstGeom prst="round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21024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Tender &amp; contractor selection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8917" y="3666744"/>
            <a:ext cx="1841862" cy="292608"/>
          </a:xfrm>
          <a:prstGeom prst="round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187952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Contracting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198" y="4233672"/>
            <a:ext cx="613954" cy="292608"/>
          </a:xfrm>
          <a:prstGeom prst="round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7548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Execution — floor-by-floor (PM + inspections)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06361" y="4800600"/>
            <a:ext cx="3438142" cy="292608"/>
          </a:xfrm>
          <a:prstGeom prst="round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321808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Handover · aftercare · fine-tuning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76131" y="5367528"/>
            <a:ext cx="736744" cy="292608"/>
          </a:xfrm>
          <a:prstGeom prst="round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6035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8A8A8A"/>
                </a:solidFill>
                <a:latin typeface="Arial"/>
              </a:rPr>
              <a:t>wireframe: balkenplanning indicatief — te valideren met M3E-ontwerpplanning en Corum–PwC afspraken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806440"/>
            <a:ext cx="256032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89788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Arial"/>
              </a:rPr>
              <a:t>◆ = decision milestone Corum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03 —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PROJECT ORGANISATION — THE TWO-PM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26517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C1C1C"/>
                </a:solidFill>
                <a:latin typeface="Arial"/>
              </a:rPr>
              <a:t>CORUM A.M.</a:t>
            </a:r>
          </a:p>
          <a:p>
            <a:pPr algn="ctr"/>
            <a:r>
              <a:rPr sz="1000" b="1" i="0">
                <a:solidFill>
                  <a:srgbClr val="1C1C1C"/>
                </a:solidFill>
                <a:latin typeface="Arial"/>
              </a:rPr>
              <a:t>Client / 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463040"/>
            <a:ext cx="26517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554480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C1C1C"/>
                </a:solidFill>
                <a:latin typeface="Arial"/>
              </a:rPr>
              <a:t>PWC</a:t>
            </a:r>
          </a:p>
          <a:p>
            <a:pPr algn="ctr"/>
            <a:r>
              <a:rPr sz="1000" b="1" i="0">
                <a:solidFill>
                  <a:srgbClr val="1C1C1C"/>
                </a:solidFill>
                <a:latin typeface="Arial"/>
              </a:rPr>
              <a:t>Tenant — involved in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651760"/>
            <a:ext cx="2743200" cy="914400"/>
          </a:xfrm>
          <a:prstGeom prst="rect">
            <a:avLst/>
          </a:prstGeom>
          <a:solidFill>
            <a:srgbClr val="C3002B"/>
          </a:solidFill>
          <a:ln w="9525">
            <a:solidFill>
              <a:srgbClr val="C3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STAKEHOLDER MANAGEMENT PM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Tenant relations · communication ·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decision-making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51760"/>
            <a:ext cx="2743200" cy="914400"/>
          </a:xfrm>
          <a:prstGeom prst="rect">
            <a:avLst/>
          </a:prstGeom>
          <a:solidFill>
            <a:srgbClr val="C3002B"/>
          </a:solidFill>
          <a:ln w="9525">
            <a:solidFill>
              <a:srgbClr val="C3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TECHNICAL PM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Technical coordination · site mgmt ·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M3E alignment · tender &amp; 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206240"/>
            <a:ext cx="27432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29768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C1C1C"/>
                </a:solidFill>
                <a:latin typeface="Arial"/>
              </a:rPr>
              <a:t>M3E</a:t>
            </a:r>
          </a:p>
          <a:p>
            <a:pPr algn="ctr"/>
            <a:r>
              <a:rPr sz="1000" b="1" i="0">
                <a:solidFill>
                  <a:srgbClr val="1C1C1C"/>
                </a:solidFill>
                <a:latin typeface="Arial"/>
              </a:rPr>
              <a:t>Technical advisor / installation consultant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206240"/>
            <a:ext cx="27432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29768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C1C1C"/>
                </a:solidFill>
                <a:latin typeface="Arial"/>
              </a:rPr>
              <a:t>CONTRACTOR</a:t>
            </a:r>
          </a:p>
          <a:p>
            <a:pPr algn="ctr"/>
            <a:r>
              <a:rPr sz="1000" b="1" i="0">
                <a:solidFill>
                  <a:srgbClr val="1C1C1C"/>
                </a:solidFill>
                <a:latin typeface="Arial"/>
              </a:rPr>
              <a:t>Selected via tender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1206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8A8A8A"/>
                </a:solidFill>
                <a:latin typeface="Arial"/>
              </a:rPr>
              <a:t>wireframe: verbindingslijnen + eventueel cost management / inspecties toevoegen in 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532120"/>
            <a:ext cx="1133856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6692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C1C1C"/>
                </a:solidFill>
                <a:latin typeface="Arial"/>
              </a:rPr>
              <a:t>Two complementary project managers: one guards the relationship and the tenant experience, one guards the technique and the site — the technical and diplomatic sides of this project are equally covered.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03 —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GOVERNANCE &amp;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6675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C3002B"/>
                </a:solidFill>
                <a:latin typeface="Arial"/>
              </a:rPr>
              <a:t>STEERING MEETING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627632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Corum · C&amp;W (· PwC where relevant)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2763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Arial"/>
              </a:rPr>
              <a:t>Monthly — direction, decisions, escalation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31720"/>
            <a:ext cx="6675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0487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C3002B"/>
                </a:solidFill>
                <a:latin typeface="Arial"/>
              </a:rPr>
              <a:t>PROJECT TEAM MEETING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404872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C&amp;W · M3E (· contractor from execution)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40487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Arial"/>
              </a:rPr>
              <a:t>Bi-weekly — progress, planning, 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08960"/>
            <a:ext cx="6675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8211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C3002B"/>
                </a:solidFill>
                <a:latin typeface="Arial"/>
              </a:rPr>
              <a:t>TENANT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182112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Stakeholder PM · PwC facility/leadership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18211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Arial"/>
              </a:rPr>
              <a:t>Structured cadence + ad-hoc at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886200"/>
            <a:ext cx="6675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5935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C3002B"/>
                </a:solidFill>
                <a:latin typeface="Arial"/>
              </a:rPr>
              <a:t>SITE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959352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Technical PM · contractor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959352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Arial"/>
              </a:rPr>
              <a:t>Weekly during execution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554480"/>
            <a:ext cx="4389120" cy="301752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69164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3002B"/>
                </a:solidFill>
                <a:latin typeface="Arial"/>
              </a:rPr>
              <a:t>GOVERNANCE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057400"/>
            <a:ext cx="40690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•  PwC actively involved in the decision-making process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•  Continuous insight into progress and planning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•  Timely communication of changes impacting business operations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•  Clear escalation lines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•  Full project team personally introduced to all parties at the outset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937760"/>
            <a:ext cx="11338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74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3002B"/>
                </a:solidFill>
                <a:latin typeface="Arial"/>
              </a:rP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94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C1C"/>
                </a:solidFill>
                <a:latin typeface="Arial"/>
              </a:rPr>
              <a:t>Monthly progress report: planning · budget · quality · risks · tenant impact — one page for Corum management, detail in appendix. [ dashboard mock-up placeholder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03 —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RISK MANAGEMENT — NO SURPRISES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  <a:latin typeface="Arial"/>
              </a:rPr>
              <a:t>We work with a Risk Register from the very start: risks identified early, ownership assigned, mitigation agreed — surprises during execution avoided as much as possible.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03120"/>
            <a:ext cx="45720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103120"/>
            <a:ext cx="3749039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36575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RISK (EXAMPLES)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19" y="2103120"/>
            <a:ext cx="118872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148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39" y="2103120"/>
            <a:ext cx="420624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2148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MITIGATION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79" y="2103120"/>
            <a:ext cx="100584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399" y="2148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18519" y="2103120"/>
            <a:ext cx="640080" cy="365760"/>
          </a:xfrm>
          <a:prstGeom prst="rect">
            <a:avLst/>
          </a:prstGeom>
          <a:solidFill>
            <a:srgbClr val="1C1C1C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39" y="21488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468880"/>
            <a:ext cx="457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14600"/>
            <a:ext cx="365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468880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514600"/>
            <a:ext cx="365759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Tenant disturbance / complaints during 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19" y="2468880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2514600"/>
            <a:ext cx="1097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39" y="246888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59" y="2514600"/>
            <a:ext cx="4114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Floor-by-floor phasing, tenant comms plan, agreed working windows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12679" y="2468880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399" y="2514600"/>
            <a:ext cx="914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SPM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18519" y="2468880"/>
            <a:ext cx="640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64239" y="2514600"/>
            <a:ext cx="548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C3002B"/>
                </a:solidFill>
                <a:latin typeface="Arial"/>
              </a:rPr>
              <a:t>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035808"/>
            <a:ext cx="45720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081528"/>
            <a:ext cx="365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035808"/>
            <a:ext cx="3749039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081528"/>
            <a:ext cx="365759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Phasing conflicts between floors in a live building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19" y="3035808"/>
            <a:ext cx="118872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39" y="3081528"/>
            <a:ext cx="1097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39" y="3035808"/>
            <a:ext cx="420624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59" y="3081528"/>
            <a:ext cx="4114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Integral phasing plan, buffer per floor, weekly look-ahead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79" y="3035808"/>
            <a:ext cx="100584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399" y="3081528"/>
            <a:ext cx="914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TPM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018519" y="3035808"/>
            <a:ext cx="64008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4239" y="3081528"/>
            <a:ext cx="548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C3002B"/>
                </a:solidFill>
                <a:latin typeface="Arial"/>
              </a:rPr>
              <a:t>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602736"/>
            <a:ext cx="457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648456"/>
            <a:ext cx="365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3602736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648456"/>
            <a:ext cx="365759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WKO permits &amp; source drilling lead time (preferred scenario)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19" y="3602736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39" y="3648456"/>
            <a:ext cx="1097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Med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39" y="360273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59" y="3648456"/>
            <a:ext cx="4114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Early permit inventory &amp; planning, start applications in Phase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12679" y="3602736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58399" y="3648456"/>
            <a:ext cx="914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TPM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18519" y="3602736"/>
            <a:ext cx="640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64239" y="3648456"/>
            <a:ext cx="548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C3002B"/>
                </a:solidFill>
                <a:latin typeface="Arial"/>
              </a:rPr>
              <a:t>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169664"/>
            <a:ext cx="45720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15384"/>
            <a:ext cx="365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" y="4169664"/>
            <a:ext cx="3749039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4215384"/>
            <a:ext cx="365759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Tender result exceeds budget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17719" y="4169664"/>
            <a:ext cx="118872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39" y="4215384"/>
            <a:ext cx="1097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Med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39" y="4169664"/>
            <a:ext cx="420624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59" y="4215384"/>
            <a:ext cx="4114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Cost estimate at design milestones, VE-options, market sounding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12679" y="4169664"/>
            <a:ext cx="100584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399" y="4215384"/>
            <a:ext cx="914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TPM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018519" y="4169664"/>
            <a:ext cx="64008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64239" y="4215384"/>
            <a:ext cx="548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C3002B"/>
                </a:solidFill>
                <a:latin typeface="Arial"/>
              </a:rPr>
              <a:t>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736592"/>
            <a:ext cx="457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782312"/>
            <a:ext cx="365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" y="4736592"/>
            <a:ext cx="37490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4782312"/>
            <a:ext cx="365759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Controls/systems integration (esp. hybrid alternative)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17719" y="4736592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39" y="4782312"/>
            <a:ext cx="1097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Med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06439" y="473659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52159" y="4782312"/>
            <a:ext cx="4114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Commissioning plan, integral controls party, test per floor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12679" y="4736592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58399" y="4782312"/>
            <a:ext cx="914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TPM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018519" y="4736592"/>
            <a:ext cx="640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064239" y="4782312"/>
            <a:ext cx="548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C3002B"/>
                </a:solidFill>
                <a:latin typeface="Arial"/>
              </a:rPr>
              <a:t>●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5303520"/>
            <a:ext cx="45720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5349240"/>
            <a:ext cx="365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" y="5303520"/>
            <a:ext cx="3749039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5349240"/>
            <a:ext cx="365759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Decision-making lead time owner/tenant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17719" y="5303520"/>
            <a:ext cx="118872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63439" y="5349240"/>
            <a:ext cx="1097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Med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06439" y="5303520"/>
            <a:ext cx="420624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52159" y="5349240"/>
            <a:ext cx="4114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Decision calendar, decisions prepared in advance by C&amp;W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012679" y="5303520"/>
            <a:ext cx="100584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058399" y="5349240"/>
            <a:ext cx="914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Arial"/>
              </a:rPr>
              <a:t>SPM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018519" y="5303520"/>
            <a:ext cx="64008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64239" y="5349240"/>
            <a:ext cx="548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C3002B"/>
                </a:solidFill>
                <a:latin typeface="Arial"/>
              </a:rPr>
              <a:t>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6172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8A8A8A"/>
                </a:solidFill>
                <a:latin typeface="Arial"/>
              </a:rPr>
              <a:t>wireframe: voorbeeldrisico's — definitieve register in fase 0 opstellen; RAG-bolletjes in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D9D9D9"/>
                </a:solidFill>
                <a:latin typeface="Arial"/>
              </a:rPr>
              <a:t>04 —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D9D9D9"/>
                </a:solidFill>
                <a:latin typeface="Arial"/>
              </a:rPr>
              <a:t>[ TEAMPAGINA — BEWUST LEEG GELATEN / IN TE VULLEN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D9D9D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04 — TEAM &amp;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TRACK RECORD — COMPARABLE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2697480" cy="420624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2514600" cy="1463040"/>
          </a:xfrm>
          <a:prstGeom prst="rect">
            <a:avLst/>
          </a:prstGeom>
          <a:solidFill>
            <a:srgbClr val="D9D9D9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8A8A8A"/>
                </a:solidFill>
                <a:latin typeface="Arial"/>
              </a:rPr>
              <a:t>[FOTO]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3002B"/>
                </a:solidFill>
                <a:latin typeface="Arial"/>
              </a:rPr>
              <a:t>REFERENCE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Project name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Sustainability upgrade / renovation in occupied office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Size · role C&amp;W · result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[ in te vullen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697480" cy="420624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45920"/>
            <a:ext cx="2514600" cy="1463040"/>
          </a:xfrm>
          <a:prstGeom prst="rect">
            <a:avLst/>
          </a:prstGeom>
          <a:solidFill>
            <a:srgbClr val="D9D9D9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8A8A8A"/>
                </a:solidFill>
                <a:latin typeface="Arial"/>
              </a:rPr>
              <a:t>[FOTO]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2461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3002B"/>
                </a:solidFill>
                <a:latin typeface="Arial"/>
              </a:rPr>
              <a:t>REFERENCE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61188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Project name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Sustainability upgrade / renovation in occupied office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Size · role C&amp;W · result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[ in te vullen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554480"/>
            <a:ext cx="2697480" cy="420624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645920"/>
            <a:ext cx="2514600" cy="1463040"/>
          </a:xfrm>
          <a:prstGeom prst="rect">
            <a:avLst/>
          </a:prstGeom>
          <a:solidFill>
            <a:srgbClr val="D9D9D9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14884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8A8A8A"/>
                </a:solidFill>
                <a:latin typeface="Arial"/>
              </a:rPr>
              <a:t>[FOTO]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461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3002B"/>
                </a:solidFill>
                <a:latin typeface="Arial"/>
              </a:rPr>
              <a:t>REFERENCE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8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Project name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Sustainability upgrade / renovation in occupied office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Size · role C&amp;W · result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[ in te vullen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554480"/>
            <a:ext cx="2697480" cy="420624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645920"/>
            <a:ext cx="2514600" cy="1463040"/>
          </a:xfrm>
          <a:prstGeom prst="rect">
            <a:avLst/>
          </a:prstGeom>
          <a:solidFill>
            <a:srgbClr val="D9D9D9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14884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8A8A8A"/>
                </a:solidFill>
                <a:latin typeface="Arial"/>
              </a:rPr>
              <a:t>[FOTO]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2461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3002B"/>
                </a:solidFill>
                <a:latin typeface="Arial"/>
              </a:rPr>
              <a:t>REFERENCE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61188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Project name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Sustainability upgrade / renovation in occupied office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Size · role C&amp;W · result</a:t>
            </a:r>
          </a:p>
          <a:p>
            <a:pPr algn="l"/>
            <a:r>
              <a:rPr sz="900" b="0" i="0">
                <a:solidFill>
                  <a:srgbClr val="8A8A8A"/>
                </a:solidFill>
                <a:latin typeface="Arial"/>
              </a:rPr>
              <a:t>[ in te vullen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9436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8A8A8A"/>
                </a:solidFill>
                <a:latin typeface="Arial"/>
              </a:rPr>
              <a:t>selectiecriteria: verduurzaming/renovatie in gebruik zijnd kantoor · institutionele eigenaar · huurdercommunicatie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05 — FEE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FEE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6949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C1C"/>
                </a:solidFill>
                <a:latin typeface="Arial"/>
              </a:rPr>
              <a:t>PHASE 0 — Preparatory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2763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Lump 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C3002B"/>
                </a:solidFill>
                <a:latin typeface="Arial"/>
              </a:rPr>
              <a:t>€ [ •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0280"/>
            <a:ext cx="694944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1343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C1C"/>
                </a:solidFill>
                <a:latin typeface="Arial"/>
              </a:rPr>
              <a:t>PHASE 1 — PM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1343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Fixed fee / monthly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134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C3002B"/>
                </a:solidFill>
                <a:latin typeface="Arial"/>
              </a:rPr>
              <a:t>€ [ •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26080"/>
            <a:ext cx="6949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9923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C1C"/>
                </a:solidFill>
                <a:latin typeface="Arial"/>
              </a:rPr>
              <a:t>PHASE 2 — PM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99923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Fixed fee / monthly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992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C3002B"/>
                </a:solidFill>
                <a:latin typeface="Arial"/>
              </a:rPr>
              <a:t>€ [ •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11880"/>
            <a:ext cx="694944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8503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C1C"/>
                </a:solidFill>
                <a:latin typeface="Arial"/>
              </a:rPr>
              <a:t>PHASE 3 — Building Consultancy (quality inspections)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8503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Arial"/>
              </a:rPr>
              <a:t>Unit rate per inspection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85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C3002B"/>
                </a:solidFill>
                <a:latin typeface="Arial"/>
              </a:rPr>
              <a:t>€ [ •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554480"/>
            <a:ext cx="4160520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3002B"/>
                </a:solidFill>
                <a:latin typeface="Arial"/>
              </a:rPr>
              <a:t>RATE CARD (REFERENCE)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057400"/>
            <a:ext cx="38404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Senior Project Manager   € 145 / hr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Project Manager             € 135 / hr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Technical PM                 € 135 / hr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Cost Manager                € 125 / hr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Site Manager                 € 120 / hr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/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[ tarieven &amp; inzet definitief met Frank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480560"/>
            <a:ext cx="11338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6177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3002B"/>
                </a:solidFill>
                <a:latin typeface="Arial"/>
              </a:rPr>
              <a:t>ASSUMPTIONS &amp; EXCLUSIONS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83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•  Each phase is a separate assignment — Corum decides per phase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•  Technical design, calculations and specifications by M3E (outside C&amp;W scope)</a:t>
            </a:r>
          </a:p>
          <a:p>
            <a:pPr algn="l"/>
            <a:r>
              <a:rPr sz="1000" b="0" i="0">
                <a:solidFill>
                  <a:srgbClr val="1C1C1C"/>
                </a:solidFill>
                <a:latin typeface="Arial"/>
              </a:rPr>
              <a:t>•  DNR 2011 applicable  ·  [ verdere uitgangspunten in te vullen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3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3002B"/>
                </a:solidFill>
                <a:latin typeface="Arial"/>
              </a:rPr>
              <a:t>05 — FEE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8A8A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Arial"/>
              </a:rPr>
              <a:t>CUSHMAN &amp; WAKEFIELD  |  CORUM A.M.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502920" cy="50292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2763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7276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Arial"/>
              </a:rPr>
              <a:t>NDA via Dentons — 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57276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in progress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31720"/>
            <a:ext cx="502920" cy="50292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4048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5000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Arial"/>
              </a:rPr>
              <a:t>Insight into Corum–PwC agreement &amp; Corum–M3E arrangement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35000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upon NDA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08960"/>
            <a:ext cx="502920" cy="50292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18211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2724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Arial"/>
              </a:rPr>
              <a:t>Confirmation of Phase 0 — preparatory 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12724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July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886200"/>
            <a:ext cx="502920" cy="50292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5935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0448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Arial"/>
              </a:rPr>
              <a:t>Kick-off &amp; personal introduction of the full project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90448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within 2 weeks of award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63440"/>
            <a:ext cx="502920" cy="50292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73659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68172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Arial"/>
              </a:rPr>
              <a:t>Integral project plan → decision on Phase 1–3 assignments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68172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8A8A"/>
                </a:solidFill>
                <a:latin typeface="Arial"/>
              </a:rPr>
              <a:t>end of Phase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623560"/>
            <a:ext cx="11338560" cy="822960"/>
          </a:xfrm>
          <a:prstGeom prst="rect">
            <a:avLst/>
          </a:prstGeom>
          <a:solidFill>
            <a:srgbClr val="C3002B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7900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Sjoerd Bezemer  ·  +31 (0)6 128 485 42  ·  sjoerd.bezemer@cushwake.com      |      Frank Okker — Head of PDS Netherlands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