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ectangle 6"/>
          <p:cNvSpPr/>
          <p:nvPr/>
        </p:nvSpPr>
        <p:spPr>
          <a:xfrm>
            <a:off x="45720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9" name="TextBox 8"/>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0" name="TextBox 9"/>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1" name="Rectangle 10"/>
          <p:cNvSpPr/>
          <p:nvPr/>
        </p:nvSpPr>
        <p:spPr>
          <a:xfrm>
            <a:off x="2359152"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3" name="TextBox 12"/>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4" name="TextBox 13"/>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5" name="Rectangle 14"/>
          <p:cNvSpPr/>
          <p:nvPr/>
        </p:nvSpPr>
        <p:spPr>
          <a:xfrm>
            <a:off x="4261104"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7" name="TextBox 16"/>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18" name="TextBox 17"/>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19" name="Rectangle 18"/>
          <p:cNvSpPr/>
          <p:nvPr/>
        </p:nvSpPr>
        <p:spPr>
          <a:xfrm>
            <a:off x="6163056"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1" name="TextBox 20"/>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2" name="TextBox 21"/>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3" name="Rectangle 22"/>
          <p:cNvSpPr/>
          <p:nvPr/>
        </p:nvSpPr>
        <p:spPr>
          <a:xfrm>
            <a:off x="8065008"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5" name="TextBox 24"/>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6" name="TextBox 25"/>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7" name="Rectangle 26"/>
          <p:cNvSpPr/>
          <p:nvPr/>
        </p:nvSpPr>
        <p:spPr>
          <a:xfrm>
            <a:off x="996696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29" name="TextBox 28"/>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0" name="TextBox 29"/>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threaten the asset — and they all converge</a:t>
            </a:r>
          </a:p>
          <a:p>
            <a:pPr algn="l"/>
            <a:r>
              <a:rPr sz="2300" b="1" i="0">
                <a:solidFill>
                  <a:srgbClr val="1C1C1C"/>
                </a:solidFill>
                <a:latin typeface="Arial"/>
              </a:rPr>
              <a:t>on one building, still in use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594360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51576"/>
            <a:ext cx="5943600" cy="320040"/>
          </a:xfrm>
          <a:prstGeom prst="rect">
            <a:avLst/>
          </a:prstGeom>
          <a:noFill/>
        </p:spPr>
        <p:txBody>
          <a:bodyPr wrap="square" anchor="t">
            <a:spAutoFit/>
          </a:bodyPr>
          <a:lstStyle/>
          <a:p>
            <a:pPr algn="ctr"/>
            <a:r>
              <a:rPr sz="1200" b="1" i="0">
                <a:solidFill>
                  <a:srgbClr val="FFFFFF"/>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already sit at the centre of four parties — we become</a:t>
            </a:r>
          </a:p>
          <a:p>
            <a:pPr algn="l"/>
            <a:r>
              <a:rPr sz="2300" b="1" i="0">
                <a:solidFill>
                  <a:srgbClr val="1C1C1C"/>
                </a:solidFill>
                <a:latin typeface="Arial"/>
              </a:rPr>
              <a:t>the hub that connects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
        <p:nvSpPr>
          <p:cNvPr id="31" name="TextBox 30"/>
          <p:cNvSpPr txBox="1"/>
          <p:nvPr/>
        </p:nvSpPr>
        <p:spPr>
          <a:xfrm>
            <a:off x="4983480" y="5486400"/>
            <a:ext cx="6400800" cy="274320"/>
          </a:xfrm>
          <a:prstGeom prst="rect">
            <a:avLst/>
          </a:prstGeom>
          <a:noFill/>
        </p:spPr>
        <p:txBody>
          <a:bodyPr wrap="square" anchor="t">
            <a:spAutoFit/>
          </a:bodyPr>
          <a:lstStyle/>
          <a:p>
            <a:pPr algn="l"/>
            <a:r>
              <a:rPr sz="800" b="0" i="1">
                <a:solidFill>
                  <a:srgbClr val="7A7A7A"/>
                </a:solidFill>
                <a:latin typeface="Arial"/>
              </a:rPr>
              <a:t>wireframe: verbindingslijnen van C&amp;W naar alle knopen in design uitwerken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sustainability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wireframe: 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then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TextBox 20"/>
          <p:cNvSpPr txBox="1"/>
          <p:nvPr/>
        </p:nvSpPr>
        <p:spPr>
          <a:xfrm>
            <a:off x="3063240" y="5166360"/>
            <a:ext cx="7315200" cy="274320"/>
          </a:xfrm>
          <a:prstGeom prst="rect">
            <a:avLst/>
          </a:prstGeom>
          <a:noFill/>
        </p:spPr>
        <p:txBody>
          <a:bodyPr wrap="square" anchor="t">
            <a:spAutoFit/>
          </a:bodyPr>
          <a:lstStyle/>
          <a:p>
            <a:pPr algn="l"/>
            <a:r>
              <a:rPr sz="800" b="0" i="1">
                <a:solidFill>
                  <a:srgbClr val="7A7A7A"/>
                </a:solidFill>
                <a:latin typeface="Arial"/>
              </a:rPr>
              <a:t>wireframe: verbindingslijnen + eventueel cost management / inspecties toevoegen in design</a:t>
            </a:r>
          </a:p>
        </p:txBody>
      </p:sp>
      <p:sp>
        <p:nvSpPr>
          <p:cNvPr id="22" name="Rectangle 21"/>
          <p:cNvSpPr/>
          <p:nvPr/>
        </p:nvSpPr>
        <p:spPr>
          <a:xfrm>
            <a:off x="411480" y="5532120"/>
            <a:ext cx="1133856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
        <p:nvSpPr>
          <p:cNvPr id="80" name="TextBox 79"/>
          <p:cNvSpPr txBox="1"/>
          <p:nvPr/>
        </p:nvSpPr>
        <p:spPr>
          <a:xfrm>
            <a:off x="411480" y="5760720"/>
            <a:ext cx="10058400" cy="274320"/>
          </a:xfrm>
          <a:prstGeom prst="rect">
            <a:avLst/>
          </a:prstGeom>
          <a:noFill/>
        </p:spPr>
        <p:txBody>
          <a:bodyPr wrap="square" anchor="t">
            <a:spAutoFit/>
          </a:bodyPr>
          <a:lstStyle/>
          <a:p>
            <a:pPr algn="l"/>
            <a:r>
              <a:rPr sz="800" b="0" i="1">
                <a:solidFill>
                  <a:srgbClr val="7A7A7A"/>
                </a:solidFill>
                <a:latin typeface="Arial"/>
              </a:rPr>
              <a:t>wireframe: RACI-achtige matrix — definitief af te stemmen met Corum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94" name="TextBox 93"/>
          <p:cNvSpPr txBox="1"/>
          <p:nvPr/>
        </p:nvSpPr>
        <p:spPr>
          <a:xfrm>
            <a:off x="411480" y="5943600"/>
            <a:ext cx="10058400" cy="274320"/>
          </a:xfrm>
          <a:prstGeom prst="rect">
            <a:avLst/>
          </a:prstGeom>
          <a:noFill/>
        </p:spPr>
        <p:txBody>
          <a:bodyPr wrap="square" anchor="t">
            <a:spAutoFit/>
          </a:bodyPr>
          <a:lstStyle/>
          <a:p>
            <a:pPr algn="l"/>
            <a:r>
              <a:rPr sz="800" b="0" i="1">
                <a:solidFill>
                  <a:srgbClr val="7A7A7A"/>
                </a:solidFill>
                <a:latin typeface="Arial"/>
              </a:rPr>
              <a:t>wireframe: voorbeeldrisico's — definitief register in fase 0; RAG rood/amber/groen in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9" name="TextBox 28"/>
          <p:cNvSpPr txBox="1"/>
          <p:nvPr/>
        </p:nvSpPr>
        <p:spPr>
          <a:xfrm>
            <a:off x="411480" y="5897880"/>
            <a:ext cx="10515600" cy="274320"/>
          </a:xfrm>
          <a:prstGeom prst="rect">
            <a:avLst/>
          </a:prstGeom>
          <a:noFill/>
        </p:spPr>
        <p:txBody>
          <a:bodyPr wrap="square" anchor="t">
            <a:spAutoFit/>
          </a:bodyPr>
          <a:lstStyle/>
          <a:p>
            <a:pPr algn="l"/>
            <a:r>
              <a:rPr sz="800" b="0" i="1">
                <a:solidFill>
                  <a:srgbClr val="7A7A7A"/>
                </a:solidFill>
                <a:latin typeface="Arial"/>
              </a:rPr>
              <a:t>selectiecriteria: verduurzaming/renovatie in gebruik zijnd kantoor · institutionele eigenaar · veeleisende huurder behouden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(REFERENCE)</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Senior Project Manager   € 145 / hr</a:t>
            </a:r>
          </a:p>
          <a:p>
            <a:pPr algn="l">
              <a:spcAft>
                <a:spcPts val="200"/>
              </a:spcAft>
            </a:pPr>
            <a:r>
              <a:rPr sz="1000" b="0" i="0">
                <a:solidFill>
                  <a:srgbClr val="1C1C1C"/>
                </a:solidFill>
                <a:latin typeface="Arial"/>
              </a:rPr>
              <a:t>Project Manager             € 135 / hr</a:t>
            </a:r>
          </a:p>
          <a:p>
            <a:pPr algn="l">
              <a:spcAft>
                <a:spcPts val="200"/>
              </a:spcAft>
            </a:pPr>
            <a:r>
              <a:rPr sz="1000" b="0" i="0">
                <a:solidFill>
                  <a:srgbClr val="1C1C1C"/>
                </a:solidFill>
                <a:latin typeface="Arial"/>
              </a:rPr>
              <a:t>Technical PM                 € 135 / hr</a:t>
            </a:r>
          </a:p>
          <a:p>
            <a:pPr algn="l">
              <a:spcAft>
                <a:spcPts val="200"/>
              </a:spcAft>
            </a:pPr>
            <a:r>
              <a:rPr sz="1000" b="0" i="0">
                <a:solidFill>
                  <a:srgbClr val="1C1C1C"/>
                </a:solidFill>
                <a:latin typeface="Arial"/>
              </a:rPr>
              <a:t>Cost Manager                € 125 / hr</a:t>
            </a:r>
          </a:p>
          <a:p>
            <a:pPr algn="l">
              <a:spcAft>
                <a:spcPts val="200"/>
              </a:spcAft>
            </a:pPr>
            <a:r>
              <a:rPr sz="1000" b="0" i="0">
                <a:solidFill>
                  <a:srgbClr val="1C1C1C"/>
                </a:solidFill>
                <a:latin typeface="Arial"/>
              </a:rPr>
              <a:t>Site Manager                 € 120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&amp; inzet definitief met Frank ]</a:t>
            </a:r>
          </a:p>
        </p:txBody>
      </p:sp>
      <p:sp>
        <p:nvSpPr>
          <p:cNvPr id="28" name="Rectangle 27"/>
          <p:cNvSpPr/>
          <p:nvPr/>
        </p:nvSpPr>
        <p:spPr>
          <a:xfrm>
            <a:off x="411480" y="4572000"/>
            <a:ext cx="11338560" cy="14630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