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normAutofit/>
          </a:bodyPr>
          <a:lstStyle/>
          <a:p>
            <a:pPr algn="ctr"/>
            <a:r>
              <a:rPr sz="1400" b="0" i="0">
                <a:solidFill>
                  <a:srgbClr val="6B6467"/>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normAutofit/>
          </a:bodyPr>
          <a:lstStyle/>
          <a:p>
            <a:pPr algn="l"/>
            <a:r>
              <a:rPr sz="4000" b="1" i="0">
                <a:solidFill>
                  <a:srgbClr val="1F1942"/>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normAutofit/>
          </a:bodyPr>
          <a:lstStyle/>
          <a:p>
            <a:pPr algn="l"/>
            <a:r>
              <a:rPr sz="1500" b="1" i="0">
                <a:solidFill>
                  <a:srgbClr val="2A2250"/>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normAutofit/>
          </a:bodyPr>
          <a:lstStyle/>
          <a:p>
            <a:pPr algn="l"/>
            <a:r>
              <a:rPr sz="1200" b="0" i="0">
                <a:solidFill>
                  <a:srgbClr val="6B6467"/>
                </a:solidFill>
                <a:latin typeface="Arial"/>
              </a:rPr>
              <a:t>Project Management Proposal  ·  Prepared for Corum A.M.  ·  July 2026</a:t>
            </a:r>
          </a:p>
        </p:txBody>
      </p:sp>
      <p:sp>
        <p:nvSpPr>
          <p:cNvPr id="8" name="Rectangle 7"/>
          <p:cNvSpPr/>
          <p:nvPr/>
        </p:nvSpPr>
        <p:spPr>
          <a:xfrm>
            <a:off x="10241280" y="5806440"/>
            <a:ext cx="1691640" cy="713232"/>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0" y="5989320"/>
            <a:ext cx="1691640" cy="365760"/>
          </a:xfrm>
          <a:prstGeom prst="rect">
            <a:avLst/>
          </a:prstGeom>
          <a:noFill/>
        </p:spPr>
        <p:txBody>
          <a:bodyPr wrap="square" anchor="t">
            <a:normAutofit/>
          </a:bodyPr>
          <a:lstStyle/>
          <a:p>
            <a:pPr algn="ctr"/>
            <a:r>
              <a:rPr sz="1000" b="0" i="0">
                <a:solidFill>
                  <a:srgbClr val="6B6467"/>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20624"/>
            <a:ext cx="10515600" cy="320040"/>
          </a:xfrm>
          <a:prstGeom prst="rect">
            <a:avLst/>
          </a:prstGeom>
          <a:noFill/>
        </p:spPr>
        <p:txBody>
          <a:bodyPr wrap="square" anchor="t">
            <a:normAutofit/>
          </a:bodyPr>
          <a:lstStyle/>
          <a:p>
            <a:pPr algn="l"/>
            <a:r>
              <a:rPr sz="1300" b="1" i="0">
                <a:solidFill>
                  <a:srgbClr val="F4B634"/>
                </a:solidFill>
                <a:latin typeface="Arial"/>
              </a:rPr>
              <a:t>EXECUTIVE SUMMARY</a:t>
            </a:r>
          </a:p>
        </p:txBody>
      </p:sp>
      <p:sp>
        <p:nvSpPr>
          <p:cNvPr id="3" name="TextBox 2"/>
          <p:cNvSpPr txBox="1"/>
          <p:nvPr/>
        </p:nvSpPr>
        <p:spPr>
          <a:xfrm>
            <a:off x="548640" y="749808"/>
            <a:ext cx="10972800" cy="457200"/>
          </a:xfrm>
          <a:prstGeom prst="rect">
            <a:avLst/>
          </a:prstGeom>
          <a:noFill/>
        </p:spPr>
        <p:txBody>
          <a:bodyPr wrap="square" anchor="t">
            <a:normAutofit/>
          </a:bodyPr>
          <a:lstStyle/>
          <a:p>
            <a:pPr algn="l"/>
            <a:r>
              <a:rPr sz="1800" b="1" i="0">
                <a:solidFill>
                  <a:srgbClr val="1F1942"/>
                </a:solidFill>
                <a:latin typeface="Arial"/>
              </a:rPr>
              <a:t>Appoint C&amp;W as your single point of control — you decide, we deliver</a:t>
            </a:r>
          </a:p>
        </p:txBody>
      </p:sp>
      <p:sp>
        <p:nvSpPr>
          <p:cNvPr id="4" name="TextBox 3"/>
          <p:cNvSpPr txBox="1"/>
          <p:nvPr/>
        </p:nvSpPr>
        <p:spPr>
          <a:xfrm>
            <a:off x="54864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5" name="TextBox 4"/>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a:t>
            </a:r>
          </a:p>
        </p:txBody>
      </p:sp>
      <p:sp>
        <p:nvSpPr>
          <p:cNvPr id="6" name="Rounded Rectangle 5"/>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8" name="Rectangle 7"/>
          <p:cNvSpPr/>
          <p:nvPr/>
        </p:nvSpPr>
        <p:spPr>
          <a:xfrm>
            <a:off x="548640" y="1600200"/>
            <a:ext cx="41148" cy="3703320"/>
          </a:xfrm>
          <a:prstGeom prst="rect">
            <a:avLst/>
          </a:prstGeom>
          <a:solidFill>
            <a:srgbClr val="F4B634"/>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627632"/>
            <a:ext cx="4937760" cy="274320"/>
          </a:xfrm>
          <a:prstGeom prst="rect">
            <a:avLst/>
          </a:prstGeom>
          <a:noFill/>
        </p:spPr>
        <p:txBody>
          <a:bodyPr wrap="square" anchor="t">
            <a:normAutofit/>
          </a:bodyPr>
          <a:lstStyle/>
          <a:p>
            <a:pPr algn="l"/>
            <a:r>
              <a:rPr sz="1200" b="1" i="0">
                <a:solidFill>
                  <a:srgbClr val="F4B634"/>
                </a:solidFill>
                <a:latin typeface="Arial"/>
              </a:rPr>
              <a:t>SITUATION</a:t>
            </a:r>
          </a:p>
        </p:txBody>
      </p:sp>
      <p:sp>
        <p:nvSpPr>
          <p:cNvPr id="10" name="TextBox 9"/>
          <p:cNvSpPr txBox="1"/>
          <p:nvPr/>
        </p:nvSpPr>
        <p:spPr>
          <a:xfrm>
            <a:off x="777240" y="1938528"/>
            <a:ext cx="5074920" cy="1371600"/>
          </a:xfrm>
          <a:prstGeom prst="rect">
            <a:avLst/>
          </a:prstGeom>
          <a:noFill/>
        </p:spPr>
        <p:txBody>
          <a:bodyPr wrap="square" anchor="t">
            <a:normAutofit/>
          </a:bodyPr>
          <a:lstStyle/>
          <a:p>
            <a:pPr algn="l"/>
            <a:r>
              <a:rPr sz="1150" b="0" i="0">
                <a:solidFill>
                  <a:srgbClr val="1F1942"/>
                </a:solidFill>
                <a:latin typeface="Arial"/>
              </a:rPr>
              <a:t>Corum owns Westgate I — a prime 27,000 m² Amsterdam office, fully let to PwC — and has committed to make the building Paris Proof: a binding contractual obligation, not an ambition.</a:t>
            </a:r>
          </a:p>
        </p:txBody>
      </p:sp>
      <p:sp>
        <p:nvSpPr>
          <p:cNvPr id="11" name="TextBox 10"/>
          <p:cNvSpPr txBox="1"/>
          <p:nvPr/>
        </p:nvSpPr>
        <p:spPr>
          <a:xfrm>
            <a:off x="777240" y="3520440"/>
            <a:ext cx="4937760" cy="274320"/>
          </a:xfrm>
          <a:prstGeom prst="rect">
            <a:avLst/>
          </a:prstGeom>
          <a:noFill/>
        </p:spPr>
        <p:txBody>
          <a:bodyPr wrap="square" anchor="t">
            <a:normAutofit/>
          </a:bodyPr>
          <a:lstStyle/>
          <a:p>
            <a:pPr algn="l"/>
            <a:r>
              <a:rPr sz="1200" b="1" i="0">
                <a:solidFill>
                  <a:srgbClr val="F4B634"/>
                </a:solidFill>
                <a:latin typeface="Arial"/>
              </a:rPr>
              <a:t>COMPLICATION</a:t>
            </a:r>
          </a:p>
        </p:txBody>
      </p:sp>
      <p:sp>
        <p:nvSpPr>
          <p:cNvPr id="12" name="TextBox 11"/>
          <p:cNvSpPr txBox="1"/>
          <p:nvPr/>
        </p:nvSpPr>
        <p:spPr>
          <a:xfrm>
            <a:off x="777240" y="3831336"/>
            <a:ext cx="5074920" cy="1463040"/>
          </a:xfrm>
          <a:prstGeom prst="rect">
            <a:avLst/>
          </a:prstGeom>
          <a:noFill/>
        </p:spPr>
        <p:txBody>
          <a:bodyPr wrap="square" anchor="t">
            <a:normAutofit/>
          </a:bodyPr>
          <a:lstStyle/>
          <a:p>
            <a:pPr algn="l"/>
            <a:r>
              <a:rPr sz="1150" b="0" i="0">
                <a:solidFill>
                  <a:srgbClr val="1F1942"/>
                </a:solidFill>
                <a:latin typeface="Arial"/>
              </a:rPr>
              <a:t>The upgrade must happen inside a live, occupied building without losing PwC's confidence, on a fixed budget and against a hard deadline — steered from a distance by an investor, not a builder.</a:t>
            </a:r>
          </a:p>
        </p:txBody>
      </p:sp>
      <p:sp>
        <p:nvSpPr>
          <p:cNvPr id="13" name="TextBox 12"/>
          <p:cNvSpPr txBox="1"/>
          <p:nvPr/>
        </p:nvSpPr>
        <p:spPr>
          <a:xfrm>
            <a:off x="6355080" y="1600200"/>
            <a:ext cx="5394960" cy="1828800"/>
          </a:xfrm>
          <a:prstGeom prst="rect">
            <a:avLst/>
          </a:prstGeom>
          <a:noFill/>
        </p:spPr>
        <p:txBody>
          <a:bodyPr wrap="square" anchor="ctr">
            <a:normAutofit/>
          </a:bodyPr>
          <a:lstStyle/>
          <a:p>
            <a:pPr algn="l"/>
            <a:r>
              <a:rPr sz="1900" b="0" i="1">
                <a:solidFill>
                  <a:srgbClr val="F4B634"/>
                </a:solidFill>
                <a:latin typeface="Georgia"/>
              </a:rPr>
              <a:t>How does Corum deliver Paris Proof and protect the PwC tenancy and the asset's value — without being pulled into day-to-day management in the Netherlands?</a:t>
            </a:r>
          </a:p>
        </p:txBody>
      </p:sp>
      <p:sp>
        <p:nvSpPr>
          <p:cNvPr id="14" name="Rectangle 13"/>
          <p:cNvSpPr/>
          <p:nvPr/>
        </p:nvSpPr>
        <p:spPr>
          <a:xfrm>
            <a:off x="6355080" y="3657600"/>
            <a:ext cx="5394960" cy="17830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3822191"/>
            <a:ext cx="5029200" cy="274320"/>
          </a:xfrm>
          <a:prstGeom prst="rect">
            <a:avLst/>
          </a:prstGeom>
          <a:noFill/>
        </p:spPr>
        <p:txBody>
          <a:bodyPr wrap="square" anchor="t">
            <a:normAutofit/>
          </a:bodyPr>
          <a:lstStyle/>
          <a:p>
            <a:pPr algn="l"/>
            <a:r>
              <a:rPr sz="1200" b="1" i="0">
                <a:solidFill>
                  <a:srgbClr val="F4B634"/>
                </a:solidFill>
                <a:latin typeface="Arial"/>
              </a:rPr>
              <a:t>OUR ANSWER</a:t>
            </a:r>
          </a:p>
        </p:txBody>
      </p:sp>
      <p:sp>
        <p:nvSpPr>
          <p:cNvPr id="16" name="TextBox 15"/>
          <p:cNvSpPr txBox="1"/>
          <p:nvPr/>
        </p:nvSpPr>
        <p:spPr>
          <a:xfrm>
            <a:off x="6583680" y="4151376"/>
            <a:ext cx="4983480" cy="1188720"/>
          </a:xfrm>
          <a:prstGeom prst="rect">
            <a:avLst/>
          </a:prstGeom>
          <a:noFill/>
        </p:spPr>
        <p:txBody>
          <a:bodyPr wrap="square" anchor="t">
            <a:normAutofit/>
          </a:bodyPr>
          <a:lstStyle/>
          <a:p>
            <a:pPr algn="l"/>
            <a:r>
              <a:rPr sz="1150" b="0" i="0">
                <a:solidFill>
                  <a:srgbClr val="FFFFFF"/>
                </a:solidFill>
                <a:latin typeface="Arial"/>
              </a:rPr>
              <a:t>Appoint Cushman &amp; Wakefield as your single point of control. We deliver the transformation end-to-end and keep PwC fully aware and aligned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3</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57200"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1591056" cy="548640"/>
          </a:xfrm>
          <a:prstGeom prst="rect">
            <a:avLst/>
          </a:prstGeom>
          <a:noFill/>
        </p:spPr>
        <p:txBody>
          <a:bodyPr wrap="square" anchor="t">
            <a:normAutofit/>
          </a:bodyPr>
          <a:lstStyle/>
          <a:p>
            <a:pPr algn="l"/>
            <a:r>
              <a:rPr sz="2600" b="1" i="0">
                <a:solidFill>
                  <a:srgbClr val="2A2250"/>
                </a:solidFill>
                <a:latin typeface="Arial"/>
              </a:rPr>
              <a:t>01</a:t>
            </a:r>
          </a:p>
        </p:txBody>
      </p:sp>
      <p:sp>
        <p:nvSpPr>
          <p:cNvPr id="11" name="TextBox 10"/>
          <p:cNvSpPr txBox="1"/>
          <p:nvPr/>
        </p:nvSpPr>
        <p:spPr>
          <a:xfrm>
            <a:off x="566928" y="2606040"/>
            <a:ext cx="1591056" cy="1188720"/>
          </a:xfrm>
          <a:prstGeom prst="rect">
            <a:avLst/>
          </a:prstGeom>
          <a:noFill/>
        </p:spPr>
        <p:txBody>
          <a:bodyPr wrap="square" anchor="t">
            <a:normAutofit/>
          </a:bodyPr>
          <a:lstStyle/>
          <a:p>
            <a:pPr algn="l"/>
            <a:r>
              <a:rPr sz="1200" b="1" i="0">
                <a:solidFill>
                  <a:srgbClr val="1F1942"/>
                </a:solidFill>
                <a:latin typeface="Arial"/>
              </a:rPr>
              <a:t>THE CASE FOR ACTION</a:t>
            </a:r>
          </a:p>
        </p:txBody>
      </p:sp>
      <p:sp>
        <p:nvSpPr>
          <p:cNvPr id="12" name="TextBox 11"/>
          <p:cNvSpPr txBox="1"/>
          <p:nvPr/>
        </p:nvSpPr>
        <p:spPr>
          <a:xfrm>
            <a:off x="566928" y="3840480"/>
            <a:ext cx="1591056" cy="1737360"/>
          </a:xfrm>
          <a:prstGeom prst="rect">
            <a:avLst/>
          </a:prstGeom>
          <a:noFill/>
        </p:spPr>
        <p:txBody>
          <a:bodyPr wrap="square" anchor="t">
            <a:normAutofit/>
          </a:bodyPr>
          <a:lstStyle/>
          <a:p>
            <a:pPr algn="l"/>
            <a:r>
              <a:rPr sz="950" b="0" i="0">
                <a:solidFill>
                  <a:srgbClr val="6B6467"/>
                </a:solidFill>
                <a:latin typeface="Arial"/>
              </a:rPr>
              <a:t>Situation, complication</a:t>
            </a:r>
          </a:p>
          <a:p>
            <a:pPr algn="l"/>
            <a:r>
              <a:rPr sz="950" b="0" i="0">
                <a:solidFill>
                  <a:srgbClr val="6B6467"/>
                </a:solidFill>
                <a:latin typeface="Arial"/>
              </a:rPr>
              <a:t>&amp; our governing answer</a:t>
            </a:r>
          </a:p>
        </p:txBody>
      </p:sp>
      <p:sp>
        <p:nvSpPr>
          <p:cNvPr id="13" name="Rectangle 12"/>
          <p:cNvSpPr/>
          <p:nvPr/>
        </p:nvSpPr>
        <p:spPr>
          <a:xfrm>
            <a:off x="2359152"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1920240"/>
            <a:ext cx="1591056" cy="548640"/>
          </a:xfrm>
          <a:prstGeom prst="rect">
            <a:avLst/>
          </a:prstGeom>
          <a:noFill/>
        </p:spPr>
        <p:txBody>
          <a:bodyPr wrap="square" anchor="t">
            <a:normAutofit/>
          </a:bodyPr>
          <a:lstStyle/>
          <a:p>
            <a:pPr algn="l"/>
            <a:r>
              <a:rPr sz="2600" b="1" i="0">
                <a:solidFill>
                  <a:srgbClr val="2A2250"/>
                </a:solidFill>
                <a:latin typeface="Arial"/>
              </a:rPr>
              <a:t>02</a:t>
            </a:r>
          </a:p>
        </p:txBody>
      </p:sp>
      <p:sp>
        <p:nvSpPr>
          <p:cNvPr id="15" name="TextBox 14"/>
          <p:cNvSpPr txBox="1"/>
          <p:nvPr/>
        </p:nvSpPr>
        <p:spPr>
          <a:xfrm>
            <a:off x="2468880" y="2606040"/>
            <a:ext cx="1591056" cy="1188720"/>
          </a:xfrm>
          <a:prstGeom prst="rect">
            <a:avLst/>
          </a:prstGeom>
          <a:noFill/>
        </p:spPr>
        <p:txBody>
          <a:bodyPr wrap="square" anchor="t">
            <a:normAutofit/>
          </a:bodyPr>
          <a:lstStyle/>
          <a:p>
            <a:pPr algn="l"/>
            <a:r>
              <a:rPr sz="1200" b="1" i="0">
                <a:solidFill>
                  <a:srgbClr val="1F1942"/>
                </a:solidFill>
                <a:latin typeface="Arial"/>
              </a:rPr>
              <a:t>WHAT WE TAKE</a:t>
            </a:r>
          </a:p>
          <a:p>
            <a:pPr algn="l"/>
            <a:r>
              <a:rPr sz="1200" b="1" i="0">
                <a:solidFill>
                  <a:srgbClr val="1F1942"/>
                </a:solidFill>
                <a:latin typeface="Arial"/>
              </a:rPr>
              <a:t>OFF YOUR PLATE</a:t>
            </a:r>
          </a:p>
        </p:txBody>
      </p:sp>
      <p:sp>
        <p:nvSpPr>
          <p:cNvPr id="16" name="TextBox 15"/>
          <p:cNvSpPr txBox="1"/>
          <p:nvPr/>
        </p:nvSpPr>
        <p:spPr>
          <a:xfrm>
            <a:off x="2468880" y="3840480"/>
            <a:ext cx="1591056" cy="1737360"/>
          </a:xfrm>
          <a:prstGeom prst="rect">
            <a:avLst/>
          </a:prstGeom>
          <a:noFill/>
        </p:spPr>
        <p:txBody>
          <a:bodyPr wrap="square" anchor="t">
            <a:normAutofit/>
          </a:bodyPr>
          <a:lstStyle/>
          <a:p>
            <a:pPr algn="l"/>
            <a:r>
              <a:rPr sz="950" b="0" i="0">
                <a:solidFill>
                  <a:srgbClr val="6B6467"/>
                </a:solidFill>
                <a:latin typeface="Arial"/>
              </a:rPr>
              <a:t>Managing PwC &amp; organizing</a:t>
            </a:r>
          </a:p>
          <a:p>
            <a:pPr algn="l"/>
            <a:r>
              <a:rPr sz="950" b="0" i="0">
                <a:solidFill>
                  <a:srgbClr val="6B6467"/>
                </a:solidFill>
                <a:latin typeface="Arial"/>
              </a:rPr>
              <a:t>the Paris Proof works</a:t>
            </a:r>
          </a:p>
        </p:txBody>
      </p:sp>
      <p:sp>
        <p:nvSpPr>
          <p:cNvPr id="17" name="Rectangle 16"/>
          <p:cNvSpPr/>
          <p:nvPr/>
        </p:nvSpPr>
        <p:spPr>
          <a:xfrm>
            <a:off x="4261104"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1920240"/>
            <a:ext cx="1591056" cy="548640"/>
          </a:xfrm>
          <a:prstGeom prst="rect">
            <a:avLst/>
          </a:prstGeom>
          <a:noFill/>
        </p:spPr>
        <p:txBody>
          <a:bodyPr wrap="square" anchor="t">
            <a:normAutofit/>
          </a:bodyPr>
          <a:lstStyle/>
          <a:p>
            <a:pPr algn="l"/>
            <a:r>
              <a:rPr sz="2600" b="1" i="0">
                <a:solidFill>
                  <a:srgbClr val="2A2250"/>
                </a:solidFill>
                <a:latin typeface="Arial"/>
              </a:rPr>
              <a:t>03</a:t>
            </a:r>
          </a:p>
        </p:txBody>
      </p:sp>
      <p:sp>
        <p:nvSpPr>
          <p:cNvPr id="19" name="TextBox 18"/>
          <p:cNvSpPr txBox="1"/>
          <p:nvPr/>
        </p:nvSpPr>
        <p:spPr>
          <a:xfrm>
            <a:off x="4370832" y="2606040"/>
            <a:ext cx="1591056" cy="1188720"/>
          </a:xfrm>
          <a:prstGeom prst="rect">
            <a:avLst/>
          </a:prstGeom>
          <a:noFill/>
        </p:spPr>
        <p:txBody>
          <a:bodyPr wrap="square" anchor="t">
            <a:normAutofit/>
          </a:bodyPr>
          <a:lstStyle/>
          <a:p>
            <a:pPr algn="l"/>
            <a:r>
              <a:rPr sz="1200" b="1" i="0">
                <a:solidFill>
                  <a:srgbClr val="1F1942"/>
                </a:solidFill>
                <a:latin typeface="Arial"/>
              </a:rPr>
              <a:t>THE JOURNEY</a:t>
            </a:r>
          </a:p>
        </p:txBody>
      </p:sp>
      <p:sp>
        <p:nvSpPr>
          <p:cNvPr id="20" name="TextBox 19"/>
          <p:cNvSpPr txBox="1"/>
          <p:nvPr/>
        </p:nvSpPr>
        <p:spPr>
          <a:xfrm>
            <a:off x="4370832" y="3840480"/>
            <a:ext cx="1591056" cy="1737360"/>
          </a:xfrm>
          <a:prstGeom prst="rect">
            <a:avLst/>
          </a:prstGeom>
          <a:noFill/>
        </p:spPr>
        <p:txBody>
          <a:bodyPr wrap="square" anchor="t">
            <a:normAutofit/>
          </a:bodyPr>
          <a:lstStyle/>
          <a:p>
            <a:pPr algn="l"/>
            <a:r>
              <a:rPr sz="950" b="0" i="0">
                <a:solidFill>
                  <a:srgbClr val="6B6467"/>
                </a:solidFill>
                <a:latin typeface="Arial"/>
              </a:rPr>
              <a:t>Chronological roadmap,</a:t>
            </a:r>
          </a:p>
          <a:p>
            <a:pPr algn="l"/>
            <a:r>
              <a:rPr sz="950" b="0" i="0">
                <a:solidFill>
                  <a:srgbClr val="6B6467"/>
                </a:solidFill>
                <a:latin typeface="Arial"/>
              </a:rPr>
              <a:t>phasing &amp; planning</a:t>
            </a:r>
          </a:p>
        </p:txBody>
      </p:sp>
      <p:sp>
        <p:nvSpPr>
          <p:cNvPr id="21" name="Rectangle 20"/>
          <p:cNvSpPr/>
          <p:nvPr/>
        </p:nvSpPr>
        <p:spPr>
          <a:xfrm>
            <a:off x="6163056"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784" y="1920240"/>
            <a:ext cx="1591056" cy="548640"/>
          </a:xfrm>
          <a:prstGeom prst="rect">
            <a:avLst/>
          </a:prstGeom>
          <a:noFill/>
        </p:spPr>
        <p:txBody>
          <a:bodyPr wrap="square" anchor="t">
            <a:normAutofit/>
          </a:bodyPr>
          <a:lstStyle/>
          <a:p>
            <a:pPr algn="l"/>
            <a:r>
              <a:rPr sz="2600" b="1" i="0">
                <a:solidFill>
                  <a:srgbClr val="2A2250"/>
                </a:solidFill>
                <a:latin typeface="Arial"/>
              </a:rPr>
              <a:t>04</a:t>
            </a:r>
          </a:p>
        </p:txBody>
      </p:sp>
      <p:sp>
        <p:nvSpPr>
          <p:cNvPr id="23" name="TextBox 22"/>
          <p:cNvSpPr txBox="1"/>
          <p:nvPr/>
        </p:nvSpPr>
        <p:spPr>
          <a:xfrm>
            <a:off x="6272784" y="2606040"/>
            <a:ext cx="1591056" cy="1188720"/>
          </a:xfrm>
          <a:prstGeom prst="rect">
            <a:avLst/>
          </a:prstGeom>
          <a:noFill/>
        </p:spPr>
        <p:txBody>
          <a:bodyPr wrap="square" anchor="t">
            <a:normAutofit/>
          </a:bodyPr>
          <a:lstStyle/>
          <a:p>
            <a:pPr algn="l"/>
            <a:r>
              <a:rPr sz="1200" b="1" i="0">
                <a:solidFill>
                  <a:srgbClr val="1F1942"/>
                </a:solidFill>
                <a:latin typeface="Arial"/>
              </a:rPr>
              <a:t>HOW WE STAY</a:t>
            </a:r>
          </a:p>
          <a:p>
            <a:pPr algn="l"/>
            <a:r>
              <a:rPr sz="1200" b="1" i="0">
                <a:solidFill>
                  <a:srgbClr val="1F1942"/>
                </a:solidFill>
                <a:latin typeface="Arial"/>
              </a:rPr>
              <a:t>IN CONTROL</a:t>
            </a:r>
          </a:p>
        </p:txBody>
      </p:sp>
      <p:sp>
        <p:nvSpPr>
          <p:cNvPr id="24" name="TextBox 23"/>
          <p:cNvSpPr txBox="1"/>
          <p:nvPr/>
        </p:nvSpPr>
        <p:spPr>
          <a:xfrm>
            <a:off x="6272784" y="3840480"/>
            <a:ext cx="1591056" cy="1737360"/>
          </a:xfrm>
          <a:prstGeom prst="rect">
            <a:avLst/>
          </a:prstGeom>
          <a:noFill/>
        </p:spPr>
        <p:txBody>
          <a:bodyPr wrap="square" anchor="t">
            <a:normAutofit/>
          </a:bodyPr>
          <a:lstStyle/>
          <a:p>
            <a:pPr algn="l"/>
            <a:r>
              <a:rPr sz="950" b="0" i="0">
                <a:solidFill>
                  <a:srgbClr val="6B6467"/>
                </a:solidFill>
                <a:latin typeface="Arial"/>
              </a:rPr>
              <a:t>Organisation, governance,</a:t>
            </a:r>
          </a:p>
          <a:p>
            <a:pPr algn="l"/>
            <a:r>
              <a:rPr sz="950" b="0" i="0">
                <a:solidFill>
                  <a:srgbClr val="6B6467"/>
                </a:solidFill>
                <a:latin typeface="Arial"/>
              </a:rPr>
              <a:t>reporting &amp; risk</a:t>
            </a:r>
          </a:p>
        </p:txBody>
      </p:sp>
      <p:sp>
        <p:nvSpPr>
          <p:cNvPr id="25" name="Rectangle 24"/>
          <p:cNvSpPr/>
          <p:nvPr/>
        </p:nvSpPr>
        <p:spPr>
          <a:xfrm>
            <a:off x="8065008"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1920240"/>
            <a:ext cx="1591056" cy="548640"/>
          </a:xfrm>
          <a:prstGeom prst="rect">
            <a:avLst/>
          </a:prstGeom>
          <a:noFill/>
        </p:spPr>
        <p:txBody>
          <a:bodyPr wrap="square" anchor="t">
            <a:normAutofit/>
          </a:bodyPr>
          <a:lstStyle/>
          <a:p>
            <a:pPr algn="l"/>
            <a:r>
              <a:rPr sz="2600" b="1" i="0">
                <a:solidFill>
                  <a:srgbClr val="2A2250"/>
                </a:solidFill>
                <a:latin typeface="Arial"/>
              </a:rPr>
              <a:t>05</a:t>
            </a:r>
          </a:p>
        </p:txBody>
      </p:sp>
      <p:sp>
        <p:nvSpPr>
          <p:cNvPr id="27" name="TextBox 26"/>
          <p:cNvSpPr txBox="1"/>
          <p:nvPr/>
        </p:nvSpPr>
        <p:spPr>
          <a:xfrm>
            <a:off x="8174736" y="2606040"/>
            <a:ext cx="1591056" cy="1188720"/>
          </a:xfrm>
          <a:prstGeom prst="rect">
            <a:avLst/>
          </a:prstGeom>
          <a:noFill/>
        </p:spPr>
        <p:txBody>
          <a:bodyPr wrap="square" anchor="t">
            <a:normAutofit/>
          </a:bodyPr>
          <a:lstStyle/>
          <a:p>
            <a:pPr algn="l"/>
            <a:r>
              <a:rPr sz="1200" b="1" i="0">
                <a:solidFill>
                  <a:srgbClr val="1F1942"/>
                </a:solidFill>
                <a:latin typeface="Arial"/>
              </a:rPr>
              <a:t>WHY C&amp;W, TEAM</a:t>
            </a:r>
          </a:p>
          <a:p>
            <a:pPr algn="l"/>
            <a:r>
              <a:rPr sz="1200" b="1" i="0">
                <a:solidFill>
                  <a:srgbClr val="1F1942"/>
                </a:solidFill>
                <a:latin typeface="Arial"/>
              </a:rPr>
              <a:t>&amp; TRACK RECORD</a:t>
            </a:r>
          </a:p>
        </p:txBody>
      </p:sp>
      <p:sp>
        <p:nvSpPr>
          <p:cNvPr id="28" name="TextBox 27"/>
          <p:cNvSpPr txBox="1"/>
          <p:nvPr/>
        </p:nvSpPr>
        <p:spPr>
          <a:xfrm>
            <a:off x="8174736" y="3840480"/>
            <a:ext cx="1591056" cy="1737360"/>
          </a:xfrm>
          <a:prstGeom prst="rect">
            <a:avLst/>
          </a:prstGeom>
          <a:noFill/>
        </p:spPr>
        <p:txBody>
          <a:bodyPr wrap="square" anchor="t">
            <a:normAutofit/>
          </a:bodyPr>
          <a:lstStyle/>
          <a:p>
            <a:pPr algn="l"/>
            <a:r>
              <a:rPr sz="950" b="0" i="0">
                <a:solidFill>
                  <a:srgbClr val="6B6467"/>
                </a:solidFill>
                <a:latin typeface="Arial"/>
              </a:rPr>
              <a:t>Differentiation, team (t.b.d.)</a:t>
            </a:r>
          </a:p>
          <a:p>
            <a:pPr algn="l"/>
            <a:r>
              <a:rPr sz="950" b="0" i="0">
                <a:solidFill>
                  <a:srgbClr val="6B6467"/>
                </a:solidFill>
                <a:latin typeface="Arial"/>
              </a:rPr>
              <a:t>&amp; references</a:t>
            </a:r>
          </a:p>
        </p:txBody>
      </p:sp>
      <p:sp>
        <p:nvSpPr>
          <p:cNvPr id="29" name="Rectangle 28"/>
          <p:cNvSpPr/>
          <p:nvPr/>
        </p:nvSpPr>
        <p:spPr>
          <a:xfrm>
            <a:off x="9966960" y="1737360"/>
            <a:ext cx="1810512"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76688" y="1920240"/>
            <a:ext cx="1591056" cy="548640"/>
          </a:xfrm>
          <a:prstGeom prst="rect">
            <a:avLst/>
          </a:prstGeom>
          <a:noFill/>
        </p:spPr>
        <p:txBody>
          <a:bodyPr wrap="square" anchor="t">
            <a:normAutofit/>
          </a:bodyPr>
          <a:lstStyle/>
          <a:p>
            <a:pPr algn="l"/>
            <a:r>
              <a:rPr sz="2600" b="1" i="0">
                <a:solidFill>
                  <a:srgbClr val="2A2250"/>
                </a:solidFill>
                <a:latin typeface="Arial"/>
              </a:rPr>
              <a:t>06</a:t>
            </a:r>
          </a:p>
        </p:txBody>
      </p:sp>
      <p:sp>
        <p:nvSpPr>
          <p:cNvPr id="31" name="TextBox 30"/>
          <p:cNvSpPr txBox="1"/>
          <p:nvPr/>
        </p:nvSpPr>
        <p:spPr>
          <a:xfrm>
            <a:off x="10076688" y="2606040"/>
            <a:ext cx="1591056" cy="1188720"/>
          </a:xfrm>
          <a:prstGeom prst="rect">
            <a:avLst/>
          </a:prstGeom>
          <a:noFill/>
        </p:spPr>
        <p:txBody>
          <a:bodyPr wrap="square" anchor="t">
            <a:normAutofit/>
          </a:bodyPr>
          <a:lstStyle/>
          <a:p>
            <a:pPr algn="l"/>
            <a:r>
              <a:rPr sz="1200" b="1" i="0">
                <a:solidFill>
                  <a:srgbClr val="1F1942"/>
                </a:solidFill>
                <a:latin typeface="Arial"/>
              </a:rPr>
              <a:t>COMMERCIALS</a:t>
            </a:r>
          </a:p>
          <a:p>
            <a:pPr algn="l"/>
            <a:r>
              <a:rPr sz="1200" b="1" i="0">
                <a:solidFill>
                  <a:srgbClr val="1F1942"/>
                </a:solidFill>
                <a:latin typeface="Arial"/>
              </a:rPr>
              <a:t>&amp; THE DECISION</a:t>
            </a:r>
          </a:p>
        </p:txBody>
      </p:sp>
      <p:sp>
        <p:nvSpPr>
          <p:cNvPr id="32" name="TextBox 31"/>
          <p:cNvSpPr txBox="1"/>
          <p:nvPr/>
        </p:nvSpPr>
        <p:spPr>
          <a:xfrm>
            <a:off x="10076688" y="3840480"/>
            <a:ext cx="1591056" cy="1737360"/>
          </a:xfrm>
          <a:prstGeom prst="rect">
            <a:avLst/>
          </a:prstGeom>
          <a:noFill/>
        </p:spPr>
        <p:txBody>
          <a:bodyPr wrap="square" anchor="t">
            <a:normAutofit/>
          </a:bodyPr>
          <a:lstStyle/>
          <a:p>
            <a:pPr algn="l"/>
            <a:r>
              <a:rPr sz="950" b="0" i="0">
                <a:solidFill>
                  <a:srgbClr val="6B6467"/>
                </a:solidFill>
                <a:latin typeface="Arial"/>
              </a:rPr>
              <a:t>Fee, the 2030 vision</a:t>
            </a:r>
          </a:p>
          <a:p>
            <a:pPr algn="l"/>
            <a:r>
              <a:rPr sz="950" b="0" i="0">
                <a:solidFill>
                  <a:srgbClr val="6B6467"/>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You own a prime Amsterdam asset with a binding</a:t>
            </a:r>
          </a:p>
          <a:p>
            <a:pPr algn="l"/>
            <a:r>
              <a:rPr sz="2300" b="1" i="0">
                <a:solidFill>
                  <a:srgbClr val="1F1942"/>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4</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normAutofit/>
          </a:bodyPr>
          <a:lstStyle/>
          <a:p>
            <a:pPr algn="l"/>
            <a:r>
              <a:rPr sz="1200" b="1" i="0">
                <a:solidFill>
                  <a:srgbClr val="2A2250"/>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normAutofit/>
          </a:bodyPr>
          <a:lstStyle/>
          <a:p>
            <a:pPr algn="l"/>
            <a:r>
              <a:rPr sz="1100" b="0" i="0">
                <a:solidFill>
                  <a:srgbClr val="1F1942"/>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normAutofit/>
          </a:bodyPr>
          <a:lstStyle/>
          <a:p>
            <a:pPr algn="l"/>
            <a:r>
              <a:rPr sz="1200" b="1" i="0">
                <a:solidFill>
                  <a:srgbClr val="2A2250"/>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normAutofit/>
          </a:bodyPr>
          <a:lstStyle/>
          <a:p>
            <a:pPr algn="l"/>
            <a:r>
              <a:rPr sz="1100" b="0" i="0">
                <a:solidFill>
                  <a:srgbClr val="1F1942"/>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normAutofit/>
          </a:bodyPr>
          <a:lstStyle/>
          <a:p>
            <a:pPr algn="l"/>
            <a:r>
              <a:rPr sz="1200" b="1" i="0">
                <a:solidFill>
                  <a:srgbClr val="2A2250"/>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normAutofit/>
          </a:bodyPr>
          <a:lstStyle/>
          <a:p>
            <a:pPr algn="l"/>
            <a:r>
              <a:rPr sz="1100" b="0" i="0">
                <a:solidFill>
                  <a:srgbClr val="1F1942"/>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normAutofit/>
          </a:bodyPr>
          <a:lstStyle/>
          <a:p>
            <a:pPr algn="l"/>
            <a:r>
              <a:rPr sz="1200" b="1" i="0">
                <a:solidFill>
                  <a:srgbClr val="2A2250"/>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normAutofit/>
          </a:bodyPr>
          <a:lstStyle/>
          <a:p>
            <a:pPr algn="l"/>
            <a:r>
              <a:rPr sz="1100" b="0" i="0">
                <a:solidFill>
                  <a:srgbClr val="1F1942"/>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normAutofit/>
          </a:bodyPr>
          <a:lstStyle/>
          <a:p>
            <a:pPr algn="l"/>
            <a:r>
              <a:rPr sz="1200" b="1" i="0">
                <a:solidFill>
                  <a:srgbClr val="2A2250"/>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normAutofit/>
          </a:bodyPr>
          <a:lstStyle/>
          <a:p>
            <a:pPr algn="l">
              <a:spcAft>
                <a:spcPts val="200"/>
              </a:spcAft>
            </a:pPr>
            <a:r>
              <a:rPr sz="1100" b="0" i="0">
                <a:solidFill>
                  <a:srgbClr val="1F1942"/>
                </a:solidFill>
                <a:latin typeface="Arial"/>
              </a:rPr>
              <a:t>Three assets are at stake in one building, at the same time:</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  The physical asset and its value</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  The PwC tenancy — and the lease that underpins your return</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  Your reputation as a reliable, professional landlord</a:t>
            </a:r>
          </a:p>
          <a:p>
            <a:pPr algn="l">
              <a:spcAft>
                <a:spcPts val="200"/>
              </a:spcAft>
            </a:pPr>
            <a:r>
              <a:rPr sz="1100" b="0" i="0">
                <a:solidFill>
                  <a:srgbClr val="1F1942"/>
                </a:solidFill>
                <a:latin typeface="Arial"/>
              </a:rPr>
              <a:t/>
            </a:r>
          </a:p>
          <a:p>
            <a:pPr algn="l">
              <a:spcAft>
                <a:spcPts val="200"/>
              </a:spcAft>
            </a:pPr>
            <a:r>
              <a:rPr sz="1100" b="0" i="0">
                <a:solidFill>
                  <a:srgbClr val="1F1942"/>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Three forces converge on one occupied building —</a:t>
            </a:r>
          </a:p>
          <a:p>
            <a:pPr algn="l"/>
            <a:r>
              <a:rPr sz="2300" b="1" i="0">
                <a:solidFill>
                  <a:srgbClr val="1F1942"/>
                </a:solidFill>
                <a:latin typeface="Arial"/>
              </a:rPr>
              <a:t>and all three touch your return</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5</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82880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norm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norm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normAutofit/>
          </a:bodyPr>
          <a:lstStyle/>
          <a:p>
            <a:pPr algn="l"/>
            <a:r>
              <a:rPr sz="1100" b="1" i="1">
                <a:solidFill>
                  <a:srgbClr val="2A2250"/>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normAutofit/>
          </a:bodyPr>
          <a:lstStyle/>
          <a:p>
            <a:pPr algn="l"/>
            <a:r>
              <a:rPr sz="1050" b="0" i="0">
                <a:solidFill>
                  <a:srgbClr val="1F1942"/>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norm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norm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normAutofit/>
          </a:bodyPr>
          <a:lstStyle/>
          <a:p>
            <a:pPr algn="l"/>
            <a:r>
              <a:rPr sz="1100" b="1" i="1">
                <a:solidFill>
                  <a:srgbClr val="2A2250"/>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normAutofit/>
          </a:bodyPr>
          <a:lstStyle/>
          <a:p>
            <a:pPr algn="l"/>
            <a:r>
              <a:rPr sz="1050" b="0" i="0">
                <a:solidFill>
                  <a:srgbClr val="1F1942"/>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norm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norm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normAutofit/>
          </a:bodyPr>
          <a:lstStyle/>
          <a:p>
            <a:pPr algn="l"/>
            <a:r>
              <a:rPr sz="1100" b="1" i="1">
                <a:solidFill>
                  <a:srgbClr val="2A2250"/>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normAutofit/>
          </a:bodyPr>
          <a:lstStyle/>
          <a:p>
            <a:pPr algn="l"/>
            <a:r>
              <a:rPr sz="1050" b="0" i="0">
                <a:solidFill>
                  <a:srgbClr val="1F1942"/>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normAutofit/>
          </a:bodyPr>
          <a:lstStyle/>
          <a:p>
            <a:pPr algn="l"/>
            <a:r>
              <a:rPr sz="1100" b="1" i="1">
                <a:solidFill>
                  <a:srgbClr val="1F1942"/>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942"/>
          </a:solidFill>
          <a:ln w="9525">
            <a:solidFill>
              <a:srgbClr val="1F19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normAutofit/>
          </a:bodyPr>
          <a:lstStyle/>
          <a:p>
            <a:pPr algn="l"/>
            <a:r>
              <a:rPr sz="1200" b="1" i="0">
                <a:solidFill>
                  <a:srgbClr val="F4B634"/>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norm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Rectangle 5"/>
          <p:cNvSpPr/>
          <p:nvPr/>
        </p:nvSpPr>
        <p:spPr>
          <a:xfrm>
            <a:off x="658368" y="3611880"/>
            <a:ext cx="2926080" cy="54864"/>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10789920" cy="1371600"/>
          </a:xfrm>
          <a:prstGeom prst="rect">
            <a:avLst/>
          </a:prstGeom>
          <a:noFill/>
        </p:spPr>
        <p:txBody>
          <a:bodyPr wrap="square" anchor="t">
            <a:norm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8" name="Rounded Rectangle 7"/>
          <p:cNvSpPr/>
          <p:nvPr/>
        </p:nvSpPr>
        <p:spPr>
          <a:xfrm>
            <a:off x="640080" y="5669280"/>
            <a:ext cx="5943600" cy="457200"/>
          </a:xfrm>
          <a:prstGeom prst="roundRect">
            <a:avLst/>
          </a:prstGeom>
          <a:solidFill>
            <a:srgbClr val="2A2250"/>
          </a:solidFill>
          <a:ln w="12700">
            <a:solidFill>
              <a:srgbClr val="F4B6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751576"/>
            <a:ext cx="5943600" cy="320040"/>
          </a:xfrm>
          <a:prstGeom prst="rect">
            <a:avLst/>
          </a:prstGeom>
          <a:noFill/>
        </p:spPr>
        <p:txBody>
          <a:bodyPr wrap="square" anchor="t">
            <a:normAutofit/>
          </a:bodyPr>
          <a:lstStyle/>
          <a:p>
            <a:pPr algn="ctr"/>
            <a:r>
              <a:rPr sz="1200" b="1" i="0">
                <a:solidFill>
                  <a:srgbClr val="F4B634"/>
                </a:solidFill>
                <a:latin typeface="Arial"/>
              </a:rPr>
              <a:t>CORUM DECIDES  ·  C&amp;W DELIVERS  ·  PwC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7</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69164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norm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normAutofit/>
          </a:bodyPr>
          <a:lstStyle/>
          <a:p>
            <a:pPr algn="l">
              <a:spcAft>
                <a:spcPts val="800"/>
              </a:spcAft>
            </a:pPr>
            <a:r>
              <a:rPr sz="1100" b="0" i="0">
                <a:solidFill>
                  <a:srgbClr val="1F1942"/>
                </a:solidFill>
                <a:latin typeface="Arial"/>
              </a:rPr>
              <a:t>•  One familiar point of contact for PwC</a:t>
            </a:r>
          </a:p>
          <a:p>
            <a:pPr algn="l">
              <a:spcAft>
                <a:spcPts val="800"/>
              </a:spcAft>
            </a:pPr>
            <a:r>
              <a:rPr sz="1100" b="0" i="0">
                <a:solidFill>
                  <a:srgbClr val="1F1942"/>
                </a:solidFill>
                <a:latin typeface="Arial"/>
              </a:rPr>
              <a:t>•  PwC actively involved in decisions that affect them</a:t>
            </a:r>
          </a:p>
          <a:p>
            <a:pPr algn="l">
              <a:spcAft>
                <a:spcPts val="800"/>
              </a:spcAft>
            </a:pPr>
            <a:r>
              <a:rPr sz="1100" b="0" i="0">
                <a:solidFill>
                  <a:srgbClr val="1F1942"/>
                </a:solidFill>
                <a:latin typeface="Arial"/>
              </a:rPr>
              <a:t>•  Continuous insight into progress &amp; planning</a:t>
            </a:r>
          </a:p>
          <a:p>
            <a:pPr algn="l">
              <a:spcAft>
                <a:spcPts val="800"/>
              </a:spcAft>
            </a:pPr>
            <a:r>
              <a:rPr sz="1100" b="0" i="0">
                <a:solidFill>
                  <a:srgbClr val="1F1942"/>
                </a:solidFill>
                <a:latin typeface="Arial"/>
              </a:rPr>
              <a:t>•  Timely notice of anything impacting operations</a:t>
            </a:r>
          </a:p>
          <a:p>
            <a:pPr algn="l">
              <a:spcAft>
                <a:spcPts val="800"/>
              </a:spcAft>
            </a:pPr>
            <a:r>
              <a:rPr sz="1100" b="0" i="0">
                <a:solidFill>
                  <a:srgbClr val="1F1942"/>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norm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normAutofit/>
          </a:bodyPr>
          <a:lstStyle/>
          <a:p>
            <a:pPr algn="l">
              <a:spcAft>
                <a:spcPts val="800"/>
              </a:spcAft>
            </a:pPr>
            <a:r>
              <a:rPr sz="1100" b="0" i="0">
                <a:solidFill>
                  <a:srgbClr val="1F1942"/>
                </a:solidFill>
                <a:latin typeface="Arial"/>
              </a:rPr>
              <a:t>•  Translate M3E's design into deliverable scope</a:t>
            </a:r>
          </a:p>
          <a:p>
            <a:pPr algn="l">
              <a:spcAft>
                <a:spcPts val="800"/>
              </a:spcAft>
            </a:pPr>
            <a:r>
              <a:rPr sz="1100" b="0" i="0">
                <a:solidFill>
                  <a:srgbClr val="1F1942"/>
                </a:solidFill>
                <a:latin typeface="Arial"/>
              </a:rPr>
              <a:t>•  Run the tender &amp; select the contractor</a:t>
            </a:r>
          </a:p>
          <a:p>
            <a:pPr algn="l">
              <a:spcAft>
                <a:spcPts val="800"/>
              </a:spcAft>
            </a:pPr>
            <a:r>
              <a:rPr sz="1100" b="0" i="0">
                <a:solidFill>
                  <a:srgbClr val="1F1942"/>
                </a:solidFill>
                <a:latin typeface="Arial"/>
              </a:rPr>
              <a:t>•  Direct and supervise the site</a:t>
            </a:r>
          </a:p>
          <a:p>
            <a:pPr algn="l">
              <a:spcAft>
                <a:spcPts val="800"/>
              </a:spcAft>
            </a:pPr>
            <a:r>
              <a:rPr sz="1100" b="0" i="0">
                <a:solidFill>
                  <a:srgbClr val="1F1942"/>
                </a:solidFill>
                <a:latin typeface="Arial"/>
              </a:rPr>
              <a:t>•  Drive the programme to Paris Proof</a:t>
            </a:r>
          </a:p>
          <a:p>
            <a:pPr algn="l">
              <a:spcAft>
                <a:spcPts val="800"/>
              </a:spcAft>
            </a:pPr>
            <a:r>
              <a:rPr sz="1100" b="0" i="0">
                <a:solidFill>
                  <a:srgbClr val="1F1942"/>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norm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normAutofit/>
          </a:bodyPr>
          <a:lstStyle/>
          <a:p>
            <a:pPr algn="l">
              <a:spcAft>
                <a:spcPts val="800"/>
              </a:spcAft>
            </a:pPr>
            <a:r>
              <a:rPr sz="1100" b="0" i="0">
                <a:solidFill>
                  <a:srgbClr val="1F1942"/>
                </a:solidFill>
                <a:latin typeface="Arial"/>
              </a:rPr>
              <a:t>•  One contact, one monthly report</a:t>
            </a:r>
          </a:p>
          <a:p>
            <a:pPr algn="l">
              <a:spcAft>
                <a:spcPts val="800"/>
              </a:spcAft>
            </a:pPr>
            <a:r>
              <a:rPr sz="1100" b="0" i="0">
                <a:solidFill>
                  <a:srgbClr val="1F1942"/>
                </a:solidFill>
                <a:latin typeface="Arial"/>
              </a:rPr>
              <a:t>•  Every key decision prepared in advance</a:t>
            </a:r>
          </a:p>
          <a:p>
            <a:pPr algn="l">
              <a:spcAft>
                <a:spcPts val="800"/>
              </a:spcAft>
            </a:pPr>
            <a:r>
              <a:rPr sz="1100" b="0" i="0">
                <a:solidFill>
                  <a:srgbClr val="1F1942"/>
                </a:solidFill>
                <a:latin typeface="Arial"/>
              </a:rPr>
              <a:t>•  Full transparency on cost &amp; progress</a:t>
            </a:r>
          </a:p>
          <a:p>
            <a:pPr algn="l">
              <a:spcAft>
                <a:spcPts val="800"/>
              </a:spcAft>
            </a:pPr>
            <a:r>
              <a:rPr sz="1100" b="0" i="0">
                <a:solidFill>
                  <a:srgbClr val="1F1942"/>
                </a:solidFill>
                <a:latin typeface="Arial"/>
              </a:rPr>
              <a:t>•  Clear escalation lines to Corum</a:t>
            </a:r>
          </a:p>
          <a:p>
            <a:pPr algn="l">
              <a:spcAft>
                <a:spcPts val="800"/>
              </a:spcAft>
            </a:pPr>
            <a:r>
              <a:rPr sz="1100" b="0" i="0">
                <a:solidFill>
                  <a:srgbClr val="1F1942"/>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normAutofit/>
          </a:bodyPr>
          <a:lstStyle/>
          <a:p>
            <a:pPr algn="l"/>
            <a:r>
              <a:rPr sz="1100" b="1" i="1">
                <a:solidFill>
                  <a:srgbClr val="1F1942"/>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Four parties, one hub: we connect Corum, PwC,</a:t>
            </a:r>
          </a:p>
          <a:p>
            <a:pPr algn="l"/>
            <a:r>
              <a:rPr sz="2300" b="1" i="0">
                <a:solidFill>
                  <a:srgbClr val="1F1942"/>
                </a:solidFill>
                <a:latin typeface="Arial"/>
              </a:rPr>
              <a:t>M3E and the contractor</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8</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4206240" cy="402336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normAutofit/>
          </a:bodyPr>
          <a:lstStyle/>
          <a:p>
            <a:pPr algn="l"/>
            <a:r>
              <a:rPr sz="1200" b="1" i="0">
                <a:solidFill>
                  <a:srgbClr val="2A2250"/>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normAutofit/>
          </a:bodyPr>
          <a:lstStyle/>
          <a:p>
            <a:pPr algn="l"/>
            <a:r>
              <a:rPr sz="1100" b="1" i="0">
                <a:solidFill>
                  <a:srgbClr val="1F1942"/>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normAutofit/>
          </a:bodyPr>
          <a:lstStyle/>
          <a:p>
            <a:pPr algn="l"/>
            <a:r>
              <a:rPr sz="950" b="0" i="0">
                <a:solidFill>
                  <a:srgbClr val="1F1942"/>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normAutofit/>
          </a:bodyPr>
          <a:lstStyle/>
          <a:p>
            <a:pPr algn="l"/>
            <a:r>
              <a:rPr sz="1100" b="1" i="0">
                <a:solidFill>
                  <a:srgbClr val="1F1942"/>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normAutofit/>
          </a:bodyPr>
          <a:lstStyle/>
          <a:p>
            <a:pPr algn="l"/>
            <a:r>
              <a:rPr sz="950" b="0" i="0">
                <a:solidFill>
                  <a:srgbClr val="1F1942"/>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normAutofit/>
          </a:bodyPr>
          <a:lstStyle/>
          <a:p>
            <a:pPr algn="l"/>
            <a:r>
              <a:rPr sz="1100" b="1" i="0">
                <a:solidFill>
                  <a:srgbClr val="1F1942"/>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normAutofit/>
          </a:bodyPr>
          <a:lstStyle/>
          <a:p>
            <a:pPr algn="l"/>
            <a:r>
              <a:rPr sz="950" b="0" i="0">
                <a:solidFill>
                  <a:srgbClr val="1F1942"/>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normAutofit/>
          </a:bodyPr>
          <a:lstStyle/>
          <a:p>
            <a:pPr algn="l"/>
            <a:r>
              <a:rPr sz="1100" b="1" i="0">
                <a:solidFill>
                  <a:srgbClr val="1F1942"/>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normAutofit/>
          </a:bodyPr>
          <a:lstStyle/>
          <a:p>
            <a:pPr algn="l"/>
            <a:r>
              <a:rPr sz="950" b="0" i="0">
                <a:solidFill>
                  <a:srgbClr val="1F1942"/>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normAutofit/>
          </a:bodyPr>
          <a:lstStyle/>
          <a:p>
            <a:pPr algn="ctr"/>
            <a:r>
              <a:rPr sz="1200" b="1" i="0">
                <a:solidFill>
                  <a:srgbClr val="2A2250"/>
                </a:solidFill>
                <a:latin typeface="Arial"/>
              </a:rPr>
              <a:t>C&amp;W AS THE HUB</a:t>
            </a:r>
          </a:p>
        </p:txBody>
      </p:sp>
      <p:sp>
        <p:nvSpPr>
          <p:cNvPr id="21" name="Rectangle 20"/>
          <p:cNvSpPr/>
          <p:nvPr/>
        </p:nvSpPr>
        <p:spPr>
          <a:xfrm>
            <a:off x="7635240" y="242316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normAutofit/>
          </a:bodyPr>
          <a:lstStyle/>
          <a:p>
            <a:pPr algn="ctr"/>
            <a:r>
              <a:rPr sz="1000" b="1" i="0">
                <a:solidFill>
                  <a:srgbClr val="1F1942"/>
                </a:solidFill>
                <a:latin typeface="Arial"/>
              </a:rPr>
              <a:t>CORUM</a:t>
            </a:r>
          </a:p>
        </p:txBody>
      </p:sp>
      <p:sp>
        <p:nvSpPr>
          <p:cNvPr id="23" name="Rectangle 22"/>
          <p:cNvSpPr/>
          <p:nvPr/>
        </p:nvSpPr>
        <p:spPr>
          <a:xfrm>
            <a:off x="5486400" y="356616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normAutofit/>
          </a:bodyPr>
          <a:lstStyle/>
          <a:p>
            <a:pPr algn="ctr"/>
            <a:r>
              <a:rPr sz="1000" b="1" i="0">
                <a:solidFill>
                  <a:srgbClr val="1F1942"/>
                </a:solidFill>
                <a:latin typeface="Arial"/>
              </a:rPr>
              <a:t>PwC</a:t>
            </a:r>
          </a:p>
        </p:txBody>
      </p:sp>
      <p:sp>
        <p:nvSpPr>
          <p:cNvPr id="25" name="Rectangle 24"/>
          <p:cNvSpPr/>
          <p:nvPr/>
        </p:nvSpPr>
        <p:spPr>
          <a:xfrm>
            <a:off x="7635240" y="489204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normAutofit/>
          </a:bodyPr>
          <a:lstStyle/>
          <a:p>
            <a:pPr algn="ctr"/>
            <a:r>
              <a:rPr sz="1000" b="1" i="0">
                <a:solidFill>
                  <a:srgbClr val="1F1942"/>
                </a:solidFill>
                <a:latin typeface="Arial"/>
              </a:rPr>
              <a:t>M3E</a:t>
            </a:r>
          </a:p>
        </p:txBody>
      </p:sp>
      <p:sp>
        <p:nvSpPr>
          <p:cNvPr id="27" name="Rectangle 26"/>
          <p:cNvSpPr/>
          <p:nvPr/>
        </p:nvSpPr>
        <p:spPr>
          <a:xfrm>
            <a:off x="9784080" y="3566160"/>
            <a:ext cx="1600200" cy="8686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normAutofit/>
          </a:bodyPr>
          <a:lstStyle/>
          <a:p>
            <a:pPr algn="ctr"/>
            <a:r>
              <a:rPr sz="1000" b="1" i="0">
                <a:solidFill>
                  <a:srgbClr val="1F1942"/>
                </a:solidFill>
                <a:latin typeface="Arial"/>
              </a:rPr>
              <a:t>CONTRACTOR</a:t>
            </a:r>
          </a:p>
        </p:txBody>
      </p:sp>
      <p:sp>
        <p:nvSpPr>
          <p:cNvPr id="29" name="Rectangle 28"/>
          <p:cNvSpPr/>
          <p:nvPr/>
        </p:nvSpPr>
        <p:spPr>
          <a:xfrm>
            <a:off x="7635240" y="3520440"/>
            <a:ext cx="1600200" cy="8686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norm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Two technical routes to Paris Proof — we make the choice</a:t>
            </a:r>
          </a:p>
          <a:p>
            <a:pPr algn="l"/>
            <a:r>
              <a:rPr sz="2300" b="1" i="0">
                <a:solidFill>
                  <a:srgbClr val="1F1942"/>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9</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00200"/>
            <a:ext cx="11155680" cy="320040"/>
          </a:xfrm>
          <a:prstGeom prst="rect">
            <a:avLst/>
          </a:prstGeom>
          <a:noFill/>
        </p:spPr>
        <p:txBody>
          <a:bodyPr wrap="square" anchor="t">
            <a:normAutofit/>
          </a:bodyPr>
          <a:lstStyle/>
          <a:p>
            <a:pPr algn="l"/>
            <a:r>
              <a:rPr sz="1050" b="0" i="1">
                <a:solidFill>
                  <a:srgbClr val="6B6467"/>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norm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normAutofit/>
          </a:bodyPr>
          <a:lstStyle/>
          <a:p>
            <a:pPr algn="l">
              <a:spcAft>
                <a:spcPts val="300"/>
              </a:spcAft>
            </a:pPr>
            <a:r>
              <a:rPr sz="1050" b="0" i="0">
                <a:solidFill>
                  <a:srgbClr val="1F1942"/>
                </a:solidFill>
                <a:latin typeface="Arial"/>
              </a:rPr>
              <a:t>•  Full replacement of the gas installation</a:t>
            </a:r>
          </a:p>
          <a:p>
            <a:pPr algn="l">
              <a:spcAft>
                <a:spcPts val="300"/>
              </a:spcAft>
            </a:pPr>
            <a:r>
              <a:rPr sz="1050" b="0" i="0">
                <a:solidFill>
                  <a:srgbClr val="1F1942"/>
                </a:solidFill>
                <a:latin typeface="Arial"/>
              </a:rPr>
              <a:t>•  Low-temperature thermal storage (WKO): warm &amp; cold source</a:t>
            </a:r>
          </a:p>
          <a:p>
            <a:pPr algn="l">
              <a:spcAft>
                <a:spcPts val="300"/>
              </a:spcAft>
            </a:pPr>
            <a:r>
              <a:rPr sz="1050" b="0" i="0">
                <a:solidFill>
                  <a:srgbClr val="1F1942"/>
                </a:solidFill>
                <a:latin typeface="Arial"/>
              </a:rPr>
              <a:t>•  Energy plant in the basement (heat pumps, buffers)</a:t>
            </a:r>
          </a:p>
          <a:p>
            <a:pPr algn="l">
              <a:spcAft>
                <a:spcPts val="300"/>
              </a:spcAft>
            </a:pPr>
            <a:r>
              <a:rPr sz="1050" b="0" i="0">
                <a:solidFill>
                  <a:srgbClr val="1F1942"/>
                </a:solidFill>
                <a:latin typeface="Arial"/>
              </a:rPr>
              <a:t>•  Climate ceilings + new VAV (no induction) per floor</a:t>
            </a:r>
          </a:p>
          <a:p>
            <a:pPr algn="l">
              <a:spcAft>
                <a:spcPts val="300"/>
              </a:spcAft>
            </a:pPr>
            <a:r>
              <a:rPr sz="1050" b="0" i="0">
                <a:solidFill>
                  <a:srgbClr val="1F1942"/>
                </a:solidFill>
                <a:latin typeface="Arial"/>
              </a:rPr>
              <a:t>•  New integral controls; energy metering per floor</a:t>
            </a:r>
          </a:p>
          <a:p>
            <a:pPr algn="l">
              <a:spcAft>
                <a:spcPts val="300"/>
              </a:spcAft>
            </a:pPr>
            <a:r>
              <a:rPr sz="1050" b="0" i="0">
                <a:solidFill>
                  <a:srgbClr val="1F1942"/>
                </a:solidFill>
                <a:latin typeface="Arial"/>
              </a:rPr>
              <a:t>•  Phased floor-by-floor — building stays in use</a:t>
            </a:r>
          </a:p>
          <a:p>
            <a:pPr algn="l">
              <a:spcAft>
                <a:spcPts val="300"/>
              </a:spcAft>
            </a:pPr>
            <a:r>
              <a:rPr sz="1050" b="0" i="0">
                <a:solidFill>
                  <a:srgbClr val="1F1942"/>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norm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normAutofit/>
          </a:bodyPr>
          <a:lstStyle/>
          <a:p>
            <a:pPr algn="l">
              <a:spcAft>
                <a:spcPts val="300"/>
              </a:spcAft>
            </a:pPr>
            <a:r>
              <a:rPr sz="1050" b="0" i="0">
                <a:solidFill>
                  <a:srgbClr val="1F1942"/>
                </a:solidFill>
                <a:latin typeface="Arial"/>
              </a:rPr>
              <a:t>•  Air-water heat pump for base heating (roof)</a:t>
            </a:r>
          </a:p>
          <a:p>
            <a:pPr algn="l">
              <a:spcAft>
                <a:spcPts val="300"/>
              </a:spcAft>
            </a:pPr>
            <a:r>
              <a:rPr sz="1050" b="0" i="0">
                <a:solidFill>
                  <a:srgbClr val="1F1942"/>
                </a:solidFill>
                <a:latin typeface="Arial"/>
              </a:rPr>
              <a:t>•  Existing VAV induction units retained</a:t>
            </a:r>
          </a:p>
          <a:p>
            <a:pPr algn="l">
              <a:spcAft>
                <a:spcPts val="300"/>
              </a:spcAft>
            </a:pPr>
            <a:r>
              <a:rPr sz="1050" b="0" i="0">
                <a:solidFill>
                  <a:srgbClr val="1F1942"/>
                </a:solidFill>
                <a:latin typeface="Arial"/>
              </a:rPr>
              <a:t>•  VRF system with convectors for zone control per floor</a:t>
            </a:r>
          </a:p>
          <a:p>
            <a:pPr algn="l">
              <a:spcAft>
                <a:spcPts val="300"/>
              </a:spcAft>
            </a:pPr>
            <a:r>
              <a:rPr sz="1050" b="0" i="0">
                <a:solidFill>
                  <a:srgbClr val="1F1942"/>
                </a:solidFill>
                <a:latin typeface="Arial"/>
              </a:rPr>
              <a:t>•  New DX block replaces outdated cooling</a:t>
            </a:r>
          </a:p>
          <a:p>
            <a:pPr algn="l">
              <a:spcAft>
                <a:spcPts val="300"/>
              </a:spcAft>
            </a:pPr>
            <a:r>
              <a:rPr sz="1050" b="0" i="0">
                <a:solidFill>
                  <a:srgbClr val="1F1942"/>
                </a:solidFill>
                <a:latin typeface="Arial"/>
              </a:rPr>
              <a:t>•  Fewer interventions on the office floors</a:t>
            </a:r>
          </a:p>
          <a:p>
            <a:pPr algn="l">
              <a:spcAft>
                <a:spcPts val="300"/>
              </a:spcAft>
            </a:pPr>
            <a:r>
              <a:rPr sz="1050" b="0" i="0">
                <a:solidFill>
                  <a:srgbClr val="1F1942"/>
                </a:solidFill>
                <a:latin typeface="Arial"/>
              </a:rPr>
              <a:t>•  Hybrid system — careful controls integration needed</a:t>
            </a:r>
          </a:p>
          <a:p>
            <a:pPr algn="l">
              <a:spcAft>
                <a:spcPts val="300"/>
              </a:spcAft>
            </a:pPr>
            <a:r>
              <a:rPr sz="1050" b="0" i="0">
                <a:solidFill>
                  <a:srgbClr val="1F1942"/>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normAutofit/>
          </a:bodyPr>
          <a:lstStyle/>
          <a:p>
            <a:pPr algn="l"/>
            <a:r>
              <a:rPr sz="1100" b="1" i="0">
                <a:solidFill>
                  <a:srgbClr val="1F1942"/>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deliver the works with PwC fully aware and aligned —</a:t>
            </a:r>
          </a:p>
          <a:p>
            <a:pPr algn="l"/>
            <a:r>
              <a:rPr sz="2300" b="1" i="0">
                <a:solidFill>
                  <a:srgbClr val="1F1942"/>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10</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normAutofit/>
          </a:bodyPr>
          <a:lstStyle/>
          <a:p>
            <a:pPr algn="l"/>
            <a:r>
              <a:rPr sz="1150" b="0" i="0">
                <a:solidFill>
                  <a:srgbClr val="1F1942"/>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normAutofit/>
          </a:bodyPr>
          <a:lstStyle/>
          <a:p>
            <a:pPr algn="l"/>
            <a:r>
              <a:rPr sz="1200" b="1" i="0">
                <a:solidFill>
                  <a:srgbClr val="2A2250"/>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normAutofit/>
          </a:bodyPr>
          <a:lstStyle/>
          <a:p>
            <a:pPr algn="l"/>
            <a:r>
              <a:rPr sz="1050" b="0" i="0">
                <a:solidFill>
                  <a:srgbClr val="1F1942"/>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normAutofit/>
          </a:bodyPr>
          <a:lstStyle/>
          <a:p>
            <a:pPr algn="l"/>
            <a:r>
              <a:rPr sz="1200" b="1" i="0">
                <a:solidFill>
                  <a:srgbClr val="2A2250"/>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normAutofit/>
          </a:bodyPr>
          <a:lstStyle/>
          <a:p>
            <a:pPr algn="l"/>
            <a:r>
              <a:rPr sz="1050" b="0" i="0">
                <a:solidFill>
                  <a:srgbClr val="1F1942"/>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normAutofit/>
          </a:bodyPr>
          <a:lstStyle/>
          <a:p>
            <a:pPr algn="l"/>
            <a:r>
              <a:rPr sz="1200" b="1" i="0">
                <a:solidFill>
                  <a:srgbClr val="2A2250"/>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normAutofit/>
          </a:bodyPr>
          <a:lstStyle/>
          <a:p>
            <a:pPr algn="l"/>
            <a:r>
              <a:rPr sz="1050" b="0" i="0">
                <a:solidFill>
                  <a:srgbClr val="1F1942"/>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normAutofit/>
          </a:bodyPr>
          <a:lstStyle/>
          <a:p>
            <a:pPr algn="l"/>
            <a:r>
              <a:rPr sz="1200" b="1" i="0">
                <a:solidFill>
                  <a:srgbClr val="2A2250"/>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normAutofit/>
          </a:bodyPr>
          <a:lstStyle/>
          <a:p>
            <a:pPr algn="l"/>
            <a:r>
              <a:rPr sz="1050" b="0" i="0">
                <a:solidFill>
                  <a:srgbClr val="1F1942"/>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organize the works — from M3E's design</a:t>
            </a:r>
          </a:p>
          <a:p>
            <a:pPr algn="l"/>
            <a:r>
              <a:rPr sz="2300" b="1" i="0">
                <a:solidFill>
                  <a:srgbClr val="1F1942"/>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11</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normAutofit/>
          </a:bodyPr>
          <a:lstStyle/>
          <a:p>
            <a:pPr algn="l"/>
            <a:r>
              <a:rPr sz="1150" b="0" i="0">
                <a:solidFill>
                  <a:srgbClr val="1F1942"/>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norm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normAutofit/>
          </a:bodyPr>
          <a:lstStyle/>
          <a:p>
            <a:pPr algn="l"/>
            <a:r>
              <a:rPr sz="1050" b="0" i="0">
                <a:solidFill>
                  <a:srgbClr val="1F1942"/>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norm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normAutofit/>
          </a:bodyPr>
          <a:lstStyle/>
          <a:p>
            <a:pPr algn="l"/>
            <a:r>
              <a:rPr sz="1050" b="0" i="0">
                <a:solidFill>
                  <a:srgbClr val="1F1942"/>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norm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normAutofit/>
          </a:bodyPr>
          <a:lstStyle/>
          <a:p>
            <a:pPr algn="l"/>
            <a:r>
              <a:rPr sz="1050" b="0" i="0">
                <a:solidFill>
                  <a:srgbClr val="1F1942"/>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norm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normAutofit/>
          </a:bodyPr>
          <a:lstStyle/>
          <a:p>
            <a:pPr algn="l"/>
            <a:r>
              <a:rPr sz="1050" b="0" i="0">
                <a:solidFill>
                  <a:srgbClr val="1F1942"/>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norm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normAutofit/>
          </a:bodyPr>
          <a:lstStyle/>
          <a:p>
            <a:pPr algn="l"/>
            <a:r>
              <a:rPr sz="1050" b="0" i="0">
                <a:solidFill>
                  <a:srgbClr val="1F1942"/>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normAutofit/>
          </a:bodyPr>
          <a:lstStyle/>
          <a:p>
            <a:pPr algn="l"/>
            <a:r>
              <a:rPr sz="1100" b="1" i="1">
                <a:solidFill>
                  <a:srgbClr val="1F1942"/>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12</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69164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normAutofit/>
          </a:bodyPr>
          <a:lstStyle/>
          <a:p>
            <a:pPr algn="l"/>
            <a:r>
              <a:rPr sz="1300" b="1" i="0">
                <a:solidFill>
                  <a:srgbClr val="2A2250"/>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normAutofit/>
          </a:bodyPr>
          <a:lstStyle/>
          <a:p>
            <a:pPr algn="l"/>
            <a:r>
              <a:rPr sz="1050" b="0" i="0">
                <a:solidFill>
                  <a:srgbClr val="1F1942"/>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normAutofit/>
          </a:bodyPr>
          <a:lstStyle/>
          <a:p>
            <a:pPr algn="l"/>
            <a:r>
              <a:rPr sz="1300" b="1" i="0">
                <a:solidFill>
                  <a:srgbClr val="2A2250"/>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normAutofit/>
          </a:bodyPr>
          <a:lstStyle/>
          <a:p>
            <a:pPr algn="l"/>
            <a:r>
              <a:rPr sz="1050" b="0" i="0">
                <a:solidFill>
                  <a:srgbClr val="1F1942"/>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normAutofit/>
          </a:bodyPr>
          <a:lstStyle/>
          <a:p>
            <a:pPr algn="l"/>
            <a:r>
              <a:rPr sz="1300" b="1" i="0">
                <a:solidFill>
                  <a:srgbClr val="2A2250"/>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normAutofit/>
          </a:bodyPr>
          <a:lstStyle/>
          <a:p>
            <a:pPr algn="l"/>
            <a:r>
              <a:rPr sz="1050" b="0" i="0">
                <a:solidFill>
                  <a:srgbClr val="1F1942"/>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normAutofit/>
          </a:bodyPr>
          <a:lstStyle/>
          <a:p>
            <a:pPr algn="l"/>
            <a:r>
              <a:rPr sz="1300" b="1" i="0">
                <a:solidFill>
                  <a:srgbClr val="2A2250"/>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normAutofit/>
          </a:bodyPr>
          <a:lstStyle/>
          <a:p>
            <a:pPr algn="l"/>
            <a:r>
              <a:rPr sz="1050" b="0" i="0">
                <a:solidFill>
                  <a:srgbClr val="1F1942"/>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From today to Paris Proof: the story of the next few years,</a:t>
            </a:r>
          </a:p>
          <a:p>
            <a:pPr algn="l"/>
            <a:r>
              <a:rPr sz="2300" b="1" i="0">
                <a:solidFill>
                  <a:srgbClr val="1F1942"/>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13</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548640" y="3063240"/>
            <a:ext cx="11064240" cy="54864"/>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F4B634"/>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normAutofit/>
          </a:bodyPr>
          <a:lstStyle/>
          <a:p>
            <a:pPr algn="ctr"/>
            <a:r>
              <a:rPr sz="1100" b="1" i="0">
                <a:solidFill>
                  <a:srgbClr val="2A2250"/>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normAutofit/>
          </a:bodyPr>
          <a:lstStyle/>
          <a:p>
            <a:pPr algn="ctr"/>
            <a:r>
              <a:rPr sz="900" b="1" i="0">
                <a:solidFill>
                  <a:srgbClr val="6B6467"/>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normAutofit/>
          </a:bodyPr>
          <a:lstStyle/>
          <a:p>
            <a:pPr algn="ctr"/>
            <a:r>
              <a:rPr sz="900" b="0" i="0">
                <a:solidFill>
                  <a:srgbClr val="1F1942"/>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normAutofit/>
          </a:bodyPr>
          <a:lstStyle/>
          <a:p>
            <a:pPr algn="ctr"/>
            <a:r>
              <a:rPr sz="1100" b="1" i="0">
                <a:solidFill>
                  <a:srgbClr val="2A2250"/>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normAutofit/>
          </a:bodyPr>
          <a:lstStyle/>
          <a:p>
            <a:pPr algn="ctr"/>
            <a:r>
              <a:rPr sz="900" b="1" i="0">
                <a:solidFill>
                  <a:srgbClr val="6B6467"/>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normAutofit/>
          </a:bodyPr>
          <a:lstStyle/>
          <a:p>
            <a:pPr algn="ctr"/>
            <a:r>
              <a:rPr sz="900" b="0" i="0">
                <a:solidFill>
                  <a:srgbClr val="1F1942"/>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normAutofit/>
          </a:bodyPr>
          <a:lstStyle/>
          <a:p>
            <a:pPr algn="ctr"/>
            <a:r>
              <a:rPr sz="1100" b="1" i="0">
                <a:solidFill>
                  <a:srgbClr val="2A2250"/>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normAutofit/>
          </a:bodyPr>
          <a:lstStyle/>
          <a:p>
            <a:pPr algn="ctr"/>
            <a:r>
              <a:rPr sz="900" b="1" i="0">
                <a:solidFill>
                  <a:srgbClr val="6B6467"/>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normAutofit/>
          </a:bodyPr>
          <a:lstStyle/>
          <a:p>
            <a:pPr algn="ctr"/>
            <a:r>
              <a:rPr sz="900" b="0" i="0">
                <a:solidFill>
                  <a:srgbClr val="1F1942"/>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normAutofit/>
          </a:bodyPr>
          <a:lstStyle/>
          <a:p>
            <a:pPr algn="ctr"/>
            <a:r>
              <a:rPr sz="1100" b="1" i="0">
                <a:solidFill>
                  <a:srgbClr val="2A2250"/>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normAutofit/>
          </a:bodyPr>
          <a:lstStyle/>
          <a:p>
            <a:pPr algn="ctr"/>
            <a:r>
              <a:rPr sz="900" b="1" i="0">
                <a:solidFill>
                  <a:srgbClr val="6B6467"/>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normAutofit/>
          </a:bodyPr>
          <a:lstStyle/>
          <a:p>
            <a:pPr algn="ctr"/>
            <a:r>
              <a:rPr sz="900" b="0" i="0">
                <a:solidFill>
                  <a:srgbClr val="1F1942"/>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F1942"/>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normAutofit/>
          </a:bodyPr>
          <a:lstStyle/>
          <a:p>
            <a:pPr algn="ctr"/>
            <a:r>
              <a:rPr sz="1100" b="1" i="0">
                <a:solidFill>
                  <a:srgbClr val="2A2250"/>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normAutofit/>
          </a:bodyPr>
          <a:lstStyle/>
          <a:p>
            <a:pPr algn="ctr"/>
            <a:r>
              <a:rPr sz="900" b="1" i="0">
                <a:solidFill>
                  <a:srgbClr val="6B6467"/>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normAutofit/>
          </a:bodyPr>
          <a:lstStyle/>
          <a:p>
            <a:pPr algn="ctr"/>
            <a:r>
              <a:rPr sz="900" b="0" i="0">
                <a:solidFill>
                  <a:srgbClr val="1F1942"/>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F4B634"/>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normAutofit/>
          </a:bodyPr>
          <a:lstStyle/>
          <a:p>
            <a:pPr algn="ctr"/>
            <a:r>
              <a:rPr sz="1100" b="1" i="0">
                <a:solidFill>
                  <a:srgbClr val="2A2250"/>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normAutofit/>
          </a:bodyPr>
          <a:lstStyle/>
          <a:p>
            <a:pPr algn="ctr"/>
            <a:r>
              <a:rPr sz="900" b="1" i="0">
                <a:solidFill>
                  <a:srgbClr val="6B6467"/>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normAutofit/>
          </a:bodyPr>
          <a:lstStyle/>
          <a:p>
            <a:pPr algn="ctr"/>
            <a:r>
              <a:rPr sz="900" b="0" i="0">
                <a:solidFill>
                  <a:srgbClr val="1F1942"/>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normAutofit/>
          </a:bodyPr>
          <a:lstStyle/>
          <a:p>
            <a:pPr algn="l"/>
            <a:r>
              <a:rPr sz="800" b="0" i="1">
                <a:solidFill>
                  <a:srgbClr val="6B6467"/>
                </a:solidFill>
                <a:latin typeface="Arial"/>
              </a:rPr>
              <a:t>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You commit in steps: start small, scale with confidence</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14</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norm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norm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normAutofit/>
          </a:bodyPr>
          <a:lstStyle/>
          <a:p>
            <a:pPr algn="l"/>
            <a:r>
              <a:rPr sz="1000" b="0" i="0">
                <a:solidFill>
                  <a:srgbClr val="1F1942"/>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norm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norm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normAutofit/>
          </a:bodyPr>
          <a:lstStyle/>
          <a:p>
            <a:pPr algn="l"/>
            <a:r>
              <a:rPr sz="1000" b="0" i="0">
                <a:solidFill>
                  <a:srgbClr val="1F1942"/>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norm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norm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normAutofit/>
          </a:bodyPr>
          <a:lstStyle/>
          <a:p>
            <a:pPr algn="l"/>
            <a:r>
              <a:rPr sz="1000" b="0" i="0">
                <a:solidFill>
                  <a:srgbClr val="1F1942"/>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2A22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norm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norm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normAutofit/>
          </a:bodyPr>
          <a:lstStyle/>
          <a:p>
            <a:pPr algn="l"/>
            <a:r>
              <a:rPr sz="1000" b="0" i="0">
                <a:solidFill>
                  <a:srgbClr val="1F1942"/>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normAutofit/>
          </a:bodyPr>
          <a:lstStyle/>
          <a:p>
            <a:pPr algn="l"/>
            <a:r>
              <a:rPr sz="1150" b="1" i="0">
                <a:solidFill>
                  <a:srgbClr val="1F1942"/>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15</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3200400" y="1645920"/>
            <a:ext cx="1062990" cy="274320"/>
          </a:xfrm>
          <a:prstGeom prst="rect">
            <a:avLst/>
          </a:prstGeom>
          <a:noFill/>
        </p:spPr>
        <p:txBody>
          <a:bodyPr wrap="square" anchor="t">
            <a:normAutofit/>
          </a:bodyPr>
          <a:lstStyle/>
          <a:p>
            <a:pPr algn="ctr"/>
            <a:r>
              <a:rPr sz="850" b="0" i="0">
                <a:solidFill>
                  <a:srgbClr val="6B6467"/>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normAutofit/>
          </a:bodyPr>
          <a:lstStyle/>
          <a:p>
            <a:pPr algn="ctr"/>
            <a:r>
              <a:rPr sz="850" b="0" i="0">
                <a:solidFill>
                  <a:srgbClr val="6B6467"/>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normAutofit/>
          </a:bodyPr>
          <a:lstStyle/>
          <a:p>
            <a:pPr algn="ctr"/>
            <a:r>
              <a:rPr sz="850" b="0" i="0">
                <a:solidFill>
                  <a:srgbClr val="6B6467"/>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normAutofit/>
          </a:bodyPr>
          <a:lstStyle/>
          <a:p>
            <a:pPr algn="ctr"/>
            <a:r>
              <a:rPr sz="850" b="0" i="0">
                <a:solidFill>
                  <a:srgbClr val="6B6467"/>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normAutofit/>
          </a:bodyPr>
          <a:lstStyle/>
          <a:p>
            <a:pPr algn="ctr"/>
            <a:r>
              <a:rPr sz="850" b="0" i="0">
                <a:solidFill>
                  <a:srgbClr val="6B6467"/>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normAutofit/>
          </a:bodyPr>
          <a:lstStyle/>
          <a:p>
            <a:pPr algn="ctr"/>
            <a:r>
              <a:rPr sz="850" b="0" i="0">
                <a:solidFill>
                  <a:srgbClr val="6B6467"/>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normAutofit/>
          </a:bodyPr>
          <a:lstStyle/>
          <a:p>
            <a:pPr algn="ctr"/>
            <a:r>
              <a:rPr sz="850" b="0" i="0">
                <a:solidFill>
                  <a:srgbClr val="6B6467"/>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normAutofit/>
          </a:bodyPr>
          <a:lstStyle/>
          <a:p>
            <a:pPr algn="ctr"/>
            <a:r>
              <a:rPr sz="850" b="0" i="0">
                <a:solidFill>
                  <a:srgbClr val="6B6467"/>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normAutofit/>
          </a:bodyPr>
          <a:lstStyle/>
          <a:p>
            <a:pPr algn="l"/>
            <a:r>
              <a:rPr sz="900" b="0" i="0">
                <a:solidFill>
                  <a:srgbClr val="1F1942"/>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normAutofit/>
          </a:bodyPr>
          <a:lstStyle/>
          <a:p>
            <a:pPr algn="l"/>
            <a:r>
              <a:rPr sz="900" b="0" i="0">
                <a:solidFill>
                  <a:srgbClr val="1F1942"/>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normAutofit/>
          </a:bodyPr>
          <a:lstStyle/>
          <a:p>
            <a:pPr algn="l"/>
            <a:r>
              <a:rPr sz="900" b="0" i="0">
                <a:solidFill>
                  <a:srgbClr val="1F1942"/>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normAutofit/>
          </a:bodyPr>
          <a:lstStyle/>
          <a:p>
            <a:pPr algn="l"/>
            <a:r>
              <a:rPr sz="900" b="0" i="0">
                <a:solidFill>
                  <a:srgbClr val="1F1942"/>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normAutofit/>
          </a:bodyPr>
          <a:lstStyle/>
          <a:p>
            <a:pPr algn="l"/>
            <a:r>
              <a:rPr sz="900" b="0" i="0">
                <a:solidFill>
                  <a:srgbClr val="1F1942"/>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normAutofit/>
          </a:bodyPr>
          <a:lstStyle/>
          <a:p>
            <a:pPr algn="l"/>
            <a:r>
              <a:rPr sz="900" b="0" i="0">
                <a:solidFill>
                  <a:srgbClr val="1F1942"/>
                </a:solidFill>
                <a:latin typeface="Arial"/>
              </a:rPr>
              <a:t>Contracting</a:t>
            </a:r>
          </a:p>
        </p:txBody>
      </p:sp>
      <p:sp>
        <p:nvSpPr>
          <p:cNvPr id="28" name="Rounded Rectangle 27"/>
          <p:cNvSpPr/>
          <p:nvPr/>
        </p:nvSpPr>
        <p:spPr>
          <a:xfrm>
            <a:off x="7027164" y="4325112"/>
            <a:ext cx="425196"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normAutofit/>
          </a:bodyPr>
          <a:lstStyle/>
          <a:p>
            <a:pPr algn="l"/>
            <a:r>
              <a:rPr sz="900" b="0" i="0">
                <a:solidFill>
                  <a:srgbClr val="1F1942"/>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normAutofit/>
          </a:bodyPr>
          <a:lstStyle/>
          <a:p>
            <a:pPr algn="l"/>
            <a:r>
              <a:rPr sz="900" b="0" i="0">
                <a:solidFill>
                  <a:srgbClr val="1F1942"/>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normAutofit/>
          </a:bodyPr>
          <a:lstStyle/>
          <a:p>
            <a:pPr algn="l"/>
            <a:r>
              <a:rPr sz="900" b="0" i="0">
                <a:solidFill>
                  <a:srgbClr val="1F1942"/>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normAutofit/>
          </a:bodyPr>
          <a:lstStyle/>
          <a:p>
            <a:pPr algn="l"/>
            <a:r>
              <a:rPr sz="900" b="0" i="0">
                <a:solidFill>
                  <a:srgbClr val="1F1942"/>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normAutofit/>
          </a:bodyPr>
          <a:lstStyle/>
          <a:p>
            <a:pPr algn="l"/>
            <a:r>
              <a:rPr sz="800" b="0" i="1">
                <a:solidFill>
                  <a:srgbClr val="6B6467"/>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Two project managers cover both sides of this project:</a:t>
            </a:r>
          </a:p>
          <a:p>
            <a:pPr algn="l"/>
            <a:r>
              <a:rPr sz="2300" b="1" i="0">
                <a:solidFill>
                  <a:srgbClr val="1F1942"/>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16</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754880" y="1691640"/>
            <a:ext cx="2651760" cy="64008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normAutofit/>
          </a:bodyPr>
          <a:lstStyle/>
          <a:p>
            <a:pPr algn="ctr"/>
            <a:r>
              <a:rPr sz="1000" b="1" i="0">
                <a:solidFill>
                  <a:srgbClr val="1F1942"/>
                </a:solidFill>
                <a:latin typeface="Arial"/>
              </a:rPr>
              <a:t>CORUM A.M.</a:t>
            </a:r>
          </a:p>
          <a:p>
            <a:pPr algn="ctr"/>
            <a:r>
              <a:rPr sz="1000" b="1" i="0">
                <a:solidFill>
                  <a:srgbClr val="1F1942"/>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normAutofit/>
          </a:bodyPr>
          <a:lstStyle/>
          <a:p>
            <a:pPr algn="ctr"/>
            <a:r>
              <a:rPr sz="1000" b="1" i="0">
                <a:solidFill>
                  <a:srgbClr val="1F1942"/>
                </a:solidFill>
                <a:latin typeface="Arial"/>
              </a:rPr>
              <a:t>PwC</a:t>
            </a:r>
          </a:p>
          <a:p>
            <a:pPr algn="ctr"/>
            <a:r>
              <a:rPr sz="1000" b="1" i="0">
                <a:solidFill>
                  <a:srgbClr val="1F1942"/>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2A2250"/>
          </a:solidFill>
          <a:ln w="9525">
            <a:solidFill>
              <a:srgbClr val="2A2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norm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2A2250"/>
          </a:solidFill>
          <a:ln w="9525">
            <a:solidFill>
              <a:srgbClr val="2A22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norm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normAutofit/>
          </a:bodyPr>
          <a:lstStyle/>
          <a:p>
            <a:pPr algn="ctr"/>
            <a:r>
              <a:rPr sz="1000" b="1" i="0">
                <a:solidFill>
                  <a:srgbClr val="1F1942"/>
                </a:solidFill>
                <a:latin typeface="Arial"/>
              </a:rPr>
              <a:t>M3E</a:t>
            </a:r>
          </a:p>
          <a:p>
            <a:pPr algn="ctr"/>
            <a:r>
              <a:rPr sz="1000" b="1" i="0">
                <a:solidFill>
                  <a:srgbClr val="1F1942"/>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6B64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normAutofit/>
          </a:bodyPr>
          <a:lstStyle/>
          <a:p>
            <a:pPr algn="ctr"/>
            <a:r>
              <a:rPr sz="1000" b="1" i="0">
                <a:solidFill>
                  <a:srgbClr val="1F1942"/>
                </a:solidFill>
                <a:latin typeface="Arial"/>
              </a:rPr>
              <a:t>CONTRACTOR</a:t>
            </a:r>
          </a:p>
          <a:p>
            <a:pPr algn="ctr"/>
            <a:r>
              <a:rPr sz="1000" b="1" i="0">
                <a:solidFill>
                  <a:srgbClr val="1F1942"/>
                </a:solidFill>
                <a:latin typeface="Arial"/>
              </a:rPr>
              <a:t>Selected &amp; managed via tender</a:t>
            </a:r>
          </a:p>
        </p:txBody>
      </p:sp>
      <p:sp>
        <p:nvSpPr>
          <p:cNvPr id="21" name="Rectangle 20"/>
          <p:cNvSpPr/>
          <p:nvPr/>
        </p:nvSpPr>
        <p:spPr>
          <a:xfrm>
            <a:off x="411480" y="5532120"/>
            <a:ext cx="11338560" cy="82296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5650992"/>
            <a:ext cx="10972800" cy="640080"/>
          </a:xfrm>
          <a:prstGeom prst="rect">
            <a:avLst/>
          </a:prstGeom>
          <a:noFill/>
        </p:spPr>
        <p:txBody>
          <a:bodyPr wrap="square" anchor="t">
            <a:normAutofit/>
          </a:bodyPr>
          <a:lstStyle/>
          <a:p>
            <a:pPr algn="l"/>
            <a:r>
              <a:rPr sz="1150" b="1" i="0">
                <a:solidFill>
                  <a:srgbClr val="1F1942"/>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Clear decision rights: you decide the big calls, we run</a:t>
            </a:r>
          </a:p>
          <a:p>
            <a:pPr algn="l"/>
            <a:r>
              <a:rPr sz="2300" b="1" i="0">
                <a:solidFill>
                  <a:srgbClr val="1F1942"/>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17</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365760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norm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norm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norm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norm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norm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normAutofit/>
          </a:bodyPr>
          <a:lstStyle/>
          <a:p>
            <a:pPr algn="l"/>
            <a:r>
              <a:rPr sz="900" b="0" i="0">
                <a:solidFill>
                  <a:srgbClr val="1F1942"/>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normAutofit/>
          </a:bodyPr>
          <a:lstStyle/>
          <a:p>
            <a:pPr algn="l"/>
            <a:r>
              <a:rPr sz="900" b="1" i="0">
                <a:solidFill>
                  <a:srgbClr val="2A2250"/>
                </a:solidFill>
                <a:latin typeface="Arial"/>
              </a:rPr>
              <a:t>DECIDE</a:t>
            </a:r>
          </a:p>
        </p:txBody>
      </p:sp>
      <p:sp>
        <p:nvSpPr>
          <p:cNvPr id="23" name="Rectangle 22"/>
          <p:cNvSpPr/>
          <p:nvPr/>
        </p:nvSpPr>
        <p:spPr>
          <a:xfrm>
            <a:off x="6080760" y="2194560"/>
            <a:ext cx="26517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normAutofit/>
          </a:bodyPr>
          <a:lstStyle/>
          <a:p>
            <a:pPr algn="l"/>
            <a:r>
              <a:rPr sz="900" b="0" i="0">
                <a:solidFill>
                  <a:srgbClr val="1F1942"/>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normAutofit/>
          </a:bodyPr>
          <a:lstStyle/>
          <a:p>
            <a:pPr algn="l"/>
            <a:r>
              <a:rPr sz="900" b="0" i="0">
                <a:solidFill>
                  <a:srgbClr val="1F1942"/>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normAutofit/>
          </a:bodyPr>
          <a:lstStyle/>
          <a:p>
            <a:pPr algn="l"/>
            <a:r>
              <a:rPr sz="900" b="1" i="0">
                <a:solidFill>
                  <a:srgbClr val="1F1942"/>
                </a:solidFill>
                <a:latin typeface="Arial"/>
              </a:rPr>
              <a:t>CORUM</a:t>
            </a:r>
          </a:p>
        </p:txBody>
      </p:sp>
      <p:sp>
        <p:nvSpPr>
          <p:cNvPr id="29" name="Rectangle 28"/>
          <p:cNvSpPr/>
          <p:nvPr/>
        </p:nvSpPr>
        <p:spPr>
          <a:xfrm>
            <a:off x="411480" y="2743200"/>
            <a:ext cx="36576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normAutofit/>
          </a:bodyPr>
          <a:lstStyle/>
          <a:p>
            <a:pPr algn="l"/>
            <a:r>
              <a:rPr sz="900" b="0" i="0">
                <a:solidFill>
                  <a:srgbClr val="1F1942"/>
                </a:solidFill>
                <a:latin typeface="Arial"/>
              </a:rPr>
              <a:t>Scenario / design choice</a:t>
            </a:r>
          </a:p>
        </p:txBody>
      </p:sp>
      <p:sp>
        <p:nvSpPr>
          <p:cNvPr id="31" name="Rectangle 30"/>
          <p:cNvSpPr/>
          <p:nvPr/>
        </p:nvSpPr>
        <p:spPr>
          <a:xfrm>
            <a:off x="4069080" y="2743200"/>
            <a:ext cx="201168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normAutofit/>
          </a:bodyPr>
          <a:lstStyle/>
          <a:p>
            <a:pPr algn="l"/>
            <a:r>
              <a:rPr sz="900" b="1" i="0">
                <a:solidFill>
                  <a:srgbClr val="2A2250"/>
                </a:solidFill>
                <a:latin typeface="Arial"/>
              </a:rPr>
              <a:t>DECIDE</a:t>
            </a:r>
          </a:p>
        </p:txBody>
      </p:sp>
      <p:sp>
        <p:nvSpPr>
          <p:cNvPr id="33" name="Rectangle 32"/>
          <p:cNvSpPr/>
          <p:nvPr/>
        </p:nvSpPr>
        <p:spPr>
          <a:xfrm>
            <a:off x="6080760" y="2743200"/>
            <a:ext cx="26517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normAutofit/>
          </a:bodyPr>
          <a:lstStyle/>
          <a:p>
            <a:pPr algn="l"/>
            <a:r>
              <a:rPr sz="900" b="0" i="0">
                <a:solidFill>
                  <a:srgbClr val="1F1942"/>
                </a:solidFill>
                <a:latin typeface="Arial"/>
              </a:rPr>
              <a:t>recommend &amp; prepare</a:t>
            </a:r>
          </a:p>
        </p:txBody>
      </p:sp>
      <p:sp>
        <p:nvSpPr>
          <p:cNvPr id="35" name="Rectangle 34"/>
          <p:cNvSpPr/>
          <p:nvPr/>
        </p:nvSpPr>
        <p:spPr>
          <a:xfrm>
            <a:off x="8732520" y="2743200"/>
            <a:ext cx="18288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normAutofit/>
          </a:bodyPr>
          <a:lstStyle/>
          <a:p>
            <a:pPr algn="l"/>
            <a:r>
              <a:rPr sz="900" b="0" i="0">
                <a:solidFill>
                  <a:srgbClr val="1F1942"/>
                </a:solidFill>
                <a:latin typeface="Arial"/>
              </a:rPr>
              <a:t>input</a:t>
            </a:r>
          </a:p>
        </p:txBody>
      </p:sp>
      <p:sp>
        <p:nvSpPr>
          <p:cNvPr id="37" name="Rectangle 36"/>
          <p:cNvSpPr/>
          <p:nvPr/>
        </p:nvSpPr>
        <p:spPr>
          <a:xfrm>
            <a:off x="10561320" y="2743200"/>
            <a:ext cx="12801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normAutofit/>
          </a:bodyPr>
          <a:lstStyle/>
          <a:p>
            <a:pPr algn="l"/>
            <a:r>
              <a:rPr sz="900" b="1" i="0">
                <a:solidFill>
                  <a:srgbClr val="1F1942"/>
                </a:solidFill>
                <a:latin typeface="Arial"/>
              </a:rPr>
              <a:t>CORUM</a:t>
            </a:r>
          </a:p>
        </p:txBody>
      </p:sp>
      <p:sp>
        <p:nvSpPr>
          <p:cNvPr id="39" name="Rectangle 38"/>
          <p:cNvSpPr/>
          <p:nvPr/>
        </p:nvSpPr>
        <p:spPr>
          <a:xfrm>
            <a:off x="411480" y="3291840"/>
            <a:ext cx="36576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normAutofit/>
          </a:bodyPr>
          <a:lstStyle/>
          <a:p>
            <a:pPr algn="l"/>
            <a:r>
              <a:rPr sz="900" b="0" i="0">
                <a:solidFill>
                  <a:srgbClr val="1F1942"/>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normAutofit/>
          </a:bodyPr>
          <a:lstStyle/>
          <a:p>
            <a:pPr algn="l"/>
            <a:r>
              <a:rPr sz="900" b="0" i="0">
                <a:solidFill>
                  <a:srgbClr val="1F1942"/>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normAutofit/>
          </a:bodyPr>
          <a:lstStyle/>
          <a:p>
            <a:pPr algn="l"/>
            <a:r>
              <a:rPr sz="900" b="1" i="0">
                <a:solidFill>
                  <a:srgbClr val="2A2250"/>
                </a:solidFill>
                <a:latin typeface="Arial"/>
              </a:rPr>
              <a:t>MANAGE</a:t>
            </a:r>
          </a:p>
        </p:txBody>
      </p:sp>
      <p:sp>
        <p:nvSpPr>
          <p:cNvPr id="45" name="Rectangle 44"/>
          <p:cNvSpPr/>
          <p:nvPr/>
        </p:nvSpPr>
        <p:spPr>
          <a:xfrm>
            <a:off x="8732520" y="3291840"/>
            <a:ext cx="18288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normAutofit/>
          </a:bodyPr>
          <a:lstStyle/>
          <a:p>
            <a:pPr algn="l"/>
            <a:r>
              <a:rPr sz="900" b="0" i="0">
                <a:solidFill>
                  <a:srgbClr val="1F1942"/>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normAutofit/>
          </a:bodyPr>
          <a:lstStyle/>
          <a:p>
            <a:pPr algn="l"/>
            <a:r>
              <a:rPr sz="900" b="1" i="0">
                <a:solidFill>
                  <a:srgbClr val="1F1942"/>
                </a:solidFill>
                <a:latin typeface="Arial"/>
              </a:rPr>
              <a:t>C&amp;W</a:t>
            </a:r>
          </a:p>
        </p:txBody>
      </p:sp>
      <p:sp>
        <p:nvSpPr>
          <p:cNvPr id="49" name="Rectangle 48"/>
          <p:cNvSpPr/>
          <p:nvPr/>
        </p:nvSpPr>
        <p:spPr>
          <a:xfrm>
            <a:off x="411480" y="3840480"/>
            <a:ext cx="36576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normAutofit/>
          </a:bodyPr>
          <a:lstStyle/>
          <a:p>
            <a:pPr algn="l"/>
            <a:r>
              <a:rPr sz="900" b="0" i="0">
                <a:solidFill>
                  <a:srgbClr val="1F1942"/>
                </a:solidFill>
                <a:latin typeface="Arial"/>
              </a:rPr>
              <a:t>Contractor selection</a:t>
            </a:r>
          </a:p>
        </p:txBody>
      </p:sp>
      <p:sp>
        <p:nvSpPr>
          <p:cNvPr id="51" name="Rectangle 50"/>
          <p:cNvSpPr/>
          <p:nvPr/>
        </p:nvSpPr>
        <p:spPr>
          <a:xfrm>
            <a:off x="4069080" y="3840480"/>
            <a:ext cx="201168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normAutofit/>
          </a:bodyPr>
          <a:lstStyle/>
          <a:p>
            <a:pPr algn="l"/>
            <a:r>
              <a:rPr sz="900" b="0" i="0">
                <a:solidFill>
                  <a:srgbClr val="1F1942"/>
                </a:solidFill>
                <a:latin typeface="Arial"/>
              </a:rPr>
              <a:t>approve</a:t>
            </a:r>
          </a:p>
        </p:txBody>
      </p:sp>
      <p:sp>
        <p:nvSpPr>
          <p:cNvPr id="53" name="Rectangle 52"/>
          <p:cNvSpPr/>
          <p:nvPr/>
        </p:nvSpPr>
        <p:spPr>
          <a:xfrm>
            <a:off x="6080760" y="3840480"/>
            <a:ext cx="26517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normAutofit/>
          </a:bodyPr>
          <a:lstStyle/>
          <a:p>
            <a:pPr algn="l"/>
            <a:r>
              <a:rPr sz="900" b="0" i="0">
                <a:solidFill>
                  <a:srgbClr val="1F1942"/>
                </a:solidFill>
                <a:latin typeface="Arial"/>
              </a:rPr>
              <a:t>run &amp; recommend</a:t>
            </a:r>
          </a:p>
        </p:txBody>
      </p:sp>
      <p:sp>
        <p:nvSpPr>
          <p:cNvPr id="55" name="Rectangle 54"/>
          <p:cNvSpPr/>
          <p:nvPr/>
        </p:nvSpPr>
        <p:spPr>
          <a:xfrm>
            <a:off x="8732520" y="3840480"/>
            <a:ext cx="18288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normAutofit/>
          </a:bodyPr>
          <a:lstStyle/>
          <a:p>
            <a:pPr algn="l"/>
            <a:r>
              <a:rPr sz="900" b="0" i="0">
                <a:solidFill>
                  <a:srgbClr val="1F1942"/>
                </a:solidFill>
                <a:latin typeface="Arial"/>
              </a:rPr>
              <a:t>—</a:t>
            </a:r>
          </a:p>
        </p:txBody>
      </p:sp>
      <p:sp>
        <p:nvSpPr>
          <p:cNvPr id="57" name="Rectangle 56"/>
          <p:cNvSpPr/>
          <p:nvPr/>
        </p:nvSpPr>
        <p:spPr>
          <a:xfrm>
            <a:off x="10561320" y="3840480"/>
            <a:ext cx="12801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normAutofit/>
          </a:bodyPr>
          <a:lstStyle/>
          <a:p>
            <a:pPr algn="l"/>
            <a:r>
              <a:rPr sz="900" b="0" i="0">
                <a:solidFill>
                  <a:srgbClr val="1F1942"/>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normAutofit/>
          </a:bodyPr>
          <a:lstStyle/>
          <a:p>
            <a:pPr algn="l"/>
            <a:r>
              <a:rPr sz="900" b="0" i="0">
                <a:solidFill>
                  <a:srgbClr val="1F1942"/>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normAutofit/>
          </a:bodyPr>
          <a:lstStyle/>
          <a:p>
            <a:pPr algn="l"/>
            <a:r>
              <a:rPr sz="900" b="0" i="0">
                <a:solidFill>
                  <a:srgbClr val="1F1942"/>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normAutofit/>
          </a:bodyPr>
          <a:lstStyle/>
          <a:p>
            <a:pPr algn="l"/>
            <a:r>
              <a:rPr sz="900" b="1" i="0">
                <a:solidFill>
                  <a:srgbClr val="2A2250"/>
                </a:solidFill>
                <a:latin typeface="Arial"/>
              </a:rPr>
              <a:t>DIRECT</a:t>
            </a:r>
          </a:p>
        </p:txBody>
      </p:sp>
      <p:sp>
        <p:nvSpPr>
          <p:cNvPr id="65" name="Rectangle 64"/>
          <p:cNvSpPr/>
          <p:nvPr/>
        </p:nvSpPr>
        <p:spPr>
          <a:xfrm>
            <a:off x="8732520" y="4389120"/>
            <a:ext cx="182880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normAutofit/>
          </a:bodyPr>
          <a:lstStyle/>
          <a:p>
            <a:pPr algn="l"/>
            <a:r>
              <a:rPr sz="900" b="0" i="0">
                <a:solidFill>
                  <a:srgbClr val="1F1942"/>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normAutofit/>
          </a:bodyPr>
          <a:lstStyle/>
          <a:p>
            <a:pPr algn="l"/>
            <a:r>
              <a:rPr sz="900" b="1" i="0">
                <a:solidFill>
                  <a:srgbClr val="1F1942"/>
                </a:solidFill>
                <a:latin typeface="Arial"/>
              </a:rPr>
              <a:t>C&amp;W</a:t>
            </a:r>
          </a:p>
        </p:txBody>
      </p:sp>
      <p:sp>
        <p:nvSpPr>
          <p:cNvPr id="69" name="Rectangle 68"/>
          <p:cNvSpPr/>
          <p:nvPr/>
        </p:nvSpPr>
        <p:spPr>
          <a:xfrm>
            <a:off x="411480" y="4937760"/>
            <a:ext cx="36576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normAutofit/>
          </a:bodyPr>
          <a:lstStyle/>
          <a:p>
            <a:pPr algn="l"/>
            <a:r>
              <a:rPr sz="900" b="0" i="0">
                <a:solidFill>
                  <a:srgbClr val="1F1942"/>
                </a:solidFill>
                <a:latin typeface="Arial"/>
              </a:rPr>
              <a:t>Risk &amp; escalation</a:t>
            </a:r>
          </a:p>
        </p:txBody>
      </p:sp>
      <p:sp>
        <p:nvSpPr>
          <p:cNvPr id="71" name="Rectangle 70"/>
          <p:cNvSpPr/>
          <p:nvPr/>
        </p:nvSpPr>
        <p:spPr>
          <a:xfrm>
            <a:off x="4069080" y="4937760"/>
            <a:ext cx="201168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normAutofit/>
          </a:bodyPr>
          <a:lstStyle/>
          <a:p>
            <a:pPr algn="l"/>
            <a:r>
              <a:rPr sz="900" b="0" i="0">
                <a:solidFill>
                  <a:srgbClr val="1F1942"/>
                </a:solidFill>
                <a:latin typeface="Arial"/>
              </a:rPr>
              <a:t>escalation point</a:t>
            </a:r>
          </a:p>
        </p:txBody>
      </p:sp>
      <p:sp>
        <p:nvSpPr>
          <p:cNvPr id="73" name="Rectangle 72"/>
          <p:cNvSpPr/>
          <p:nvPr/>
        </p:nvSpPr>
        <p:spPr>
          <a:xfrm>
            <a:off x="6080760" y="4937760"/>
            <a:ext cx="26517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normAutofit/>
          </a:bodyPr>
          <a:lstStyle/>
          <a:p>
            <a:pPr algn="l"/>
            <a:r>
              <a:rPr sz="900" b="0" i="0">
                <a:solidFill>
                  <a:srgbClr val="1F1942"/>
                </a:solidFill>
                <a:latin typeface="Arial"/>
              </a:rPr>
              <a:t>OWN &amp; flag early</a:t>
            </a:r>
          </a:p>
        </p:txBody>
      </p:sp>
      <p:sp>
        <p:nvSpPr>
          <p:cNvPr id="75" name="Rectangle 74"/>
          <p:cNvSpPr/>
          <p:nvPr/>
        </p:nvSpPr>
        <p:spPr>
          <a:xfrm>
            <a:off x="8732520" y="4937760"/>
            <a:ext cx="182880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normAutofit/>
          </a:bodyPr>
          <a:lstStyle/>
          <a:p>
            <a:pPr algn="l"/>
            <a:r>
              <a:rPr sz="900" b="0" i="0">
                <a:solidFill>
                  <a:srgbClr val="1F1942"/>
                </a:solidFill>
                <a:latin typeface="Arial"/>
              </a:rPr>
              <a:t>—</a:t>
            </a:r>
          </a:p>
        </p:txBody>
      </p:sp>
      <p:sp>
        <p:nvSpPr>
          <p:cNvPr id="77" name="Rectangle 76"/>
          <p:cNvSpPr/>
          <p:nvPr/>
        </p:nvSpPr>
        <p:spPr>
          <a:xfrm>
            <a:off x="10561320" y="4937760"/>
            <a:ext cx="128016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normAutofit/>
          </a:bodyPr>
          <a:lstStyle/>
          <a:p>
            <a:pPr algn="l"/>
            <a:r>
              <a:rPr sz="900" b="0" i="0">
                <a:solidFill>
                  <a:srgbClr val="1F1942"/>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normAutofit/>
          </a:bodyPr>
          <a:lstStyle/>
          <a:p>
            <a:pPr algn="l"/>
            <a:r>
              <a:rPr sz="1050" b="0" i="1">
                <a:solidFill>
                  <a:srgbClr val="1F1942"/>
                </a:solidFill>
                <a:latin typeface="Arial"/>
              </a:rPr>
              <a:t>The full project team is personally introduced to all parties at the outset — so every name has a face from day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18</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737360"/>
            <a:ext cx="4937760" cy="4023360"/>
          </a:xfrm>
          <a:prstGeom prst="rect">
            <a:avLst/>
          </a:prstGeom>
          <a:noFill/>
        </p:spPr>
        <p:txBody>
          <a:bodyPr wrap="square" anchor="t">
            <a:normAutofit/>
          </a:bodyPr>
          <a:lstStyle/>
          <a:p>
            <a:pPr algn="l">
              <a:spcAft>
                <a:spcPts val="300"/>
              </a:spcAft>
            </a:pPr>
            <a:r>
              <a:rPr sz="1150" b="0" i="0">
                <a:solidFill>
                  <a:srgbClr val="1F1942"/>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F1942"/>
                </a:solidFill>
                <a:latin typeface="Arial"/>
              </a:rPr>
              <a:t/>
            </a:r>
          </a:p>
          <a:p>
            <a:pPr algn="l">
              <a:spcAft>
                <a:spcPts val="300"/>
              </a:spcAft>
            </a:pPr>
            <a:r>
              <a:rPr sz="1150" b="0" i="0">
                <a:solidFill>
                  <a:srgbClr val="1F1942"/>
                </a:solidFill>
                <a:latin typeface="Arial"/>
              </a:rPr>
              <a:t>Every report answers four questions:</a:t>
            </a:r>
          </a:p>
          <a:p>
            <a:pPr algn="l">
              <a:spcAft>
                <a:spcPts val="300"/>
              </a:spcAft>
            </a:pPr>
            <a:r>
              <a:rPr sz="1150" b="0" i="0">
                <a:solidFill>
                  <a:srgbClr val="1F1942"/>
                </a:solidFill>
                <a:latin typeface="Arial"/>
              </a:rPr>
              <a:t/>
            </a:r>
          </a:p>
          <a:p>
            <a:pPr algn="l">
              <a:spcAft>
                <a:spcPts val="300"/>
              </a:spcAft>
            </a:pPr>
            <a:r>
              <a:rPr sz="1150" b="0" i="0">
                <a:solidFill>
                  <a:srgbClr val="1F1942"/>
                </a:solidFill>
                <a:latin typeface="Arial"/>
              </a:rPr>
              <a:t>•  Are we on schedule?</a:t>
            </a:r>
          </a:p>
          <a:p>
            <a:pPr algn="l">
              <a:spcAft>
                <a:spcPts val="300"/>
              </a:spcAft>
            </a:pPr>
            <a:r>
              <a:rPr sz="1150" b="0" i="0">
                <a:solidFill>
                  <a:srgbClr val="1F1942"/>
                </a:solidFill>
                <a:latin typeface="Arial"/>
              </a:rPr>
              <a:t>•  Are we on budget?</a:t>
            </a:r>
          </a:p>
          <a:p>
            <a:pPr algn="l">
              <a:spcAft>
                <a:spcPts val="300"/>
              </a:spcAft>
            </a:pPr>
            <a:r>
              <a:rPr sz="1150" b="0" i="0">
                <a:solidFill>
                  <a:srgbClr val="1F1942"/>
                </a:solidFill>
                <a:latin typeface="Arial"/>
              </a:rPr>
              <a:t>•  Is PwC satisfied?</a:t>
            </a:r>
          </a:p>
          <a:p>
            <a:pPr algn="l">
              <a:spcAft>
                <a:spcPts val="300"/>
              </a:spcAft>
            </a:pPr>
            <a:r>
              <a:rPr sz="1150" b="0" i="0">
                <a:solidFill>
                  <a:srgbClr val="1F1942"/>
                </a:solidFill>
                <a:latin typeface="Arial"/>
              </a:rPr>
              <a:t>•  What decisions do you need to make next?</a:t>
            </a:r>
          </a:p>
          <a:p>
            <a:pPr algn="l">
              <a:spcAft>
                <a:spcPts val="300"/>
              </a:spcAft>
            </a:pPr>
            <a:r>
              <a:rPr sz="1150" b="0" i="0">
                <a:solidFill>
                  <a:srgbClr val="1F1942"/>
                </a:solidFill>
                <a:latin typeface="Arial"/>
              </a:rPr>
              <a:t/>
            </a:r>
          </a:p>
          <a:p>
            <a:pPr algn="l">
              <a:spcAft>
                <a:spcPts val="300"/>
              </a:spcAft>
            </a:pPr>
            <a:r>
              <a:rPr sz="1150" b="0" i="0">
                <a:solidFill>
                  <a:srgbClr val="1F1942"/>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normAutofit/>
          </a:bodyPr>
          <a:lstStyle/>
          <a:p>
            <a:pPr algn="l"/>
            <a:r>
              <a:rPr sz="1100" b="1" i="0">
                <a:solidFill>
                  <a:srgbClr val="2A2250"/>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normAutofit/>
          </a:bodyPr>
          <a:lstStyle/>
          <a:p>
            <a:pPr algn="l"/>
            <a:r>
              <a:rPr sz="1000" b="1" i="0">
                <a:solidFill>
                  <a:srgbClr val="1F1942"/>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normAutofit/>
          </a:bodyPr>
          <a:lstStyle/>
          <a:p>
            <a:pPr algn="l"/>
            <a:r>
              <a:rPr sz="900" b="0" i="0">
                <a:solidFill>
                  <a:srgbClr val="6B6467"/>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16" name="Rectangle 15"/>
          <p:cNvSpPr/>
          <p:nvPr/>
        </p:nvSpPr>
        <p:spPr>
          <a:xfrm>
            <a:off x="7726680" y="237744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normAutofit/>
          </a:bodyPr>
          <a:lstStyle/>
          <a:p>
            <a:pPr algn="l"/>
            <a:r>
              <a:rPr sz="1000" b="1" i="0">
                <a:solidFill>
                  <a:srgbClr val="1F1942"/>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normAutofit/>
          </a:bodyPr>
          <a:lstStyle/>
          <a:p>
            <a:pPr algn="l"/>
            <a:r>
              <a:rPr sz="900" b="0" i="0">
                <a:solidFill>
                  <a:srgbClr val="6B6467"/>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20" name="Rectangle 19"/>
          <p:cNvSpPr/>
          <p:nvPr/>
        </p:nvSpPr>
        <p:spPr>
          <a:xfrm>
            <a:off x="9692640" y="237744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normAutofit/>
          </a:bodyPr>
          <a:lstStyle/>
          <a:p>
            <a:pPr algn="l"/>
            <a:r>
              <a:rPr sz="1000" b="1" i="0">
                <a:solidFill>
                  <a:srgbClr val="1F1942"/>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normAutofit/>
          </a:bodyPr>
          <a:lstStyle/>
          <a:p>
            <a:pPr algn="l"/>
            <a:r>
              <a:rPr sz="900" b="0" i="0">
                <a:solidFill>
                  <a:srgbClr val="6B6467"/>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24" name="Rectangle 23"/>
          <p:cNvSpPr/>
          <p:nvPr/>
        </p:nvSpPr>
        <p:spPr>
          <a:xfrm>
            <a:off x="5760720" y="393192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normAutofit/>
          </a:bodyPr>
          <a:lstStyle/>
          <a:p>
            <a:pPr algn="l"/>
            <a:r>
              <a:rPr sz="1000" b="1" i="0">
                <a:solidFill>
                  <a:srgbClr val="1F1942"/>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normAutofit/>
          </a:bodyPr>
          <a:lstStyle/>
          <a:p>
            <a:pPr algn="l"/>
            <a:r>
              <a:rPr sz="900" b="0" i="0">
                <a:solidFill>
                  <a:srgbClr val="6B6467"/>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28" name="Rectangle 27"/>
          <p:cNvSpPr/>
          <p:nvPr/>
        </p:nvSpPr>
        <p:spPr>
          <a:xfrm>
            <a:off x="7726680" y="393192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normAutofit/>
          </a:bodyPr>
          <a:lstStyle/>
          <a:p>
            <a:pPr algn="l"/>
            <a:r>
              <a:rPr sz="1000" b="1" i="0">
                <a:solidFill>
                  <a:srgbClr val="1F1942"/>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normAutofit/>
          </a:bodyPr>
          <a:lstStyle/>
          <a:p>
            <a:pPr algn="l"/>
            <a:r>
              <a:rPr sz="900" b="0" i="0">
                <a:solidFill>
                  <a:srgbClr val="6B6467"/>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normAutofit/>
          </a:bodyPr>
          <a:lstStyle/>
          <a:p>
            <a:pPr algn="l"/>
            <a:r>
              <a:rPr sz="1200" b="1" i="0">
                <a:solidFill>
                  <a:srgbClr val="2A2250"/>
                </a:solidFill>
                <a:latin typeface="Arial"/>
              </a:rPr>
              <a:t>[ ● ]</a:t>
            </a:r>
          </a:p>
        </p:txBody>
      </p:sp>
      <p:sp>
        <p:nvSpPr>
          <p:cNvPr id="32" name="Rectangle 31"/>
          <p:cNvSpPr/>
          <p:nvPr/>
        </p:nvSpPr>
        <p:spPr>
          <a:xfrm>
            <a:off x="9692640" y="3931920"/>
            <a:ext cx="1828800" cy="137160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normAutofit/>
          </a:bodyPr>
          <a:lstStyle/>
          <a:p>
            <a:pPr algn="l"/>
            <a:r>
              <a:rPr sz="1000" b="1" i="0">
                <a:solidFill>
                  <a:srgbClr val="1F1942"/>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normAutofit/>
          </a:bodyPr>
          <a:lstStyle/>
          <a:p>
            <a:pPr algn="l"/>
            <a:r>
              <a:rPr sz="900" b="0" i="0">
                <a:solidFill>
                  <a:srgbClr val="6B6467"/>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normAutofit/>
          </a:bodyPr>
          <a:lstStyle/>
          <a:p>
            <a:pPr algn="l"/>
            <a:r>
              <a:rPr sz="1200" b="1" i="0">
                <a:solidFill>
                  <a:srgbClr val="2A2250"/>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19</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TextBox 8"/>
          <p:cNvSpPr txBox="1"/>
          <p:nvPr/>
        </p:nvSpPr>
        <p:spPr>
          <a:xfrm>
            <a:off x="411480" y="1600200"/>
            <a:ext cx="11247120" cy="502920"/>
          </a:xfrm>
          <a:prstGeom prst="rect">
            <a:avLst/>
          </a:prstGeom>
          <a:noFill/>
        </p:spPr>
        <p:txBody>
          <a:bodyPr wrap="square" anchor="t">
            <a:normAutofit/>
          </a:bodyPr>
          <a:lstStyle/>
          <a:p>
            <a:pPr algn="l"/>
            <a:r>
              <a:rPr sz="1100" b="0" i="0">
                <a:solidFill>
                  <a:srgbClr val="1F1942"/>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norm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norm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norm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norm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norm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F1942"/>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norm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normAutofit/>
          </a:bodyPr>
          <a:lstStyle/>
          <a:p>
            <a:pPr algn="l"/>
            <a:r>
              <a:rPr sz="850" b="0" i="0">
                <a:solidFill>
                  <a:srgbClr val="1F1942"/>
                </a:solidFill>
                <a:latin typeface="Arial"/>
              </a:rPr>
              <a:t>1</a:t>
            </a:r>
          </a:p>
        </p:txBody>
      </p:sp>
      <p:sp>
        <p:nvSpPr>
          <p:cNvPr id="24" name="Rectangle 23"/>
          <p:cNvSpPr/>
          <p:nvPr/>
        </p:nvSpPr>
        <p:spPr>
          <a:xfrm>
            <a:off x="868680" y="2560320"/>
            <a:ext cx="33832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normAutofit/>
          </a:bodyPr>
          <a:lstStyle/>
          <a:p>
            <a:pPr algn="l"/>
            <a:r>
              <a:rPr sz="850" b="0" i="0">
                <a:solidFill>
                  <a:srgbClr val="1F1942"/>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normAutofit/>
          </a:bodyPr>
          <a:lstStyle/>
          <a:p>
            <a:pPr algn="l"/>
            <a:r>
              <a:rPr sz="850" b="1" i="0">
                <a:solidFill>
                  <a:srgbClr val="2A2250"/>
                </a:solidFill>
                <a:latin typeface="Arial"/>
              </a:rPr>
              <a:t>Tenancy</a:t>
            </a:r>
          </a:p>
        </p:txBody>
      </p:sp>
      <p:sp>
        <p:nvSpPr>
          <p:cNvPr id="28" name="Rectangle 27"/>
          <p:cNvSpPr/>
          <p:nvPr/>
        </p:nvSpPr>
        <p:spPr>
          <a:xfrm>
            <a:off x="5623560" y="2560320"/>
            <a:ext cx="42062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normAutofit/>
          </a:bodyPr>
          <a:lstStyle/>
          <a:p>
            <a:pPr algn="l"/>
            <a:r>
              <a:rPr sz="850" b="0" i="0">
                <a:solidFill>
                  <a:srgbClr val="1F1942"/>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normAutofit/>
          </a:bodyPr>
          <a:lstStyle/>
          <a:p>
            <a:pPr algn="l"/>
            <a:r>
              <a:rPr sz="850" b="0" i="0">
                <a:solidFill>
                  <a:srgbClr val="1F1942"/>
                </a:solidFill>
                <a:latin typeface="Arial"/>
              </a:rPr>
              <a:t>SPM</a:t>
            </a:r>
          </a:p>
        </p:txBody>
      </p:sp>
      <p:sp>
        <p:nvSpPr>
          <p:cNvPr id="32" name="Rectangle 31"/>
          <p:cNvSpPr/>
          <p:nvPr/>
        </p:nvSpPr>
        <p:spPr>
          <a:xfrm>
            <a:off x="10835640" y="2560320"/>
            <a:ext cx="6400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normAutofit/>
          </a:bodyPr>
          <a:lstStyle/>
          <a:p>
            <a:pPr algn="l"/>
            <a:r>
              <a:rPr sz="850" b="1" i="0">
                <a:solidFill>
                  <a:srgbClr val="F4B634"/>
                </a:solidFill>
                <a:latin typeface="Arial"/>
              </a:rPr>
              <a:t>●</a:t>
            </a:r>
          </a:p>
        </p:txBody>
      </p:sp>
      <p:sp>
        <p:nvSpPr>
          <p:cNvPr id="34" name="Rectangle 33"/>
          <p:cNvSpPr/>
          <p:nvPr/>
        </p:nvSpPr>
        <p:spPr>
          <a:xfrm>
            <a:off x="411480" y="3072384"/>
            <a:ext cx="4572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normAutofit/>
          </a:bodyPr>
          <a:lstStyle/>
          <a:p>
            <a:pPr algn="l"/>
            <a:r>
              <a:rPr sz="850" b="0" i="0">
                <a:solidFill>
                  <a:srgbClr val="1F1942"/>
                </a:solidFill>
                <a:latin typeface="Arial"/>
              </a:rPr>
              <a:t>2</a:t>
            </a:r>
          </a:p>
        </p:txBody>
      </p:sp>
      <p:sp>
        <p:nvSpPr>
          <p:cNvPr id="36" name="Rectangle 35"/>
          <p:cNvSpPr/>
          <p:nvPr/>
        </p:nvSpPr>
        <p:spPr>
          <a:xfrm>
            <a:off x="868680" y="3072384"/>
            <a:ext cx="33832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normAutofit/>
          </a:bodyPr>
          <a:lstStyle/>
          <a:p>
            <a:pPr algn="l"/>
            <a:r>
              <a:rPr sz="850" b="0" i="0">
                <a:solidFill>
                  <a:srgbClr val="1F1942"/>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normAutofit/>
          </a:bodyPr>
          <a:lstStyle/>
          <a:p>
            <a:pPr algn="l"/>
            <a:r>
              <a:rPr sz="850" b="1" i="0">
                <a:solidFill>
                  <a:srgbClr val="2A2250"/>
                </a:solidFill>
                <a:latin typeface="Arial"/>
              </a:rPr>
              <a:t>Deadline</a:t>
            </a:r>
          </a:p>
        </p:txBody>
      </p:sp>
      <p:sp>
        <p:nvSpPr>
          <p:cNvPr id="40" name="Rectangle 39"/>
          <p:cNvSpPr/>
          <p:nvPr/>
        </p:nvSpPr>
        <p:spPr>
          <a:xfrm>
            <a:off x="5623560" y="3072384"/>
            <a:ext cx="42062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normAutofit/>
          </a:bodyPr>
          <a:lstStyle/>
          <a:p>
            <a:pPr algn="l"/>
            <a:r>
              <a:rPr sz="850" b="0" i="0">
                <a:solidFill>
                  <a:srgbClr val="1F1942"/>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44" name="Rectangle 43"/>
          <p:cNvSpPr/>
          <p:nvPr/>
        </p:nvSpPr>
        <p:spPr>
          <a:xfrm>
            <a:off x="10835640" y="3072384"/>
            <a:ext cx="6400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normAutofit/>
          </a:bodyPr>
          <a:lstStyle/>
          <a:p>
            <a:pPr algn="l"/>
            <a:r>
              <a:rPr sz="850" b="1" i="0">
                <a:solidFill>
                  <a:srgbClr val="C0392B"/>
                </a:solidFill>
                <a:latin typeface="Arial"/>
              </a:rPr>
              <a:t>●</a:t>
            </a:r>
          </a:p>
        </p:txBody>
      </p:sp>
      <p:sp>
        <p:nvSpPr>
          <p:cNvPr id="46" name="Rectangle 45"/>
          <p:cNvSpPr/>
          <p:nvPr/>
        </p:nvSpPr>
        <p:spPr>
          <a:xfrm>
            <a:off x="411480" y="3584448"/>
            <a:ext cx="4572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normAutofit/>
          </a:bodyPr>
          <a:lstStyle/>
          <a:p>
            <a:pPr algn="l"/>
            <a:r>
              <a:rPr sz="850" b="0" i="0">
                <a:solidFill>
                  <a:srgbClr val="1F1942"/>
                </a:solidFill>
                <a:latin typeface="Arial"/>
              </a:rPr>
              <a:t>3</a:t>
            </a:r>
          </a:p>
        </p:txBody>
      </p:sp>
      <p:sp>
        <p:nvSpPr>
          <p:cNvPr id="48" name="Rectangle 47"/>
          <p:cNvSpPr/>
          <p:nvPr/>
        </p:nvSpPr>
        <p:spPr>
          <a:xfrm>
            <a:off x="868680" y="3584448"/>
            <a:ext cx="33832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normAutofit/>
          </a:bodyPr>
          <a:lstStyle/>
          <a:p>
            <a:pPr algn="l"/>
            <a:r>
              <a:rPr sz="850" b="0" i="0">
                <a:solidFill>
                  <a:srgbClr val="1F1942"/>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normAutofit/>
          </a:bodyPr>
          <a:lstStyle/>
          <a:p>
            <a:pPr algn="l"/>
            <a:r>
              <a:rPr sz="850" b="1" i="0">
                <a:solidFill>
                  <a:srgbClr val="2A2250"/>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normAutofit/>
          </a:bodyPr>
          <a:lstStyle/>
          <a:p>
            <a:pPr algn="l"/>
            <a:r>
              <a:rPr sz="850" b="0" i="0">
                <a:solidFill>
                  <a:srgbClr val="1F1942"/>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56" name="Rectangle 55"/>
          <p:cNvSpPr/>
          <p:nvPr/>
        </p:nvSpPr>
        <p:spPr>
          <a:xfrm>
            <a:off x="10835640" y="3584448"/>
            <a:ext cx="6400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normAutofit/>
          </a:bodyPr>
          <a:lstStyle/>
          <a:p>
            <a:pPr algn="l"/>
            <a:r>
              <a:rPr sz="850" b="1" i="0">
                <a:solidFill>
                  <a:srgbClr val="C0392B"/>
                </a:solidFill>
                <a:latin typeface="Arial"/>
              </a:rPr>
              <a:t>●</a:t>
            </a:r>
          </a:p>
        </p:txBody>
      </p:sp>
      <p:sp>
        <p:nvSpPr>
          <p:cNvPr id="58" name="Rectangle 57"/>
          <p:cNvSpPr/>
          <p:nvPr/>
        </p:nvSpPr>
        <p:spPr>
          <a:xfrm>
            <a:off x="411480" y="4096512"/>
            <a:ext cx="4572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normAutofit/>
          </a:bodyPr>
          <a:lstStyle/>
          <a:p>
            <a:pPr algn="l"/>
            <a:r>
              <a:rPr sz="850" b="0" i="0">
                <a:solidFill>
                  <a:srgbClr val="1F1942"/>
                </a:solidFill>
                <a:latin typeface="Arial"/>
              </a:rPr>
              <a:t>4</a:t>
            </a:r>
          </a:p>
        </p:txBody>
      </p:sp>
      <p:sp>
        <p:nvSpPr>
          <p:cNvPr id="60" name="Rectangle 59"/>
          <p:cNvSpPr/>
          <p:nvPr/>
        </p:nvSpPr>
        <p:spPr>
          <a:xfrm>
            <a:off x="868680" y="4096512"/>
            <a:ext cx="33832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normAutofit/>
          </a:bodyPr>
          <a:lstStyle/>
          <a:p>
            <a:pPr algn="l"/>
            <a:r>
              <a:rPr sz="850" b="0" i="0">
                <a:solidFill>
                  <a:srgbClr val="1F1942"/>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normAutofit/>
          </a:bodyPr>
          <a:lstStyle/>
          <a:p>
            <a:pPr algn="l"/>
            <a:r>
              <a:rPr sz="850" b="1" i="0">
                <a:solidFill>
                  <a:srgbClr val="2A2250"/>
                </a:solidFill>
                <a:latin typeface="Arial"/>
              </a:rPr>
              <a:t>Budget</a:t>
            </a:r>
          </a:p>
        </p:txBody>
      </p:sp>
      <p:sp>
        <p:nvSpPr>
          <p:cNvPr id="64" name="Rectangle 63"/>
          <p:cNvSpPr/>
          <p:nvPr/>
        </p:nvSpPr>
        <p:spPr>
          <a:xfrm>
            <a:off x="5623560" y="4096512"/>
            <a:ext cx="42062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normAutofit/>
          </a:bodyPr>
          <a:lstStyle/>
          <a:p>
            <a:pPr algn="l"/>
            <a:r>
              <a:rPr sz="850" b="0" i="0">
                <a:solidFill>
                  <a:srgbClr val="1F1942"/>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68" name="Rectangle 67"/>
          <p:cNvSpPr/>
          <p:nvPr/>
        </p:nvSpPr>
        <p:spPr>
          <a:xfrm>
            <a:off x="10835640" y="4096512"/>
            <a:ext cx="6400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normAutofit/>
          </a:bodyPr>
          <a:lstStyle/>
          <a:p>
            <a:pPr algn="l"/>
            <a:r>
              <a:rPr sz="850" b="1" i="0">
                <a:solidFill>
                  <a:srgbClr val="F4B634"/>
                </a:solidFill>
                <a:latin typeface="Arial"/>
              </a:rPr>
              <a:t>●</a:t>
            </a:r>
          </a:p>
        </p:txBody>
      </p:sp>
      <p:sp>
        <p:nvSpPr>
          <p:cNvPr id="70" name="Rectangle 69"/>
          <p:cNvSpPr/>
          <p:nvPr/>
        </p:nvSpPr>
        <p:spPr>
          <a:xfrm>
            <a:off x="411480" y="4608576"/>
            <a:ext cx="4572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normAutofit/>
          </a:bodyPr>
          <a:lstStyle/>
          <a:p>
            <a:pPr algn="l"/>
            <a:r>
              <a:rPr sz="850" b="0" i="0">
                <a:solidFill>
                  <a:srgbClr val="1F1942"/>
                </a:solidFill>
                <a:latin typeface="Arial"/>
              </a:rPr>
              <a:t>5</a:t>
            </a:r>
          </a:p>
        </p:txBody>
      </p:sp>
      <p:sp>
        <p:nvSpPr>
          <p:cNvPr id="72" name="Rectangle 71"/>
          <p:cNvSpPr/>
          <p:nvPr/>
        </p:nvSpPr>
        <p:spPr>
          <a:xfrm>
            <a:off x="868680" y="4608576"/>
            <a:ext cx="33832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normAutofit/>
          </a:bodyPr>
          <a:lstStyle/>
          <a:p>
            <a:pPr algn="l"/>
            <a:r>
              <a:rPr sz="850" b="0" i="0">
                <a:solidFill>
                  <a:srgbClr val="1F1942"/>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normAutofit/>
          </a:bodyPr>
          <a:lstStyle/>
          <a:p>
            <a:pPr algn="l"/>
            <a:r>
              <a:rPr sz="850" b="1" i="0">
                <a:solidFill>
                  <a:srgbClr val="2A2250"/>
                </a:solidFill>
                <a:latin typeface="Arial"/>
              </a:rPr>
              <a:t>Budget</a:t>
            </a:r>
          </a:p>
        </p:txBody>
      </p:sp>
      <p:sp>
        <p:nvSpPr>
          <p:cNvPr id="76" name="Rectangle 75"/>
          <p:cNvSpPr/>
          <p:nvPr/>
        </p:nvSpPr>
        <p:spPr>
          <a:xfrm>
            <a:off x="5623560" y="4608576"/>
            <a:ext cx="42062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normAutofit/>
          </a:bodyPr>
          <a:lstStyle/>
          <a:p>
            <a:pPr algn="l"/>
            <a:r>
              <a:rPr sz="850" b="0" i="0">
                <a:solidFill>
                  <a:srgbClr val="1F1942"/>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normAutofit/>
          </a:bodyPr>
          <a:lstStyle/>
          <a:p>
            <a:pPr algn="l"/>
            <a:r>
              <a:rPr sz="850" b="0" i="0">
                <a:solidFill>
                  <a:srgbClr val="1F1942"/>
                </a:solidFill>
                <a:latin typeface="Arial"/>
              </a:rPr>
              <a:t>TPM</a:t>
            </a:r>
          </a:p>
        </p:txBody>
      </p:sp>
      <p:sp>
        <p:nvSpPr>
          <p:cNvPr id="80" name="Rectangle 79"/>
          <p:cNvSpPr/>
          <p:nvPr/>
        </p:nvSpPr>
        <p:spPr>
          <a:xfrm>
            <a:off x="10835640" y="4608576"/>
            <a:ext cx="640080" cy="512064"/>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normAutofit/>
          </a:bodyPr>
          <a:lstStyle/>
          <a:p>
            <a:pPr algn="l"/>
            <a:r>
              <a:rPr sz="850" b="1" i="0">
                <a:solidFill>
                  <a:srgbClr val="F4B634"/>
                </a:solidFill>
                <a:latin typeface="Arial"/>
              </a:rPr>
              <a:t>●</a:t>
            </a:r>
          </a:p>
        </p:txBody>
      </p:sp>
      <p:sp>
        <p:nvSpPr>
          <p:cNvPr id="82" name="Rectangle 81"/>
          <p:cNvSpPr/>
          <p:nvPr/>
        </p:nvSpPr>
        <p:spPr>
          <a:xfrm>
            <a:off x="411480" y="5120640"/>
            <a:ext cx="4572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normAutofit/>
          </a:bodyPr>
          <a:lstStyle/>
          <a:p>
            <a:pPr algn="l"/>
            <a:r>
              <a:rPr sz="850" b="0" i="0">
                <a:solidFill>
                  <a:srgbClr val="1F1942"/>
                </a:solidFill>
                <a:latin typeface="Arial"/>
              </a:rPr>
              <a:t>6</a:t>
            </a:r>
          </a:p>
        </p:txBody>
      </p:sp>
      <p:sp>
        <p:nvSpPr>
          <p:cNvPr id="84" name="Rectangle 83"/>
          <p:cNvSpPr/>
          <p:nvPr/>
        </p:nvSpPr>
        <p:spPr>
          <a:xfrm>
            <a:off x="868680" y="5120640"/>
            <a:ext cx="33832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normAutofit/>
          </a:bodyPr>
          <a:lstStyle/>
          <a:p>
            <a:pPr algn="l"/>
            <a:r>
              <a:rPr sz="850" b="0" i="0">
                <a:solidFill>
                  <a:srgbClr val="1F1942"/>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normAutofit/>
          </a:bodyPr>
          <a:lstStyle/>
          <a:p>
            <a:pPr algn="l"/>
            <a:r>
              <a:rPr sz="850" b="1" i="0">
                <a:solidFill>
                  <a:srgbClr val="2A2250"/>
                </a:solidFill>
                <a:latin typeface="Arial"/>
              </a:rPr>
              <a:t>Deadline</a:t>
            </a:r>
          </a:p>
        </p:txBody>
      </p:sp>
      <p:sp>
        <p:nvSpPr>
          <p:cNvPr id="88" name="Rectangle 87"/>
          <p:cNvSpPr/>
          <p:nvPr/>
        </p:nvSpPr>
        <p:spPr>
          <a:xfrm>
            <a:off x="5623560" y="5120640"/>
            <a:ext cx="42062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normAutofit/>
          </a:bodyPr>
          <a:lstStyle/>
          <a:p>
            <a:pPr algn="l"/>
            <a:r>
              <a:rPr sz="850" b="0" i="0">
                <a:solidFill>
                  <a:srgbClr val="1F1942"/>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normAutofit/>
          </a:bodyPr>
          <a:lstStyle/>
          <a:p>
            <a:pPr algn="l"/>
            <a:r>
              <a:rPr sz="850" b="0" i="0">
                <a:solidFill>
                  <a:srgbClr val="1F1942"/>
                </a:solidFill>
                <a:latin typeface="Arial"/>
              </a:rPr>
              <a:t>SPM</a:t>
            </a:r>
          </a:p>
        </p:txBody>
      </p:sp>
      <p:sp>
        <p:nvSpPr>
          <p:cNvPr id="92" name="Rectangle 91"/>
          <p:cNvSpPr/>
          <p:nvPr/>
        </p:nvSpPr>
        <p:spPr>
          <a:xfrm>
            <a:off x="10835640" y="5120640"/>
            <a:ext cx="640080" cy="512064"/>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normAutofit/>
          </a:bodyPr>
          <a:lstStyle/>
          <a:p>
            <a:pPr algn="l"/>
            <a:r>
              <a:rPr sz="850" b="1" i="0">
                <a:solidFill>
                  <a:srgbClr val="F4B634"/>
                </a:solidFill>
                <a:latin typeface="Arial"/>
              </a:rPr>
              <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20</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3736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normAutofit/>
          </a:bodyPr>
          <a:lstStyle/>
          <a:p>
            <a:pPr algn="l"/>
            <a:r>
              <a:rPr sz="1300" b="1" i="0">
                <a:solidFill>
                  <a:srgbClr val="2A2250"/>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normAutofit/>
          </a:bodyPr>
          <a:lstStyle/>
          <a:p>
            <a:pPr algn="l"/>
            <a:r>
              <a:rPr sz="1100" b="0" i="0">
                <a:solidFill>
                  <a:srgbClr val="1F1942"/>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normAutofit/>
          </a:bodyPr>
          <a:lstStyle/>
          <a:p>
            <a:pPr algn="l"/>
            <a:r>
              <a:rPr sz="1300" b="1" i="0">
                <a:solidFill>
                  <a:srgbClr val="2A2250"/>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normAutofit/>
          </a:bodyPr>
          <a:lstStyle/>
          <a:p>
            <a:pPr algn="l"/>
            <a:r>
              <a:rPr sz="1100" b="0" i="0">
                <a:solidFill>
                  <a:srgbClr val="1F1942"/>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normAutofit/>
          </a:bodyPr>
          <a:lstStyle/>
          <a:p>
            <a:pPr algn="l"/>
            <a:r>
              <a:rPr sz="1300" b="1" i="0">
                <a:solidFill>
                  <a:srgbClr val="2A2250"/>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normAutofit/>
          </a:bodyPr>
          <a:lstStyle/>
          <a:p>
            <a:pPr algn="l"/>
            <a:r>
              <a:rPr sz="1100" b="0" i="0">
                <a:solidFill>
                  <a:srgbClr val="1F1942"/>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normAutofit/>
          </a:bodyPr>
          <a:lstStyle/>
          <a:p>
            <a:pPr algn="l"/>
            <a:r>
              <a:rPr sz="1300" b="1" i="0">
                <a:solidFill>
                  <a:srgbClr val="2A2250"/>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normAutofit/>
          </a:bodyPr>
          <a:lstStyle/>
          <a:p>
            <a:pPr algn="l"/>
            <a:r>
              <a:rPr sz="1100" b="0" i="0">
                <a:solidFill>
                  <a:srgbClr val="1F1942"/>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norm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norm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norm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We have done exactly this: sustainability upgrades in</a:t>
            </a:r>
          </a:p>
          <a:p>
            <a:pPr algn="l"/>
            <a:r>
              <a:rPr sz="2300" b="1" i="0">
                <a:solidFill>
                  <a:srgbClr val="1F1942"/>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22</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normAutofit/>
          </a:bodyPr>
          <a:lstStyle/>
          <a:p>
            <a:pPr algn="l"/>
            <a:r>
              <a:rPr sz="1100" b="1" i="0">
                <a:solidFill>
                  <a:srgbClr val="2A2250"/>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
        <p:nvSpPr>
          <p:cNvPr id="14" name="Rectangle 13"/>
          <p:cNvSpPr/>
          <p:nvPr/>
        </p:nvSpPr>
        <p:spPr>
          <a:xfrm>
            <a:off x="329184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normAutofit/>
          </a:bodyPr>
          <a:lstStyle/>
          <a:p>
            <a:pPr algn="l"/>
            <a:r>
              <a:rPr sz="1100" b="1" i="0">
                <a:solidFill>
                  <a:srgbClr val="2A2250"/>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
        <p:nvSpPr>
          <p:cNvPr id="19" name="Rectangle 18"/>
          <p:cNvSpPr/>
          <p:nvPr/>
        </p:nvSpPr>
        <p:spPr>
          <a:xfrm>
            <a:off x="617220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normAutofit/>
          </a:bodyPr>
          <a:lstStyle/>
          <a:p>
            <a:pPr algn="l"/>
            <a:r>
              <a:rPr sz="1100" b="1" i="0">
                <a:solidFill>
                  <a:srgbClr val="2A2250"/>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
        <p:nvSpPr>
          <p:cNvPr id="24" name="Rectangle 23"/>
          <p:cNvSpPr/>
          <p:nvPr/>
        </p:nvSpPr>
        <p:spPr>
          <a:xfrm>
            <a:off x="9052560" y="1783080"/>
            <a:ext cx="2697480" cy="393192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normAutofit/>
          </a:bodyPr>
          <a:lstStyle/>
          <a:p>
            <a:pPr algn="ctr"/>
            <a:r>
              <a:rPr sz="1000" b="0" i="0">
                <a:solidFill>
                  <a:srgbClr val="6B6467"/>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normAutofit/>
          </a:bodyPr>
          <a:lstStyle/>
          <a:p>
            <a:pPr algn="l"/>
            <a:r>
              <a:rPr sz="1100" b="1" i="0">
                <a:solidFill>
                  <a:srgbClr val="2A2250"/>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normAutofit/>
          </a:bodyPr>
          <a:lstStyle/>
          <a:p>
            <a:pPr algn="l"/>
            <a:r>
              <a:rPr sz="900" b="0" i="0">
                <a:solidFill>
                  <a:srgbClr val="6B6467"/>
                </a:solidFill>
                <a:latin typeface="Arial"/>
              </a:rPr>
              <a:t>Project name</a:t>
            </a:r>
          </a:p>
          <a:p>
            <a:pPr algn="l"/>
            <a:r>
              <a:rPr sz="900" b="0" i="0">
                <a:solidFill>
                  <a:srgbClr val="6B6467"/>
                </a:solidFill>
                <a:latin typeface="Arial"/>
              </a:rPr>
              <a:t>Sustainability upgrade / renovation in an occupied office</a:t>
            </a:r>
          </a:p>
          <a:p>
            <a:pPr algn="l"/>
            <a:r>
              <a:rPr sz="900" b="0" i="0">
                <a:solidFill>
                  <a:srgbClr val="6B6467"/>
                </a:solidFill>
                <a:latin typeface="Arial"/>
              </a:rPr>
              <a:t>Size · C&amp;W role · outcome (tenant retained, on time, on budget)</a:t>
            </a:r>
          </a:p>
          <a:p>
            <a:pPr algn="l"/>
            <a:r>
              <a:rPr sz="900" b="0" i="0">
                <a:solidFill>
                  <a:srgbClr val="6B6467"/>
                </a:solidFill>
                <a:latin typeface="Arial"/>
              </a:rPr>
              <a:t>[ in te vullen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normAutofit/>
          </a:bodyPr>
          <a:lstStyle/>
          <a:p>
            <a:pPr algn="l"/>
            <a:r>
              <a:rPr sz="1000" b="1" i="0">
                <a:solidFill>
                  <a:srgbClr val="F4B634"/>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normAutofit/>
          </a:bodyPr>
          <a:lstStyle/>
          <a:p>
            <a:pPr algn="l"/>
            <a:r>
              <a:rPr sz="2300" b="1" i="0">
                <a:solidFill>
                  <a:srgbClr val="1F1942"/>
                </a:solidFill>
                <a:latin typeface="Arial"/>
              </a:rPr>
              <a:t>A fee structured as a phased investment — low to start,</a:t>
            </a:r>
          </a:p>
          <a:p>
            <a:pPr algn="l"/>
            <a:r>
              <a:rPr sz="2300" b="1" i="0">
                <a:solidFill>
                  <a:srgbClr val="1F1942"/>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normAutofit/>
          </a:bodyPr>
          <a:lstStyle/>
          <a:p>
            <a:pPr algn="l"/>
            <a:r>
              <a:rPr sz="800" b="0" i="0">
                <a:solidFill>
                  <a:srgbClr val="6B6467"/>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normAutofit/>
          </a:bodyPr>
          <a:lstStyle/>
          <a:p>
            <a:pPr algn="r"/>
            <a:r>
              <a:rPr sz="1000" b="0" i="0">
                <a:solidFill>
                  <a:srgbClr val="6B6467"/>
                </a:solidFill>
                <a:latin typeface="Arial"/>
              </a:rPr>
              <a:t>23</a:t>
            </a:r>
          </a:p>
        </p:txBody>
      </p:sp>
      <p:sp>
        <p:nvSpPr>
          <p:cNvPr id="7" name="Rounded Rectangle 6"/>
          <p:cNvSpPr/>
          <p:nvPr/>
        </p:nvSpPr>
        <p:spPr>
          <a:xfrm>
            <a:off x="7726679" y="6419088"/>
            <a:ext cx="3657600" cy="292608"/>
          </a:xfrm>
          <a:prstGeom prst="roundRect">
            <a:avLst/>
          </a:prstGeom>
          <a:solidFill>
            <a:srgbClr val="1F19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normAutofit/>
          </a:bodyPr>
          <a:lstStyle/>
          <a:p>
            <a:pPr algn="ctr"/>
            <a:r>
              <a:rPr sz="800" b="1" i="0">
                <a:solidFill>
                  <a:srgbClr val="F4B634"/>
                </a:solidFill>
                <a:latin typeface="Arial"/>
              </a:rPr>
              <a:t>CORUM DECIDES  ·  C&amp;W DELIVERS  ·  PwC ALIGNED</a:t>
            </a:r>
          </a:p>
        </p:txBody>
      </p:sp>
      <p:sp>
        <p:nvSpPr>
          <p:cNvPr id="9" name="Rectangle 8"/>
          <p:cNvSpPr/>
          <p:nvPr/>
        </p:nvSpPr>
        <p:spPr>
          <a:xfrm>
            <a:off x="411480" y="1783080"/>
            <a:ext cx="694944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normAutofit/>
          </a:bodyPr>
          <a:lstStyle/>
          <a:p>
            <a:pPr algn="l"/>
            <a:r>
              <a:rPr sz="1050" b="1" i="0">
                <a:solidFill>
                  <a:srgbClr val="1F1942"/>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normAutofit/>
          </a:bodyPr>
          <a:lstStyle/>
          <a:p>
            <a:pPr algn="l"/>
            <a:r>
              <a:rPr sz="950" b="0" i="0">
                <a:solidFill>
                  <a:srgbClr val="1F1942"/>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13" name="Rectangle 12"/>
          <p:cNvSpPr/>
          <p:nvPr/>
        </p:nvSpPr>
        <p:spPr>
          <a:xfrm>
            <a:off x="411480" y="2441448"/>
            <a:ext cx="694944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normAutofit/>
          </a:bodyPr>
          <a:lstStyle/>
          <a:p>
            <a:pPr algn="l"/>
            <a:r>
              <a:rPr sz="1050" b="1" i="0">
                <a:solidFill>
                  <a:srgbClr val="1F1942"/>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normAutofit/>
          </a:bodyPr>
          <a:lstStyle/>
          <a:p>
            <a:pPr algn="l"/>
            <a:r>
              <a:rPr sz="950" b="0" i="0">
                <a:solidFill>
                  <a:srgbClr val="1F1942"/>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17" name="Rectangle 16"/>
          <p:cNvSpPr/>
          <p:nvPr/>
        </p:nvSpPr>
        <p:spPr>
          <a:xfrm>
            <a:off x="411480" y="3099816"/>
            <a:ext cx="6949440" cy="5486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normAutofit/>
          </a:bodyPr>
          <a:lstStyle/>
          <a:p>
            <a:pPr algn="l"/>
            <a:r>
              <a:rPr sz="1050" b="1" i="0">
                <a:solidFill>
                  <a:srgbClr val="1F1942"/>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normAutofit/>
          </a:bodyPr>
          <a:lstStyle/>
          <a:p>
            <a:pPr algn="l"/>
            <a:r>
              <a:rPr sz="950" b="0" i="0">
                <a:solidFill>
                  <a:srgbClr val="1F1942"/>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21" name="Rectangle 20"/>
          <p:cNvSpPr/>
          <p:nvPr/>
        </p:nvSpPr>
        <p:spPr>
          <a:xfrm>
            <a:off x="411480" y="3758184"/>
            <a:ext cx="6949440" cy="54864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normAutofit/>
          </a:bodyPr>
          <a:lstStyle/>
          <a:p>
            <a:pPr algn="l"/>
            <a:r>
              <a:rPr sz="1050" b="1" i="0">
                <a:solidFill>
                  <a:srgbClr val="1F1942"/>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normAutofit/>
          </a:bodyPr>
          <a:lstStyle/>
          <a:p>
            <a:pPr algn="l"/>
            <a:r>
              <a:rPr sz="950" b="0" i="0">
                <a:solidFill>
                  <a:srgbClr val="1F1942"/>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normAutofit/>
          </a:bodyPr>
          <a:lstStyle/>
          <a:p>
            <a:pPr algn="l"/>
            <a:r>
              <a:rPr sz="1050" b="1" i="0">
                <a:solidFill>
                  <a:srgbClr val="2A2250"/>
                </a:solidFill>
                <a:latin typeface="Arial"/>
              </a:rPr>
              <a:t>€ [ • ]</a:t>
            </a:r>
          </a:p>
        </p:txBody>
      </p:sp>
      <p:sp>
        <p:nvSpPr>
          <p:cNvPr id="25" name="Rectangle 24"/>
          <p:cNvSpPr/>
          <p:nvPr/>
        </p:nvSpPr>
        <p:spPr>
          <a:xfrm>
            <a:off x="7589520" y="1783080"/>
            <a:ext cx="4160520" cy="2651760"/>
          </a:xfrm>
          <a:prstGeom prst="rect">
            <a:avLst/>
          </a:prstGeom>
          <a:solidFill>
            <a:srgbClr val="F4EFE6"/>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normAutofit/>
          </a:bodyPr>
          <a:lstStyle/>
          <a:p>
            <a:pPr algn="l"/>
            <a:r>
              <a:rPr sz="1100" b="1" i="0">
                <a:solidFill>
                  <a:srgbClr val="2A2250"/>
                </a:solidFill>
                <a:latin typeface="Arial"/>
              </a:rPr>
              <a:t>RATE CARD — C&amp;W PDS 2026</a:t>
            </a:r>
          </a:p>
        </p:txBody>
      </p:sp>
      <p:sp>
        <p:nvSpPr>
          <p:cNvPr id="27" name="TextBox 26"/>
          <p:cNvSpPr txBox="1"/>
          <p:nvPr/>
        </p:nvSpPr>
        <p:spPr>
          <a:xfrm>
            <a:off x="7772400" y="2286000"/>
            <a:ext cx="3840480" cy="2103120"/>
          </a:xfrm>
          <a:prstGeom prst="rect">
            <a:avLst/>
          </a:prstGeom>
          <a:noFill/>
        </p:spPr>
        <p:txBody>
          <a:bodyPr wrap="square" anchor="t">
            <a:normAutofit/>
          </a:bodyPr>
          <a:lstStyle/>
          <a:p>
            <a:pPr algn="l">
              <a:spcAft>
                <a:spcPts val="200"/>
              </a:spcAft>
            </a:pPr>
            <a:r>
              <a:rPr sz="1000" b="0" i="0">
                <a:solidFill>
                  <a:srgbClr val="1F1942"/>
                </a:solidFill>
                <a:latin typeface="Arial"/>
              </a:rPr>
              <a:t>Project Manager             € 145 / hr</a:t>
            </a:r>
          </a:p>
          <a:p>
            <a:pPr algn="l">
              <a:spcAft>
                <a:spcPts val="200"/>
              </a:spcAft>
            </a:pPr>
            <a:r>
              <a:rPr sz="1000" b="0" i="0">
                <a:solidFill>
                  <a:srgbClr val="1F1942"/>
                </a:solidFill>
                <a:latin typeface="Arial"/>
              </a:rPr>
              <a:t>Senior Project Manager   € 155 / hr</a:t>
            </a:r>
          </a:p>
          <a:p>
            <a:pPr algn="l">
              <a:spcAft>
                <a:spcPts val="200"/>
              </a:spcAft>
            </a:pPr>
            <a:r>
              <a:rPr sz="1000" b="0" i="0">
                <a:solidFill>
                  <a:srgbClr val="1F1942"/>
                </a:solidFill>
                <a:latin typeface="Arial"/>
              </a:rPr>
              <a:t>Cost Manager                € 145 / hr</a:t>
            </a:r>
          </a:p>
          <a:p>
            <a:pPr algn="l">
              <a:spcAft>
                <a:spcPts val="200"/>
              </a:spcAft>
            </a:pPr>
            <a:r>
              <a:rPr sz="1000" b="0" i="0">
                <a:solidFill>
                  <a:srgbClr val="1F1942"/>
                </a:solidFill>
                <a:latin typeface="Arial"/>
              </a:rPr>
              <a:t>Associate Director          € 175 / hr</a:t>
            </a:r>
          </a:p>
          <a:p>
            <a:pPr algn="l">
              <a:spcAft>
                <a:spcPts val="200"/>
              </a:spcAft>
            </a:pPr>
            <a:r>
              <a:rPr sz="1000" b="0" i="0">
                <a:solidFill>
                  <a:srgbClr val="1F1942"/>
                </a:solidFill>
                <a:latin typeface="Arial"/>
              </a:rPr>
              <a:t>Partner                          € 250 / hr</a:t>
            </a:r>
          </a:p>
          <a:p>
            <a:pPr algn="l">
              <a:spcAft>
                <a:spcPts val="200"/>
              </a:spcAft>
            </a:pPr>
            <a:r>
              <a:rPr sz="1000" b="0" i="0">
                <a:solidFill>
                  <a:srgbClr val="1F1942"/>
                </a:solidFill>
                <a:latin typeface="Arial"/>
              </a:rPr>
              <a:t/>
            </a:r>
          </a:p>
          <a:p>
            <a:pPr algn="l">
              <a:spcAft>
                <a:spcPts val="200"/>
              </a:spcAft>
            </a:pPr>
            <a:r>
              <a:rPr sz="1000" b="0" i="0">
                <a:solidFill>
                  <a:srgbClr val="1F1942"/>
                </a:solidFill>
                <a:latin typeface="Arial"/>
              </a:rPr>
              <a:t>[ tarieven excl. btw · inzet definitief met Frank ]</a:t>
            </a:r>
          </a:p>
        </p:txBody>
      </p:sp>
      <p:sp>
        <p:nvSpPr>
          <p:cNvPr id="28" name="Rectangle 27"/>
          <p:cNvSpPr/>
          <p:nvPr/>
        </p:nvSpPr>
        <p:spPr>
          <a:xfrm>
            <a:off x="411480" y="4572000"/>
            <a:ext cx="11338560" cy="1463040"/>
          </a:xfrm>
          <a:prstGeom prst="rect">
            <a:avLst/>
          </a:prstGeom>
          <a:solidFill>
            <a:srgbClr val="FFFFFF"/>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normAutofit/>
          </a:bodyPr>
          <a:lstStyle/>
          <a:p>
            <a:pPr algn="l"/>
            <a:r>
              <a:rPr sz="1100" b="1" i="0">
                <a:solidFill>
                  <a:srgbClr val="2A2250"/>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normAutofit/>
          </a:bodyPr>
          <a:lstStyle/>
          <a:p>
            <a:pPr algn="l">
              <a:spcAft>
                <a:spcPts val="200"/>
              </a:spcAft>
            </a:pPr>
            <a:r>
              <a:rPr sz="1000" b="0" i="0">
                <a:solidFill>
                  <a:srgbClr val="1F1942"/>
                </a:solidFill>
                <a:latin typeface="Arial"/>
              </a:rPr>
              <a:t>•  You commit phase by phase — the Phase 0 fee is small relative to the asset and the Paris Proof exposure it protects</a:t>
            </a:r>
          </a:p>
          <a:p>
            <a:pPr algn="l">
              <a:spcAft>
                <a:spcPts val="200"/>
              </a:spcAft>
            </a:pPr>
            <a:r>
              <a:rPr sz="1000" b="0" i="0">
                <a:solidFill>
                  <a:srgbClr val="1F1942"/>
                </a:solidFill>
                <a:latin typeface="Arial"/>
              </a:rPr>
              <a:t>•  Design, calculations and specifications are by M3E (outside C&amp;W scope)  ·  DNR 2011 applicable</a:t>
            </a:r>
          </a:p>
          <a:p>
            <a:pPr algn="l">
              <a:spcAft>
                <a:spcPts val="200"/>
              </a:spcAft>
            </a:pPr>
            <a:r>
              <a:rPr sz="1000" b="0" i="0">
                <a:solidFill>
                  <a:srgbClr val="1F1942"/>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F1942"/>
          </a:solidFill>
          <a:ln w="9525">
            <a:solidFill>
              <a:srgbClr val="1F19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4B6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normAutofit/>
          </a:bodyPr>
          <a:lstStyle/>
          <a:p>
            <a:pPr algn="l"/>
            <a:r>
              <a:rPr sz="1100" b="1" i="0">
                <a:solidFill>
                  <a:srgbClr val="F4B634"/>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norm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norm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normAutofit/>
          </a:bodyPr>
          <a:lstStyle/>
          <a:p>
            <a:pPr algn="l"/>
            <a:r>
              <a:rPr sz="1200" b="1" i="0">
                <a:solidFill>
                  <a:srgbClr val="2A2250"/>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norm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normAutofit/>
          </a:bodyPr>
          <a:lstStyle/>
          <a:p>
            <a:pPr algn="l"/>
            <a:r>
              <a:rPr sz="1150" b="0" i="0">
                <a:solidFill>
                  <a:srgbClr val="1F1942"/>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normAutofit/>
          </a:bodyPr>
          <a:lstStyle/>
          <a:p>
            <a:pPr algn="l"/>
            <a:r>
              <a:rPr sz="950" b="0" i="1">
                <a:solidFill>
                  <a:srgbClr val="6B6467"/>
                </a:solidFill>
                <a:latin typeface="Arial"/>
              </a:rPr>
              <a:t>in progress</a:t>
            </a:r>
          </a:p>
        </p:txBody>
      </p:sp>
      <p:sp>
        <p:nvSpPr>
          <p:cNvPr id="12" name="Rectangle 11"/>
          <p:cNvSpPr/>
          <p:nvPr/>
        </p:nvSpPr>
        <p:spPr>
          <a:xfrm>
            <a:off x="411480" y="3986784"/>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norm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normAutofit/>
          </a:bodyPr>
          <a:lstStyle/>
          <a:p>
            <a:pPr algn="l"/>
            <a:r>
              <a:rPr sz="1150" b="0" i="0">
                <a:solidFill>
                  <a:srgbClr val="1F1942"/>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normAutofit/>
          </a:bodyPr>
          <a:lstStyle/>
          <a:p>
            <a:pPr algn="l"/>
            <a:r>
              <a:rPr sz="950" b="0" i="1">
                <a:solidFill>
                  <a:srgbClr val="6B6467"/>
                </a:solidFill>
                <a:latin typeface="Arial"/>
              </a:rPr>
              <a:t>upon NDA</a:t>
            </a:r>
          </a:p>
        </p:txBody>
      </p:sp>
      <p:sp>
        <p:nvSpPr>
          <p:cNvPr id="16" name="Rectangle 15"/>
          <p:cNvSpPr/>
          <p:nvPr/>
        </p:nvSpPr>
        <p:spPr>
          <a:xfrm>
            <a:off x="411480" y="4498848"/>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norm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normAutofit/>
          </a:bodyPr>
          <a:lstStyle/>
          <a:p>
            <a:pPr algn="l"/>
            <a:r>
              <a:rPr sz="1150" b="0" i="0">
                <a:solidFill>
                  <a:srgbClr val="1F1942"/>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normAutofit/>
          </a:bodyPr>
          <a:lstStyle/>
          <a:p>
            <a:pPr algn="l"/>
            <a:r>
              <a:rPr sz="950" b="0" i="1">
                <a:solidFill>
                  <a:srgbClr val="6B6467"/>
                </a:solidFill>
                <a:latin typeface="Arial"/>
              </a:rPr>
              <a:t>July 2026</a:t>
            </a:r>
          </a:p>
        </p:txBody>
      </p:sp>
      <p:sp>
        <p:nvSpPr>
          <p:cNvPr id="20" name="Rectangle 19"/>
          <p:cNvSpPr/>
          <p:nvPr/>
        </p:nvSpPr>
        <p:spPr>
          <a:xfrm>
            <a:off x="411480" y="5010912"/>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norm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normAutofit/>
          </a:bodyPr>
          <a:lstStyle/>
          <a:p>
            <a:pPr algn="l"/>
            <a:r>
              <a:rPr sz="1150" b="0" i="0">
                <a:solidFill>
                  <a:srgbClr val="1F1942"/>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normAutofit/>
          </a:bodyPr>
          <a:lstStyle/>
          <a:p>
            <a:pPr algn="l"/>
            <a:r>
              <a:rPr sz="950" b="0" i="1">
                <a:solidFill>
                  <a:srgbClr val="6B6467"/>
                </a:solidFill>
                <a:latin typeface="Arial"/>
              </a:rPr>
              <a:t>within 2 weeks</a:t>
            </a:r>
          </a:p>
        </p:txBody>
      </p:sp>
      <p:sp>
        <p:nvSpPr>
          <p:cNvPr id="24" name="Rectangle 23"/>
          <p:cNvSpPr/>
          <p:nvPr/>
        </p:nvSpPr>
        <p:spPr>
          <a:xfrm>
            <a:off x="411480" y="5522976"/>
            <a:ext cx="411480" cy="411480"/>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norm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normAutofit/>
          </a:bodyPr>
          <a:lstStyle/>
          <a:p>
            <a:pPr algn="l"/>
            <a:r>
              <a:rPr sz="1150" b="0" i="0">
                <a:solidFill>
                  <a:srgbClr val="1F1942"/>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normAutofit/>
          </a:bodyPr>
          <a:lstStyle/>
          <a:p>
            <a:pPr algn="l"/>
            <a:r>
              <a:rPr sz="950" b="0" i="1">
                <a:solidFill>
                  <a:srgbClr val="6B6467"/>
                </a:solidFill>
                <a:latin typeface="Arial"/>
              </a:rPr>
              <a:t>end of Phase 0</a:t>
            </a:r>
          </a:p>
        </p:txBody>
      </p:sp>
      <p:sp>
        <p:nvSpPr>
          <p:cNvPr id="28" name="Rectangle 27"/>
          <p:cNvSpPr/>
          <p:nvPr/>
        </p:nvSpPr>
        <p:spPr>
          <a:xfrm>
            <a:off x="411480" y="6080760"/>
            <a:ext cx="11338560" cy="566928"/>
          </a:xfrm>
          <a:prstGeom prst="rect">
            <a:avLst/>
          </a:prstGeom>
          <a:solidFill>
            <a:srgbClr val="2A2250"/>
          </a:solidFill>
          <a:ln w="6350">
            <a:solidFill>
              <a:srgbClr val="E2D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norm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