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4114800"/>
          </a:xfrm>
          <a:prstGeom prst="rect">
            <a:avLst/>
          </a:prstGeom>
          <a:solidFill>
            <a:srgbClr val="D9D9D9"/>
          </a:solidFill>
          <a:ln w="6350">
            <a:solidFill>
              <a:srgbClr val="E2E2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737360"/>
            <a:ext cx="11247120" cy="548640"/>
          </a:xfrm>
          <a:prstGeom prst="rect">
            <a:avLst/>
          </a:prstGeom>
          <a:noFill/>
        </p:spPr>
        <p:txBody>
          <a:bodyPr wrap="square" anchor="t">
            <a:normAutofit/>
          </a:bodyPr>
          <a:lstStyle/>
          <a:p>
            <a:pPr algn="ctr"/>
            <a:r>
              <a:rPr sz="1400" b="0" i="0">
                <a:solidFill>
                  <a:srgbClr val="7A7A7A"/>
                </a:solidFill>
                <a:latin typeface="Arial"/>
              </a:rPr>
              <a:t>[ FULL-BLEED FOTO WESTGATE I — Thomas R. Malthusstraat 5, Amsterdam ]</a:t>
            </a:r>
          </a:p>
        </p:txBody>
      </p:sp>
      <p:sp>
        <p:nvSpPr>
          <p:cNvPr id="4" name="Rectangle 3"/>
          <p:cNvSpPr/>
          <p:nvPr/>
        </p:nvSpPr>
        <p:spPr>
          <a:xfrm>
            <a:off x="0" y="4114800"/>
            <a:ext cx="12191695" cy="109728"/>
          </a:xfrm>
          <a:prstGeom prst="rect">
            <a:avLst/>
          </a:prstGeom>
          <a:solidFill>
            <a:srgbClr val="C3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4389120"/>
            <a:ext cx="10058400" cy="1005840"/>
          </a:xfrm>
          <a:prstGeom prst="rect">
            <a:avLst/>
          </a:prstGeom>
          <a:noFill/>
        </p:spPr>
        <p:txBody>
          <a:bodyPr wrap="square" anchor="t">
            <a:normAutofit/>
          </a:bodyPr>
          <a:lstStyle/>
          <a:p>
            <a:pPr algn="l"/>
            <a:r>
              <a:rPr sz="4000" b="1" i="0">
                <a:solidFill>
                  <a:srgbClr val="1C1C1C"/>
                </a:solidFill>
                <a:latin typeface="Arial"/>
              </a:rPr>
              <a:t>WESTGATE I — PARIS PROOF</a:t>
            </a:r>
          </a:p>
        </p:txBody>
      </p:sp>
      <p:sp>
        <p:nvSpPr>
          <p:cNvPr id="6" name="TextBox 5"/>
          <p:cNvSpPr txBox="1"/>
          <p:nvPr/>
        </p:nvSpPr>
        <p:spPr>
          <a:xfrm>
            <a:off x="548640" y="5212080"/>
            <a:ext cx="10515600" cy="548640"/>
          </a:xfrm>
          <a:prstGeom prst="rect">
            <a:avLst/>
          </a:prstGeom>
          <a:noFill/>
        </p:spPr>
        <p:txBody>
          <a:bodyPr wrap="square" anchor="t">
            <a:normAutofit/>
          </a:bodyPr>
          <a:lstStyle/>
          <a:p>
            <a:pPr algn="l"/>
            <a:r>
              <a:rPr sz="1500" b="1" i="0">
                <a:solidFill>
                  <a:srgbClr val="C3002B"/>
                </a:solidFill>
                <a:latin typeface="Arial"/>
              </a:rPr>
              <a:t>Your single point of control — delivering Paris Proof with tenant PwC fully aware and aligned</a:t>
            </a:r>
          </a:p>
        </p:txBody>
      </p:sp>
      <p:sp>
        <p:nvSpPr>
          <p:cNvPr id="7" name="TextBox 6"/>
          <p:cNvSpPr txBox="1"/>
          <p:nvPr/>
        </p:nvSpPr>
        <p:spPr>
          <a:xfrm>
            <a:off x="548640" y="5943600"/>
            <a:ext cx="8229600" cy="457200"/>
          </a:xfrm>
          <a:prstGeom prst="rect">
            <a:avLst/>
          </a:prstGeom>
          <a:noFill/>
        </p:spPr>
        <p:txBody>
          <a:bodyPr wrap="square" anchor="t">
            <a:normAutofit/>
          </a:bodyPr>
          <a:lstStyle/>
          <a:p>
            <a:pPr algn="l"/>
            <a:r>
              <a:rPr sz="1200" b="0" i="0">
                <a:solidFill>
                  <a:srgbClr val="7A7A7A"/>
                </a:solidFill>
                <a:latin typeface="Arial"/>
              </a:rPr>
              <a:t>Project Management Proposal  ·  Prepared for Corum A.M.  ·  July 2026</a:t>
            </a:r>
          </a:p>
        </p:txBody>
      </p:sp>
      <p:sp>
        <p:nvSpPr>
          <p:cNvPr id="8" name="Rectangle 7"/>
          <p:cNvSpPr/>
          <p:nvPr/>
        </p:nvSpPr>
        <p:spPr>
          <a:xfrm>
            <a:off x="10241280" y="5806440"/>
            <a:ext cx="1691640" cy="713232"/>
          </a:xfrm>
          <a:prstGeom prst="rect">
            <a:avLst/>
          </a:prstGeom>
          <a:solidFill>
            <a:srgbClr val="F3F3F3"/>
          </a:solidFill>
          <a:ln w="6350">
            <a:solidFill>
              <a:srgbClr val="E2E2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241280" y="5989320"/>
            <a:ext cx="1691640" cy="365760"/>
          </a:xfrm>
          <a:prstGeom prst="rect">
            <a:avLst/>
          </a:prstGeom>
          <a:noFill/>
        </p:spPr>
        <p:txBody>
          <a:bodyPr wrap="square" anchor="t">
            <a:normAutofit/>
          </a:bodyPr>
          <a:lstStyle/>
          <a:p>
            <a:pPr algn="ctr"/>
            <a:r>
              <a:rPr sz="1000" b="0" i="0">
                <a:solidFill>
                  <a:srgbClr val="7A7A7A"/>
                </a:solidFill>
                <a:latin typeface="Arial"/>
              </a:rPr>
              <a:t>[C&amp;W LOGO]</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4592" cy="6858000"/>
          </a:xfrm>
          <a:prstGeom prst="rect">
            <a:avLst/>
          </a:prstGeom>
          <a:solidFill>
            <a:srgbClr val="C3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219456"/>
            <a:ext cx="10058400" cy="274320"/>
          </a:xfrm>
          <a:prstGeom prst="rect">
            <a:avLst/>
          </a:prstGeom>
          <a:noFill/>
        </p:spPr>
        <p:txBody>
          <a:bodyPr wrap="square" anchor="t">
            <a:normAutofit/>
          </a:bodyPr>
          <a:lstStyle/>
          <a:p>
            <a:pPr algn="l"/>
            <a:r>
              <a:rPr sz="1000" b="1" i="0">
                <a:solidFill>
                  <a:srgbClr val="C3002B"/>
                </a:solidFill>
                <a:latin typeface="Arial"/>
              </a:rPr>
              <a:t>EXECUTIVE SUMMARY — THE PROPOSAL ON ONE PAGE</a:t>
            </a:r>
          </a:p>
        </p:txBody>
      </p:sp>
      <p:sp>
        <p:nvSpPr>
          <p:cNvPr id="4" name="TextBox 3"/>
          <p:cNvSpPr txBox="1"/>
          <p:nvPr/>
        </p:nvSpPr>
        <p:spPr>
          <a:xfrm>
            <a:off x="411480" y="457200"/>
            <a:ext cx="11155680" cy="868680"/>
          </a:xfrm>
          <a:prstGeom prst="rect">
            <a:avLst/>
          </a:prstGeom>
          <a:noFill/>
        </p:spPr>
        <p:txBody>
          <a:bodyPr wrap="square" anchor="t">
            <a:normAutofit/>
          </a:bodyPr>
          <a:lstStyle/>
          <a:p>
            <a:pPr algn="l"/>
            <a:r>
              <a:rPr sz="2300" b="1" i="0">
                <a:solidFill>
                  <a:srgbClr val="1C1C1C"/>
                </a:solidFill>
                <a:latin typeface="Arial"/>
              </a:rPr>
              <a:t>Appoint C&amp;W as your single point of control: we deliver Paris Proof</a:t>
            </a:r>
          </a:p>
          <a:p>
            <a:pPr algn="l"/>
            <a:r>
              <a:rPr sz="2300" b="1" i="0">
                <a:solidFill>
                  <a:srgbClr val="1C1C1C"/>
                </a:solidFill>
                <a:latin typeface="Arial"/>
              </a:rPr>
              <a:t>with PwC fully aware and aligned — you decide, we deliver</a:t>
            </a:r>
          </a:p>
        </p:txBody>
      </p:sp>
      <p:sp>
        <p:nvSpPr>
          <p:cNvPr id="5" name="TextBox 4"/>
          <p:cNvSpPr txBox="1"/>
          <p:nvPr/>
        </p:nvSpPr>
        <p:spPr>
          <a:xfrm>
            <a:off x="411480" y="6446520"/>
            <a:ext cx="5486400" cy="274320"/>
          </a:xfrm>
          <a:prstGeom prst="rect">
            <a:avLst/>
          </a:prstGeom>
          <a:noFill/>
        </p:spPr>
        <p:txBody>
          <a:bodyPr wrap="square" anchor="t">
            <a:normAutofit/>
          </a:bodyPr>
          <a:lstStyle/>
          <a:p>
            <a:pPr algn="l"/>
            <a:r>
              <a:rPr sz="800" b="0" i="0">
                <a:solidFill>
                  <a:srgbClr val="7A7A7A"/>
                </a:solidFill>
                <a:latin typeface="Arial"/>
              </a:rPr>
              <a:t>CUSHMAN &amp; WAKEFIELD  |  CORUM A.M.  ·  WESTGATE I</a:t>
            </a:r>
          </a:p>
        </p:txBody>
      </p:sp>
      <p:sp>
        <p:nvSpPr>
          <p:cNvPr id="6" name="TextBox 5"/>
          <p:cNvSpPr txBox="1"/>
          <p:nvPr/>
        </p:nvSpPr>
        <p:spPr>
          <a:xfrm>
            <a:off x="11475720" y="6446520"/>
            <a:ext cx="502920" cy="274320"/>
          </a:xfrm>
          <a:prstGeom prst="rect">
            <a:avLst/>
          </a:prstGeom>
          <a:noFill/>
        </p:spPr>
        <p:txBody>
          <a:bodyPr wrap="square" anchor="t">
            <a:normAutofit/>
          </a:bodyPr>
          <a:lstStyle/>
          <a:p>
            <a:pPr algn="r"/>
            <a:r>
              <a:rPr sz="1000" b="0" i="0">
                <a:solidFill>
                  <a:srgbClr val="7A7A7A"/>
                </a:solidFill>
                <a:latin typeface="Arial"/>
              </a:rPr>
              <a:t>2</a:t>
            </a:r>
          </a:p>
        </p:txBody>
      </p:sp>
      <p:sp>
        <p:nvSpPr>
          <p:cNvPr id="7" name="Rounded Rectangle 6"/>
          <p:cNvSpPr/>
          <p:nvPr/>
        </p:nvSpPr>
        <p:spPr>
          <a:xfrm>
            <a:off x="7726679" y="6419088"/>
            <a:ext cx="3657600" cy="292608"/>
          </a:xfrm>
          <a:prstGeom prst="roundRect">
            <a:avLst/>
          </a:prstGeom>
          <a:solidFill>
            <a:srgbClr val="C3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26679" y="6455664"/>
            <a:ext cx="3657600" cy="237744"/>
          </a:xfrm>
          <a:prstGeom prst="rect">
            <a:avLst/>
          </a:prstGeom>
          <a:noFill/>
        </p:spPr>
        <p:txBody>
          <a:bodyPr wrap="square" anchor="t">
            <a:normAutofit/>
          </a:bodyPr>
          <a:lstStyle/>
          <a:p>
            <a:pPr algn="ctr"/>
            <a:r>
              <a:rPr sz="800" b="1" i="0">
                <a:solidFill>
                  <a:srgbClr val="FFFFFF"/>
                </a:solidFill>
                <a:latin typeface="Arial"/>
              </a:rPr>
              <a:t>CORUM DECIDES  ·  C&amp;W DELIVERS  ·  PwC ALIGNED</a:t>
            </a:r>
          </a:p>
        </p:txBody>
      </p:sp>
      <p:sp>
        <p:nvSpPr>
          <p:cNvPr id="9" name="Rectangle 8"/>
          <p:cNvSpPr/>
          <p:nvPr/>
        </p:nvSpPr>
        <p:spPr>
          <a:xfrm>
            <a:off x="411480" y="1600200"/>
            <a:ext cx="2103120" cy="932688"/>
          </a:xfrm>
          <a:prstGeom prst="rect">
            <a:avLst/>
          </a:prstGeom>
          <a:solidFill>
            <a:srgbClr val="1C1C1C"/>
          </a:solidFill>
          <a:ln w="6350">
            <a:solidFill>
              <a:srgbClr val="E2E2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11480" y="1673352"/>
            <a:ext cx="2103120" cy="457200"/>
          </a:xfrm>
          <a:prstGeom prst="rect">
            <a:avLst/>
          </a:prstGeom>
          <a:noFill/>
        </p:spPr>
        <p:txBody>
          <a:bodyPr wrap="square" anchor="ctr">
            <a:normAutofit/>
          </a:bodyPr>
          <a:lstStyle/>
          <a:p>
            <a:pPr algn="ctr"/>
            <a:r>
              <a:rPr sz="1300" b="1" i="0">
                <a:solidFill>
                  <a:srgbClr val="FFFFFF"/>
                </a:solidFill>
                <a:latin typeface="Arial"/>
              </a:rPr>
              <a:t>SITUATION</a:t>
            </a:r>
          </a:p>
        </p:txBody>
      </p:sp>
      <p:sp>
        <p:nvSpPr>
          <p:cNvPr id="11" name="Rectangle 10"/>
          <p:cNvSpPr/>
          <p:nvPr/>
        </p:nvSpPr>
        <p:spPr>
          <a:xfrm>
            <a:off x="2560320" y="1600200"/>
            <a:ext cx="9189720" cy="932688"/>
          </a:xfrm>
          <a:prstGeom prst="rect">
            <a:avLst/>
          </a:prstGeom>
          <a:solidFill>
            <a:srgbClr val="F3F3F3"/>
          </a:solidFill>
          <a:ln w="9525">
            <a:solidFill>
              <a:srgbClr val="7A7A7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743200" y="1691640"/>
            <a:ext cx="8869680" cy="749808"/>
          </a:xfrm>
          <a:prstGeom prst="rect">
            <a:avLst/>
          </a:prstGeom>
          <a:noFill/>
        </p:spPr>
        <p:txBody>
          <a:bodyPr wrap="square" anchor="ctr">
            <a:normAutofit/>
          </a:bodyPr>
          <a:lstStyle/>
          <a:p>
            <a:pPr algn="l"/>
            <a:r>
              <a:rPr sz="1150" b="0" i="0">
                <a:solidFill>
                  <a:srgbClr val="1C1C1C"/>
                </a:solidFill>
                <a:latin typeface="Arial"/>
              </a:rPr>
              <a:t>Corum owns Westgate I — a prime 27,000 m² Amsterdam office, fully let to PwC — and has committed to make the building Paris Proof. This is a binding contractual obligation, not an ambition.</a:t>
            </a:r>
          </a:p>
        </p:txBody>
      </p:sp>
      <p:sp>
        <p:nvSpPr>
          <p:cNvPr id="13" name="Rectangle 12"/>
          <p:cNvSpPr/>
          <p:nvPr/>
        </p:nvSpPr>
        <p:spPr>
          <a:xfrm>
            <a:off x="411480" y="2642616"/>
            <a:ext cx="2103120" cy="1170432"/>
          </a:xfrm>
          <a:prstGeom prst="rect">
            <a:avLst/>
          </a:prstGeom>
          <a:solidFill>
            <a:srgbClr val="1C1C1C"/>
          </a:solidFill>
          <a:ln w="6350">
            <a:solidFill>
              <a:srgbClr val="E2E2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11480" y="2715768"/>
            <a:ext cx="2103120" cy="457200"/>
          </a:xfrm>
          <a:prstGeom prst="rect">
            <a:avLst/>
          </a:prstGeom>
          <a:noFill/>
        </p:spPr>
        <p:txBody>
          <a:bodyPr wrap="square" anchor="ctr">
            <a:normAutofit/>
          </a:bodyPr>
          <a:lstStyle/>
          <a:p>
            <a:pPr algn="ctr"/>
            <a:r>
              <a:rPr sz="1300" b="1" i="0">
                <a:solidFill>
                  <a:srgbClr val="FFFFFF"/>
                </a:solidFill>
                <a:latin typeface="Arial"/>
              </a:rPr>
              <a:t>COMPLICATION</a:t>
            </a:r>
          </a:p>
        </p:txBody>
      </p:sp>
      <p:sp>
        <p:nvSpPr>
          <p:cNvPr id="15" name="Rectangle 14"/>
          <p:cNvSpPr/>
          <p:nvPr/>
        </p:nvSpPr>
        <p:spPr>
          <a:xfrm>
            <a:off x="2560320" y="2642616"/>
            <a:ext cx="9189720" cy="1170432"/>
          </a:xfrm>
          <a:prstGeom prst="rect">
            <a:avLst/>
          </a:prstGeom>
          <a:solidFill>
            <a:srgbClr val="F3F3F3"/>
          </a:solidFill>
          <a:ln w="9525">
            <a:solidFill>
              <a:srgbClr val="7A7A7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743200" y="2734056"/>
            <a:ext cx="8869680" cy="987552"/>
          </a:xfrm>
          <a:prstGeom prst="rect">
            <a:avLst/>
          </a:prstGeom>
          <a:noFill/>
        </p:spPr>
        <p:txBody>
          <a:bodyPr wrap="square" anchor="ctr">
            <a:normAutofit/>
          </a:bodyPr>
          <a:lstStyle/>
          <a:p>
            <a:pPr algn="l"/>
            <a:r>
              <a:rPr sz="1150" b="0" i="0">
                <a:solidFill>
                  <a:srgbClr val="1C1C1C"/>
                </a:solidFill>
                <a:latin typeface="Arial"/>
              </a:rPr>
              <a:t>The upgrade must happen inside a live, occupied building without losing PwC's confidence, within a fixed budget and against a hard sustainability deadline — while being steered from a distance by an owner whose core business is investment, not Dutch construction management.</a:t>
            </a:r>
          </a:p>
        </p:txBody>
      </p:sp>
      <p:sp>
        <p:nvSpPr>
          <p:cNvPr id="17" name="Rectangle 16"/>
          <p:cNvSpPr/>
          <p:nvPr/>
        </p:nvSpPr>
        <p:spPr>
          <a:xfrm>
            <a:off x="411480" y="3922776"/>
            <a:ext cx="2103120" cy="932688"/>
          </a:xfrm>
          <a:prstGeom prst="rect">
            <a:avLst/>
          </a:prstGeom>
          <a:solidFill>
            <a:srgbClr val="C3002B"/>
          </a:solidFill>
          <a:ln w="6350">
            <a:solidFill>
              <a:srgbClr val="E2E2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11480" y="3995928"/>
            <a:ext cx="2103120" cy="457200"/>
          </a:xfrm>
          <a:prstGeom prst="rect">
            <a:avLst/>
          </a:prstGeom>
          <a:noFill/>
        </p:spPr>
        <p:txBody>
          <a:bodyPr wrap="square" anchor="ctr">
            <a:normAutofit/>
          </a:bodyPr>
          <a:lstStyle/>
          <a:p>
            <a:pPr algn="ctr"/>
            <a:r>
              <a:rPr sz="1300" b="1" i="0">
                <a:solidFill>
                  <a:srgbClr val="FFFFFF"/>
                </a:solidFill>
                <a:latin typeface="Arial"/>
              </a:rPr>
              <a:t>QUESTION</a:t>
            </a:r>
          </a:p>
        </p:txBody>
      </p:sp>
      <p:sp>
        <p:nvSpPr>
          <p:cNvPr id="19" name="Rectangle 18"/>
          <p:cNvSpPr/>
          <p:nvPr/>
        </p:nvSpPr>
        <p:spPr>
          <a:xfrm>
            <a:off x="2560320" y="3922776"/>
            <a:ext cx="9189720" cy="932688"/>
          </a:xfrm>
          <a:prstGeom prst="rect">
            <a:avLst/>
          </a:prstGeom>
          <a:solidFill>
            <a:srgbClr val="FFFFFF"/>
          </a:solidFill>
          <a:ln w="9525">
            <a:solidFill>
              <a:srgbClr val="C300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743200" y="4014216"/>
            <a:ext cx="8869680" cy="749808"/>
          </a:xfrm>
          <a:prstGeom prst="rect">
            <a:avLst/>
          </a:prstGeom>
          <a:noFill/>
        </p:spPr>
        <p:txBody>
          <a:bodyPr wrap="square" anchor="ctr">
            <a:normAutofit/>
          </a:bodyPr>
          <a:lstStyle/>
          <a:p>
            <a:pPr algn="l"/>
            <a:r>
              <a:rPr sz="1150" b="1" i="0">
                <a:solidFill>
                  <a:srgbClr val="1C1C1C"/>
                </a:solidFill>
                <a:latin typeface="Arial"/>
              </a:rPr>
              <a:t>How does Corum deliver Paris Proof and protect both the PwC tenancy and the asset's value, without being pulled into day-to-day tenant and project management in the Netherlands?</a:t>
            </a:r>
          </a:p>
        </p:txBody>
      </p:sp>
      <p:sp>
        <p:nvSpPr>
          <p:cNvPr id="21" name="Rectangle 20"/>
          <p:cNvSpPr/>
          <p:nvPr/>
        </p:nvSpPr>
        <p:spPr>
          <a:xfrm>
            <a:off x="411480" y="4965192"/>
            <a:ext cx="2103120" cy="1170432"/>
          </a:xfrm>
          <a:prstGeom prst="rect">
            <a:avLst/>
          </a:prstGeom>
          <a:solidFill>
            <a:srgbClr val="C3002B"/>
          </a:solidFill>
          <a:ln w="6350">
            <a:solidFill>
              <a:srgbClr val="E2E2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11480" y="5038344"/>
            <a:ext cx="2103120" cy="457200"/>
          </a:xfrm>
          <a:prstGeom prst="rect">
            <a:avLst/>
          </a:prstGeom>
          <a:noFill/>
        </p:spPr>
        <p:txBody>
          <a:bodyPr wrap="square" anchor="ctr">
            <a:normAutofit/>
          </a:bodyPr>
          <a:lstStyle/>
          <a:p>
            <a:pPr algn="ctr"/>
            <a:r>
              <a:rPr sz="1300" b="1" i="0">
                <a:solidFill>
                  <a:srgbClr val="FFFFFF"/>
                </a:solidFill>
                <a:latin typeface="Arial"/>
              </a:rPr>
              <a:t>ANSWER</a:t>
            </a:r>
          </a:p>
        </p:txBody>
      </p:sp>
      <p:sp>
        <p:nvSpPr>
          <p:cNvPr id="23" name="Rectangle 22"/>
          <p:cNvSpPr/>
          <p:nvPr/>
        </p:nvSpPr>
        <p:spPr>
          <a:xfrm>
            <a:off x="2560320" y="4965192"/>
            <a:ext cx="9189720" cy="1170432"/>
          </a:xfrm>
          <a:prstGeom prst="rect">
            <a:avLst/>
          </a:prstGeom>
          <a:solidFill>
            <a:srgbClr val="FFFFFF"/>
          </a:solidFill>
          <a:ln w="9525">
            <a:solidFill>
              <a:srgbClr val="C300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2743200" y="5056632"/>
            <a:ext cx="8869680" cy="987552"/>
          </a:xfrm>
          <a:prstGeom prst="rect">
            <a:avLst/>
          </a:prstGeom>
          <a:noFill/>
        </p:spPr>
        <p:txBody>
          <a:bodyPr wrap="square" anchor="ctr">
            <a:normAutofit/>
          </a:bodyPr>
          <a:lstStyle/>
          <a:p>
            <a:pPr algn="l"/>
            <a:r>
              <a:rPr sz="1150" b="1" i="0">
                <a:solidFill>
                  <a:srgbClr val="1C1C1C"/>
                </a:solidFill>
                <a:latin typeface="Arial"/>
              </a:rPr>
              <a:t>Appoint Cushman &amp; Wakefield as your single point of control. We deliver the Paris Proof transformation end-to-end and keep PwC fully aware and aligned throughout — from a low-commitment preparatory phase to verified handover. One contact, one report, no surprises.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4592" cy="6858000"/>
          </a:xfrm>
          <a:prstGeom prst="rect">
            <a:avLst/>
          </a:prstGeom>
          <a:solidFill>
            <a:srgbClr val="C3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219456"/>
            <a:ext cx="10058400" cy="274320"/>
          </a:xfrm>
          <a:prstGeom prst="rect">
            <a:avLst/>
          </a:prstGeom>
          <a:noFill/>
        </p:spPr>
        <p:txBody>
          <a:bodyPr wrap="square" anchor="t">
            <a:normAutofit/>
          </a:bodyPr>
          <a:lstStyle/>
          <a:p>
            <a:pPr algn="l"/>
            <a:r>
              <a:rPr sz="1000" b="1" i="0">
                <a:solidFill>
                  <a:srgbClr val="C3002B"/>
                </a:solidFill>
                <a:latin typeface="Arial"/>
              </a:rPr>
              <a:t>CONTENTS</a:t>
            </a:r>
          </a:p>
        </p:txBody>
      </p:sp>
      <p:sp>
        <p:nvSpPr>
          <p:cNvPr id="4" name="TextBox 3"/>
          <p:cNvSpPr txBox="1"/>
          <p:nvPr/>
        </p:nvSpPr>
        <p:spPr>
          <a:xfrm>
            <a:off x="411480" y="457200"/>
            <a:ext cx="11155680" cy="868680"/>
          </a:xfrm>
          <a:prstGeom prst="rect">
            <a:avLst/>
          </a:prstGeom>
          <a:noFill/>
        </p:spPr>
        <p:txBody>
          <a:bodyPr wrap="square" anchor="t">
            <a:normAutofit/>
          </a:bodyPr>
          <a:lstStyle/>
          <a:p>
            <a:pPr algn="l"/>
            <a:r>
              <a:rPr sz="2300" b="1" i="0">
                <a:solidFill>
                  <a:srgbClr val="1C1C1C"/>
                </a:solidFill>
                <a:latin typeface="Arial"/>
              </a:rPr>
              <a:t>How this proposal is built</a:t>
            </a:r>
          </a:p>
        </p:txBody>
      </p:sp>
      <p:sp>
        <p:nvSpPr>
          <p:cNvPr id="5" name="TextBox 4"/>
          <p:cNvSpPr txBox="1"/>
          <p:nvPr/>
        </p:nvSpPr>
        <p:spPr>
          <a:xfrm>
            <a:off x="411480" y="6446520"/>
            <a:ext cx="5486400" cy="274320"/>
          </a:xfrm>
          <a:prstGeom prst="rect">
            <a:avLst/>
          </a:prstGeom>
          <a:noFill/>
        </p:spPr>
        <p:txBody>
          <a:bodyPr wrap="square" anchor="t">
            <a:normAutofit/>
          </a:bodyPr>
          <a:lstStyle/>
          <a:p>
            <a:pPr algn="l"/>
            <a:r>
              <a:rPr sz="800" b="0" i="0">
                <a:solidFill>
                  <a:srgbClr val="7A7A7A"/>
                </a:solidFill>
                <a:latin typeface="Arial"/>
              </a:rPr>
              <a:t>CUSHMAN &amp; WAKEFIELD  |  CORUM A.M.  ·  WESTGATE I</a:t>
            </a:r>
          </a:p>
        </p:txBody>
      </p:sp>
      <p:sp>
        <p:nvSpPr>
          <p:cNvPr id="6" name="TextBox 5"/>
          <p:cNvSpPr txBox="1"/>
          <p:nvPr/>
        </p:nvSpPr>
        <p:spPr>
          <a:xfrm>
            <a:off x="11475720" y="6446520"/>
            <a:ext cx="502920" cy="274320"/>
          </a:xfrm>
          <a:prstGeom prst="rect">
            <a:avLst/>
          </a:prstGeom>
          <a:noFill/>
        </p:spPr>
        <p:txBody>
          <a:bodyPr wrap="square" anchor="t">
            <a:normAutofit/>
          </a:bodyPr>
          <a:lstStyle/>
          <a:p>
            <a:pPr algn="r"/>
            <a:r>
              <a:rPr sz="1000" b="0" i="0">
                <a:solidFill>
                  <a:srgbClr val="7A7A7A"/>
                </a:solidFill>
                <a:latin typeface="Arial"/>
              </a:rPr>
              <a:t>3</a:t>
            </a:r>
          </a:p>
        </p:txBody>
      </p:sp>
      <p:sp>
        <p:nvSpPr>
          <p:cNvPr id="7" name="Rounded Rectangle 6"/>
          <p:cNvSpPr/>
          <p:nvPr/>
        </p:nvSpPr>
        <p:spPr>
          <a:xfrm>
            <a:off x="7726679" y="6419088"/>
            <a:ext cx="3657600" cy="292608"/>
          </a:xfrm>
          <a:prstGeom prst="roundRect">
            <a:avLst/>
          </a:prstGeom>
          <a:solidFill>
            <a:srgbClr val="C3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26679" y="6455664"/>
            <a:ext cx="3657600" cy="237744"/>
          </a:xfrm>
          <a:prstGeom prst="rect">
            <a:avLst/>
          </a:prstGeom>
          <a:noFill/>
        </p:spPr>
        <p:txBody>
          <a:bodyPr wrap="square" anchor="t">
            <a:normAutofit/>
          </a:bodyPr>
          <a:lstStyle/>
          <a:p>
            <a:pPr algn="ctr"/>
            <a:r>
              <a:rPr sz="800" b="1" i="0">
                <a:solidFill>
                  <a:srgbClr val="FFFFFF"/>
                </a:solidFill>
                <a:latin typeface="Arial"/>
              </a:rPr>
              <a:t>CORUM DECIDES  ·  C&amp;W DELIVERS  ·  PwC ALIGNED</a:t>
            </a:r>
          </a:p>
        </p:txBody>
      </p:sp>
      <p:sp>
        <p:nvSpPr>
          <p:cNvPr id="9" name="Rectangle 8"/>
          <p:cNvSpPr/>
          <p:nvPr/>
        </p:nvSpPr>
        <p:spPr>
          <a:xfrm>
            <a:off x="457200" y="1737360"/>
            <a:ext cx="1810512" cy="3931920"/>
          </a:xfrm>
          <a:prstGeom prst="rect">
            <a:avLst/>
          </a:prstGeom>
          <a:solidFill>
            <a:srgbClr val="F3F3F3"/>
          </a:solidFill>
          <a:ln w="6350">
            <a:solidFill>
              <a:srgbClr val="E2E2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66928" y="1920240"/>
            <a:ext cx="1591056" cy="548640"/>
          </a:xfrm>
          <a:prstGeom prst="rect">
            <a:avLst/>
          </a:prstGeom>
          <a:noFill/>
        </p:spPr>
        <p:txBody>
          <a:bodyPr wrap="square" anchor="t">
            <a:normAutofit/>
          </a:bodyPr>
          <a:lstStyle/>
          <a:p>
            <a:pPr algn="l"/>
            <a:r>
              <a:rPr sz="2600" b="1" i="0">
                <a:solidFill>
                  <a:srgbClr val="C3002B"/>
                </a:solidFill>
                <a:latin typeface="Arial"/>
              </a:rPr>
              <a:t>01</a:t>
            </a:r>
          </a:p>
        </p:txBody>
      </p:sp>
      <p:sp>
        <p:nvSpPr>
          <p:cNvPr id="11" name="TextBox 10"/>
          <p:cNvSpPr txBox="1"/>
          <p:nvPr/>
        </p:nvSpPr>
        <p:spPr>
          <a:xfrm>
            <a:off x="566928" y="2606040"/>
            <a:ext cx="1591056" cy="1188720"/>
          </a:xfrm>
          <a:prstGeom prst="rect">
            <a:avLst/>
          </a:prstGeom>
          <a:noFill/>
        </p:spPr>
        <p:txBody>
          <a:bodyPr wrap="square" anchor="t">
            <a:normAutofit/>
          </a:bodyPr>
          <a:lstStyle/>
          <a:p>
            <a:pPr algn="l"/>
            <a:r>
              <a:rPr sz="1200" b="1" i="0">
                <a:solidFill>
                  <a:srgbClr val="1C1C1C"/>
                </a:solidFill>
                <a:latin typeface="Arial"/>
              </a:rPr>
              <a:t>THE CASE FOR ACTION</a:t>
            </a:r>
          </a:p>
        </p:txBody>
      </p:sp>
      <p:sp>
        <p:nvSpPr>
          <p:cNvPr id="12" name="TextBox 11"/>
          <p:cNvSpPr txBox="1"/>
          <p:nvPr/>
        </p:nvSpPr>
        <p:spPr>
          <a:xfrm>
            <a:off x="566928" y="3840480"/>
            <a:ext cx="1591056" cy="1737360"/>
          </a:xfrm>
          <a:prstGeom prst="rect">
            <a:avLst/>
          </a:prstGeom>
          <a:noFill/>
        </p:spPr>
        <p:txBody>
          <a:bodyPr wrap="square" anchor="t">
            <a:normAutofit/>
          </a:bodyPr>
          <a:lstStyle/>
          <a:p>
            <a:pPr algn="l"/>
            <a:r>
              <a:rPr sz="950" b="0" i="0">
                <a:solidFill>
                  <a:srgbClr val="7A7A7A"/>
                </a:solidFill>
                <a:latin typeface="Arial"/>
              </a:rPr>
              <a:t>Situation, complication</a:t>
            </a:r>
          </a:p>
          <a:p>
            <a:pPr algn="l"/>
            <a:r>
              <a:rPr sz="950" b="0" i="0">
                <a:solidFill>
                  <a:srgbClr val="7A7A7A"/>
                </a:solidFill>
                <a:latin typeface="Arial"/>
              </a:rPr>
              <a:t>&amp; our governing answer</a:t>
            </a:r>
          </a:p>
        </p:txBody>
      </p:sp>
      <p:sp>
        <p:nvSpPr>
          <p:cNvPr id="13" name="Rectangle 12"/>
          <p:cNvSpPr/>
          <p:nvPr/>
        </p:nvSpPr>
        <p:spPr>
          <a:xfrm>
            <a:off x="2359152" y="1737360"/>
            <a:ext cx="1810512" cy="3931920"/>
          </a:xfrm>
          <a:prstGeom prst="rect">
            <a:avLst/>
          </a:prstGeom>
          <a:solidFill>
            <a:srgbClr val="F3F3F3"/>
          </a:solidFill>
          <a:ln w="6350">
            <a:solidFill>
              <a:srgbClr val="E2E2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468880" y="1920240"/>
            <a:ext cx="1591056" cy="548640"/>
          </a:xfrm>
          <a:prstGeom prst="rect">
            <a:avLst/>
          </a:prstGeom>
          <a:noFill/>
        </p:spPr>
        <p:txBody>
          <a:bodyPr wrap="square" anchor="t">
            <a:normAutofit/>
          </a:bodyPr>
          <a:lstStyle/>
          <a:p>
            <a:pPr algn="l"/>
            <a:r>
              <a:rPr sz="2600" b="1" i="0">
                <a:solidFill>
                  <a:srgbClr val="C3002B"/>
                </a:solidFill>
                <a:latin typeface="Arial"/>
              </a:rPr>
              <a:t>02</a:t>
            </a:r>
          </a:p>
        </p:txBody>
      </p:sp>
      <p:sp>
        <p:nvSpPr>
          <p:cNvPr id="15" name="TextBox 14"/>
          <p:cNvSpPr txBox="1"/>
          <p:nvPr/>
        </p:nvSpPr>
        <p:spPr>
          <a:xfrm>
            <a:off x="2468880" y="2606040"/>
            <a:ext cx="1591056" cy="1188720"/>
          </a:xfrm>
          <a:prstGeom prst="rect">
            <a:avLst/>
          </a:prstGeom>
          <a:noFill/>
        </p:spPr>
        <p:txBody>
          <a:bodyPr wrap="square" anchor="t">
            <a:normAutofit/>
          </a:bodyPr>
          <a:lstStyle/>
          <a:p>
            <a:pPr algn="l"/>
            <a:r>
              <a:rPr sz="1200" b="1" i="0">
                <a:solidFill>
                  <a:srgbClr val="1C1C1C"/>
                </a:solidFill>
                <a:latin typeface="Arial"/>
              </a:rPr>
              <a:t>WHAT WE TAKE</a:t>
            </a:r>
          </a:p>
          <a:p>
            <a:pPr algn="l"/>
            <a:r>
              <a:rPr sz="1200" b="1" i="0">
                <a:solidFill>
                  <a:srgbClr val="1C1C1C"/>
                </a:solidFill>
                <a:latin typeface="Arial"/>
              </a:rPr>
              <a:t>OFF YOUR PLATE</a:t>
            </a:r>
          </a:p>
        </p:txBody>
      </p:sp>
      <p:sp>
        <p:nvSpPr>
          <p:cNvPr id="16" name="TextBox 15"/>
          <p:cNvSpPr txBox="1"/>
          <p:nvPr/>
        </p:nvSpPr>
        <p:spPr>
          <a:xfrm>
            <a:off x="2468880" y="3840480"/>
            <a:ext cx="1591056" cy="1737360"/>
          </a:xfrm>
          <a:prstGeom prst="rect">
            <a:avLst/>
          </a:prstGeom>
          <a:noFill/>
        </p:spPr>
        <p:txBody>
          <a:bodyPr wrap="square" anchor="t">
            <a:normAutofit/>
          </a:bodyPr>
          <a:lstStyle/>
          <a:p>
            <a:pPr algn="l"/>
            <a:r>
              <a:rPr sz="950" b="0" i="0">
                <a:solidFill>
                  <a:srgbClr val="7A7A7A"/>
                </a:solidFill>
                <a:latin typeface="Arial"/>
              </a:rPr>
              <a:t>Managing PwC &amp; organizing</a:t>
            </a:r>
          </a:p>
          <a:p>
            <a:pPr algn="l"/>
            <a:r>
              <a:rPr sz="950" b="0" i="0">
                <a:solidFill>
                  <a:srgbClr val="7A7A7A"/>
                </a:solidFill>
                <a:latin typeface="Arial"/>
              </a:rPr>
              <a:t>the Paris Proof works</a:t>
            </a:r>
          </a:p>
        </p:txBody>
      </p:sp>
      <p:sp>
        <p:nvSpPr>
          <p:cNvPr id="17" name="Rectangle 16"/>
          <p:cNvSpPr/>
          <p:nvPr/>
        </p:nvSpPr>
        <p:spPr>
          <a:xfrm>
            <a:off x="4261104" y="1737360"/>
            <a:ext cx="1810512" cy="3931920"/>
          </a:xfrm>
          <a:prstGeom prst="rect">
            <a:avLst/>
          </a:prstGeom>
          <a:solidFill>
            <a:srgbClr val="F3F3F3"/>
          </a:solidFill>
          <a:ln w="6350">
            <a:solidFill>
              <a:srgbClr val="E2E2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370832" y="1920240"/>
            <a:ext cx="1591056" cy="548640"/>
          </a:xfrm>
          <a:prstGeom prst="rect">
            <a:avLst/>
          </a:prstGeom>
          <a:noFill/>
        </p:spPr>
        <p:txBody>
          <a:bodyPr wrap="square" anchor="t">
            <a:normAutofit/>
          </a:bodyPr>
          <a:lstStyle/>
          <a:p>
            <a:pPr algn="l"/>
            <a:r>
              <a:rPr sz="2600" b="1" i="0">
                <a:solidFill>
                  <a:srgbClr val="C3002B"/>
                </a:solidFill>
                <a:latin typeface="Arial"/>
              </a:rPr>
              <a:t>03</a:t>
            </a:r>
          </a:p>
        </p:txBody>
      </p:sp>
      <p:sp>
        <p:nvSpPr>
          <p:cNvPr id="19" name="TextBox 18"/>
          <p:cNvSpPr txBox="1"/>
          <p:nvPr/>
        </p:nvSpPr>
        <p:spPr>
          <a:xfrm>
            <a:off x="4370832" y="2606040"/>
            <a:ext cx="1591056" cy="1188720"/>
          </a:xfrm>
          <a:prstGeom prst="rect">
            <a:avLst/>
          </a:prstGeom>
          <a:noFill/>
        </p:spPr>
        <p:txBody>
          <a:bodyPr wrap="square" anchor="t">
            <a:normAutofit/>
          </a:bodyPr>
          <a:lstStyle/>
          <a:p>
            <a:pPr algn="l"/>
            <a:r>
              <a:rPr sz="1200" b="1" i="0">
                <a:solidFill>
                  <a:srgbClr val="1C1C1C"/>
                </a:solidFill>
                <a:latin typeface="Arial"/>
              </a:rPr>
              <a:t>THE JOURNEY</a:t>
            </a:r>
          </a:p>
        </p:txBody>
      </p:sp>
      <p:sp>
        <p:nvSpPr>
          <p:cNvPr id="20" name="TextBox 19"/>
          <p:cNvSpPr txBox="1"/>
          <p:nvPr/>
        </p:nvSpPr>
        <p:spPr>
          <a:xfrm>
            <a:off x="4370832" y="3840480"/>
            <a:ext cx="1591056" cy="1737360"/>
          </a:xfrm>
          <a:prstGeom prst="rect">
            <a:avLst/>
          </a:prstGeom>
          <a:noFill/>
        </p:spPr>
        <p:txBody>
          <a:bodyPr wrap="square" anchor="t">
            <a:normAutofit/>
          </a:bodyPr>
          <a:lstStyle/>
          <a:p>
            <a:pPr algn="l"/>
            <a:r>
              <a:rPr sz="950" b="0" i="0">
                <a:solidFill>
                  <a:srgbClr val="7A7A7A"/>
                </a:solidFill>
                <a:latin typeface="Arial"/>
              </a:rPr>
              <a:t>Chronological roadmap,</a:t>
            </a:r>
          </a:p>
          <a:p>
            <a:pPr algn="l"/>
            <a:r>
              <a:rPr sz="950" b="0" i="0">
                <a:solidFill>
                  <a:srgbClr val="7A7A7A"/>
                </a:solidFill>
                <a:latin typeface="Arial"/>
              </a:rPr>
              <a:t>phasing &amp; planning</a:t>
            </a:r>
          </a:p>
        </p:txBody>
      </p:sp>
      <p:sp>
        <p:nvSpPr>
          <p:cNvPr id="21" name="Rectangle 20"/>
          <p:cNvSpPr/>
          <p:nvPr/>
        </p:nvSpPr>
        <p:spPr>
          <a:xfrm>
            <a:off x="6163056" y="1737360"/>
            <a:ext cx="1810512" cy="3931920"/>
          </a:xfrm>
          <a:prstGeom prst="rect">
            <a:avLst/>
          </a:prstGeom>
          <a:solidFill>
            <a:srgbClr val="F3F3F3"/>
          </a:solidFill>
          <a:ln w="6350">
            <a:solidFill>
              <a:srgbClr val="E2E2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272784" y="1920240"/>
            <a:ext cx="1591056" cy="548640"/>
          </a:xfrm>
          <a:prstGeom prst="rect">
            <a:avLst/>
          </a:prstGeom>
          <a:noFill/>
        </p:spPr>
        <p:txBody>
          <a:bodyPr wrap="square" anchor="t">
            <a:normAutofit/>
          </a:bodyPr>
          <a:lstStyle/>
          <a:p>
            <a:pPr algn="l"/>
            <a:r>
              <a:rPr sz="2600" b="1" i="0">
                <a:solidFill>
                  <a:srgbClr val="C3002B"/>
                </a:solidFill>
                <a:latin typeface="Arial"/>
              </a:rPr>
              <a:t>04</a:t>
            </a:r>
          </a:p>
        </p:txBody>
      </p:sp>
      <p:sp>
        <p:nvSpPr>
          <p:cNvPr id="23" name="TextBox 22"/>
          <p:cNvSpPr txBox="1"/>
          <p:nvPr/>
        </p:nvSpPr>
        <p:spPr>
          <a:xfrm>
            <a:off x="6272784" y="2606040"/>
            <a:ext cx="1591056" cy="1188720"/>
          </a:xfrm>
          <a:prstGeom prst="rect">
            <a:avLst/>
          </a:prstGeom>
          <a:noFill/>
        </p:spPr>
        <p:txBody>
          <a:bodyPr wrap="square" anchor="t">
            <a:normAutofit/>
          </a:bodyPr>
          <a:lstStyle/>
          <a:p>
            <a:pPr algn="l"/>
            <a:r>
              <a:rPr sz="1200" b="1" i="0">
                <a:solidFill>
                  <a:srgbClr val="1C1C1C"/>
                </a:solidFill>
                <a:latin typeface="Arial"/>
              </a:rPr>
              <a:t>HOW WE STAY</a:t>
            </a:r>
          </a:p>
          <a:p>
            <a:pPr algn="l"/>
            <a:r>
              <a:rPr sz="1200" b="1" i="0">
                <a:solidFill>
                  <a:srgbClr val="1C1C1C"/>
                </a:solidFill>
                <a:latin typeface="Arial"/>
              </a:rPr>
              <a:t>IN CONTROL</a:t>
            </a:r>
          </a:p>
        </p:txBody>
      </p:sp>
      <p:sp>
        <p:nvSpPr>
          <p:cNvPr id="24" name="TextBox 23"/>
          <p:cNvSpPr txBox="1"/>
          <p:nvPr/>
        </p:nvSpPr>
        <p:spPr>
          <a:xfrm>
            <a:off x="6272784" y="3840480"/>
            <a:ext cx="1591056" cy="1737360"/>
          </a:xfrm>
          <a:prstGeom prst="rect">
            <a:avLst/>
          </a:prstGeom>
          <a:noFill/>
        </p:spPr>
        <p:txBody>
          <a:bodyPr wrap="square" anchor="t">
            <a:normAutofit/>
          </a:bodyPr>
          <a:lstStyle/>
          <a:p>
            <a:pPr algn="l"/>
            <a:r>
              <a:rPr sz="950" b="0" i="0">
                <a:solidFill>
                  <a:srgbClr val="7A7A7A"/>
                </a:solidFill>
                <a:latin typeface="Arial"/>
              </a:rPr>
              <a:t>Organisation, governance,</a:t>
            </a:r>
          </a:p>
          <a:p>
            <a:pPr algn="l"/>
            <a:r>
              <a:rPr sz="950" b="0" i="0">
                <a:solidFill>
                  <a:srgbClr val="7A7A7A"/>
                </a:solidFill>
                <a:latin typeface="Arial"/>
              </a:rPr>
              <a:t>reporting &amp; risk</a:t>
            </a:r>
          </a:p>
        </p:txBody>
      </p:sp>
      <p:sp>
        <p:nvSpPr>
          <p:cNvPr id="25" name="Rectangle 24"/>
          <p:cNvSpPr/>
          <p:nvPr/>
        </p:nvSpPr>
        <p:spPr>
          <a:xfrm>
            <a:off x="8065008" y="1737360"/>
            <a:ext cx="1810512" cy="3931920"/>
          </a:xfrm>
          <a:prstGeom prst="rect">
            <a:avLst/>
          </a:prstGeom>
          <a:solidFill>
            <a:srgbClr val="F3F3F3"/>
          </a:solidFill>
          <a:ln w="6350">
            <a:solidFill>
              <a:srgbClr val="E2E2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174736" y="1920240"/>
            <a:ext cx="1591056" cy="548640"/>
          </a:xfrm>
          <a:prstGeom prst="rect">
            <a:avLst/>
          </a:prstGeom>
          <a:noFill/>
        </p:spPr>
        <p:txBody>
          <a:bodyPr wrap="square" anchor="t">
            <a:normAutofit/>
          </a:bodyPr>
          <a:lstStyle/>
          <a:p>
            <a:pPr algn="l"/>
            <a:r>
              <a:rPr sz="2600" b="1" i="0">
                <a:solidFill>
                  <a:srgbClr val="C3002B"/>
                </a:solidFill>
                <a:latin typeface="Arial"/>
              </a:rPr>
              <a:t>05</a:t>
            </a:r>
          </a:p>
        </p:txBody>
      </p:sp>
      <p:sp>
        <p:nvSpPr>
          <p:cNvPr id="27" name="TextBox 26"/>
          <p:cNvSpPr txBox="1"/>
          <p:nvPr/>
        </p:nvSpPr>
        <p:spPr>
          <a:xfrm>
            <a:off x="8174736" y="2606040"/>
            <a:ext cx="1591056" cy="1188720"/>
          </a:xfrm>
          <a:prstGeom prst="rect">
            <a:avLst/>
          </a:prstGeom>
          <a:noFill/>
        </p:spPr>
        <p:txBody>
          <a:bodyPr wrap="square" anchor="t">
            <a:normAutofit/>
          </a:bodyPr>
          <a:lstStyle/>
          <a:p>
            <a:pPr algn="l"/>
            <a:r>
              <a:rPr sz="1200" b="1" i="0">
                <a:solidFill>
                  <a:srgbClr val="1C1C1C"/>
                </a:solidFill>
                <a:latin typeface="Arial"/>
              </a:rPr>
              <a:t>WHY C&amp;W, TEAM</a:t>
            </a:r>
          </a:p>
          <a:p>
            <a:pPr algn="l"/>
            <a:r>
              <a:rPr sz="1200" b="1" i="0">
                <a:solidFill>
                  <a:srgbClr val="1C1C1C"/>
                </a:solidFill>
                <a:latin typeface="Arial"/>
              </a:rPr>
              <a:t>&amp; TRACK RECORD</a:t>
            </a:r>
          </a:p>
        </p:txBody>
      </p:sp>
      <p:sp>
        <p:nvSpPr>
          <p:cNvPr id="28" name="TextBox 27"/>
          <p:cNvSpPr txBox="1"/>
          <p:nvPr/>
        </p:nvSpPr>
        <p:spPr>
          <a:xfrm>
            <a:off x="8174736" y="3840480"/>
            <a:ext cx="1591056" cy="1737360"/>
          </a:xfrm>
          <a:prstGeom prst="rect">
            <a:avLst/>
          </a:prstGeom>
          <a:noFill/>
        </p:spPr>
        <p:txBody>
          <a:bodyPr wrap="square" anchor="t">
            <a:normAutofit/>
          </a:bodyPr>
          <a:lstStyle/>
          <a:p>
            <a:pPr algn="l"/>
            <a:r>
              <a:rPr sz="950" b="0" i="0">
                <a:solidFill>
                  <a:srgbClr val="7A7A7A"/>
                </a:solidFill>
                <a:latin typeface="Arial"/>
              </a:rPr>
              <a:t>Differentiation, team (t.b.d.)</a:t>
            </a:r>
          </a:p>
          <a:p>
            <a:pPr algn="l"/>
            <a:r>
              <a:rPr sz="950" b="0" i="0">
                <a:solidFill>
                  <a:srgbClr val="7A7A7A"/>
                </a:solidFill>
                <a:latin typeface="Arial"/>
              </a:rPr>
              <a:t>&amp; references</a:t>
            </a:r>
          </a:p>
        </p:txBody>
      </p:sp>
      <p:sp>
        <p:nvSpPr>
          <p:cNvPr id="29" name="Rectangle 28"/>
          <p:cNvSpPr/>
          <p:nvPr/>
        </p:nvSpPr>
        <p:spPr>
          <a:xfrm>
            <a:off x="9966960" y="1737360"/>
            <a:ext cx="1810512" cy="3931920"/>
          </a:xfrm>
          <a:prstGeom prst="rect">
            <a:avLst/>
          </a:prstGeom>
          <a:solidFill>
            <a:srgbClr val="F3F3F3"/>
          </a:solidFill>
          <a:ln w="6350">
            <a:solidFill>
              <a:srgbClr val="E2E2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076688" y="1920240"/>
            <a:ext cx="1591056" cy="548640"/>
          </a:xfrm>
          <a:prstGeom prst="rect">
            <a:avLst/>
          </a:prstGeom>
          <a:noFill/>
        </p:spPr>
        <p:txBody>
          <a:bodyPr wrap="square" anchor="t">
            <a:normAutofit/>
          </a:bodyPr>
          <a:lstStyle/>
          <a:p>
            <a:pPr algn="l"/>
            <a:r>
              <a:rPr sz="2600" b="1" i="0">
                <a:solidFill>
                  <a:srgbClr val="C3002B"/>
                </a:solidFill>
                <a:latin typeface="Arial"/>
              </a:rPr>
              <a:t>06</a:t>
            </a:r>
          </a:p>
        </p:txBody>
      </p:sp>
      <p:sp>
        <p:nvSpPr>
          <p:cNvPr id="31" name="TextBox 30"/>
          <p:cNvSpPr txBox="1"/>
          <p:nvPr/>
        </p:nvSpPr>
        <p:spPr>
          <a:xfrm>
            <a:off x="10076688" y="2606040"/>
            <a:ext cx="1591056" cy="1188720"/>
          </a:xfrm>
          <a:prstGeom prst="rect">
            <a:avLst/>
          </a:prstGeom>
          <a:noFill/>
        </p:spPr>
        <p:txBody>
          <a:bodyPr wrap="square" anchor="t">
            <a:normAutofit/>
          </a:bodyPr>
          <a:lstStyle/>
          <a:p>
            <a:pPr algn="l"/>
            <a:r>
              <a:rPr sz="1200" b="1" i="0">
                <a:solidFill>
                  <a:srgbClr val="1C1C1C"/>
                </a:solidFill>
                <a:latin typeface="Arial"/>
              </a:rPr>
              <a:t>COMMERCIALS</a:t>
            </a:r>
          </a:p>
          <a:p>
            <a:pPr algn="l"/>
            <a:r>
              <a:rPr sz="1200" b="1" i="0">
                <a:solidFill>
                  <a:srgbClr val="1C1C1C"/>
                </a:solidFill>
                <a:latin typeface="Arial"/>
              </a:rPr>
              <a:t>&amp; THE DECISION</a:t>
            </a:r>
          </a:p>
        </p:txBody>
      </p:sp>
      <p:sp>
        <p:nvSpPr>
          <p:cNvPr id="32" name="TextBox 31"/>
          <p:cNvSpPr txBox="1"/>
          <p:nvPr/>
        </p:nvSpPr>
        <p:spPr>
          <a:xfrm>
            <a:off x="10076688" y="3840480"/>
            <a:ext cx="1591056" cy="1737360"/>
          </a:xfrm>
          <a:prstGeom prst="rect">
            <a:avLst/>
          </a:prstGeom>
          <a:noFill/>
        </p:spPr>
        <p:txBody>
          <a:bodyPr wrap="square" anchor="t">
            <a:normAutofit/>
          </a:bodyPr>
          <a:lstStyle/>
          <a:p>
            <a:pPr algn="l"/>
            <a:r>
              <a:rPr sz="950" b="0" i="0">
                <a:solidFill>
                  <a:srgbClr val="7A7A7A"/>
                </a:solidFill>
                <a:latin typeface="Arial"/>
              </a:rPr>
              <a:t>Fee, the 2030 vision</a:t>
            </a:r>
          </a:p>
          <a:p>
            <a:pPr algn="l"/>
            <a:r>
              <a:rPr sz="950" b="0" i="0">
                <a:solidFill>
                  <a:srgbClr val="7A7A7A"/>
                </a:solidFill>
                <a:latin typeface="Arial"/>
              </a:rPr>
              <a:t>&amp; next steps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4592" cy="6858000"/>
          </a:xfrm>
          <a:prstGeom prst="rect">
            <a:avLst/>
          </a:prstGeom>
          <a:solidFill>
            <a:srgbClr val="C3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219456"/>
            <a:ext cx="10058400" cy="274320"/>
          </a:xfrm>
          <a:prstGeom prst="rect">
            <a:avLst/>
          </a:prstGeom>
          <a:noFill/>
        </p:spPr>
        <p:txBody>
          <a:bodyPr wrap="square" anchor="t">
            <a:normAutofit/>
          </a:bodyPr>
          <a:lstStyle/>
          <a:p>
            <a:pPr algn="l"/>
            <a:r>
              <a:rPr sz="1000" b="1" i="0">
                <a:solidFill>
                  <a:srgbClr val="C3002B"/>
                </a:solidFill>
                <a:latin typeface="Arial"/>
              </a:rPr>
              <a:t>01 — THE CASE FOR ACTION  ·  SITUATION</a:t>
            </a:r>
          </a:p>
        </p:txBody>
      </p:sp>
      <p:sp>
        <p:nvSpPr>
          <p:cNvPr id="4" name="TextBox 3"/>
          <p:cNvSpPr txBox="1"/>
          <p:nvPr/>
        </p:nvSpPr>
        <p:spPr>
          <a:xfrm>
            <a:off x="411480" y="457200"/>
            <a:ext cx="11155680" cy="868680"/>
          </a:xfrm>
          <a:prstGeom prst="rect">
            <a:avLst/>
          </a:prstGeom>
          <a:noFill/>
        </p:spPr>
        <p:txBody>
          <a:bodyPr wrap="square" anchor="t">
            <a:normAutofit/>
          </a:bodyPr>
          <a:lstStyle/>
          <a:p>
            <a:pPr algn="l"/>
            <a:r>
              <a:rPr sz="2300" b="1" i="0">
                <a:solidFill>
                  <a:srgbClr val="1C1C1C"/>
                </a:solidFill>
                <a:latin typeface="Arial"/>
              </a:rPr>
              <a:t>You own a prime Amsterdam asset with a binding</a:t>
            </a:r>
          </a:p>
          <a:p>
            <a:pPr algn="l"/>
            <a:r>
              <a:rPr sz="2300" b="1" i="0">
                <a:solidFill>
                  <a:srgbClr val="1C1C1C"/>
                </a:solidFill>
                <a:latin typeface="Arial"/>
              </a:rPr>
              <a:t>Paris Proof commitment attached to it</a:t>
            </a:r>
          </a:p>
        </p:txBody>
      </p:sp>
      <p:sp>
        <p:nvSpPr>
          <p:cNvPr id="5" name="TextBox 4"/>
          <p:cNvSpPr txBox="1"/>
          <p:nvPr/>
        </p:nvSpPr>
        <p:spPr>
          <a:xfrm>
            <a:off x="411480" y="6446520"/>
            <a:ext cx="5486400" cy="274320"/>
          </a:xfrm>
          <a:prstGeom prst="rect">
            <a:avLst/>
          </a:prstGeom>
          <a:noFill/>
        </p:spPr>
        <p:txBody>
          <a:bodyPr wrap="square" anchor="t">
            <a:normAutofit/>
          </a:bodyPr>
          <a:lstStyle/>
          <a:p>
            <a:pPr algn="l"/>
            <a:r>
              <a:rPr sz="800" b="0" i="0">
                <a:solidFill>
                  <a:srgbClr val="7A7A7A"/>
                </a:solidFill>
                <a:latin typeface="Arial"/>
              </a:rPr>
              <a:t>CUSHMAN &amp; WAKEFIELD  |  CORUM A.M.  ·  WESTGATE I</a:t>
            </a:r>
          </a:p>
        </p:txBody>
      </p:sp>
      <p:sp>
        <p:nvSpPr>
          <p:cNvPr id="6" name="TextBox 5"/>
          <p:cNvSpPr txBox="1"/>
          <p:nvPr/>
        </p:nvSpPr>
        <p:spPr>
          <a:xfrm>
            <a:off x="11475720" y="6446520"/>
            <a:ext cx="502920" cy="274320"/>
          </a:xfrm>
          <a:prstGeom prst="rect">
            <a:avLst/>
          </a:prstGeom>
          <a:noFill/>
        </p:spPr>
        <p:txBody>
          <a:bodyPr wrap="square" anchor="t">
            <a:normAutofit/>
          </a:bodyPr>
          <a:lstStyle/>
          <a:p>
            <a:pPr algn="r"/>
            <a:r>
              <a:rPr sz="1000" b="0" i="0">
                <a:solidFill>
                  <a:srgbClr val="7A7A7A"/>
                </a:solidFill>
                <a:latin typeface="Arial"/>
              </a:rPr>
              <a:t>4</a:t>
            </a:r>
          </a:p>
        </p:txBody>
      </p:sp>
      <p:sp>
        <p:nvSpPr>
          <p:cNvPr id="7" name="Rounded Rectangle 6"/>
          <p:cNvSpPr/>
          <p:nvPr/>
        </p:nvSpPr>
        <p:spPr>
          <a:xfrm>
            <a:off x="7726679" y="6419088"/>
            <a:ext cx="3657600" cy="292608"/>
          </a:xfrm>
          <a:prstGeom prst="roundRect">
            <a:avLst/>
          </a:prstGeom>
          <a:solidFill>
            <a:srgbClr val="C3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26679" y="6455664"/>
            <a:ext cx="3657600" cy="237744"/>
          </a:xfrm>
          <a:prstGeom prst="rect">
            <a:avLst/>
          </a:prstGeom>
          <a:noFill/>
        </p:spPr>
        <p:txBody>
          <a:bodyPr wrap="square" anchor="t">
            <a:normAutofit/>
          </a:bodyPr>
          <a:lstStyle/>
          <a:p>
            <a:pPr algn="ctr"/>
            <a:r>
              <a:rPr sz="800" b="1" i="0">
                <a:solidFill>
                  <a:srgbClr val="FFFFFF"/>
                </a:solidFill>
                <a:latin typeface="Arial"/>
              </a:rPr>
              <a:t>CORUM DECIDES  ·  C&amp;W DELIVERS  ·  PwC ALIGNED</a:t>
            </a:r>
          </a:p>
        </p:txBody>
      </p:sp>
      <p:sp>
        <p:nvSpPr>
          <p:cNvPr id="9" name="Rectangle 8"/>
          <p:cNvSpPr/>
          <p:nvPr/>
        </p:nvSpPr>
        <p:spPr>
          <a:xfrm>
            <a:off x="411480" y="1783080"/>
            <a:ext cx="6766560" cy="914400"/>
          </a:xfrm>
          <a:prstGeom prst="rect">
            <a:avLst/>
          </a:prstGeom>
          <a:solidFill>
            <a:srgbClr val="FFFFFF"/>
          </a:solidFill>
          <a:ln w="6350">
            <a:solidFill>
              <a:srgbClr val="E2E2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1874520"/>
            <a:ext cx="1828800" cy="731520"/>
          </a:xfrm>
          <a:prstGeom prst="rect">
            <a:avLst/>
          </a:prstGeom>
          <a:noFill/>
        </p:spPr>
        <p:txBody>
          <a:bodyPr wrap="square" anchor="ctr">
            <a:normAutofit/>
          </a:bodyPr>
          <a:lstStyle/>
          <a:p>
            <a:pPr algn="l"/>
            <a:r>
              <a:rPr sz="1200" b="1" i="0">
                <a:solidFill>
                  <a:srgbClr val="C3002B"/>
                </a:solidFill>
                <a:latin typeface="Arial"/>
              </a:rPr>
              <a:t>THE ASSET</a:t>
            </a:r>
          </a:p>
        </p:txBody>
      </p:sp>
      <p:sp>
        <p:nvSpPr>
          <p:cNvPr id="11" name="TextBox 10"/>
          <p:cNvSpPr txBox="1"/>
          <p:nvPr/>
        </p:nvSpPr>
        <p:spPr>
          <a:xfrm>
            <a:off x="2331720" y="1874520"/>
            <a:ext cx="4709160" cy="731520"/>
          </a:xfrm>
          <a:prstGeom prst="rect">
            <a:avLst/>
          </a:prstGeom>
          <a:noFill/>
        </p:spPr>
        <p:txBody>
          <a:bodyPr wrap="square" anchor="ctr">
            <a:normAutofit/>
          </a:bodyPr>
          <a:lstStyle/>
          <a:p>
            <a:pPr algn="l"/>
            <a:r>
              <a:rPr sz="1100" b="0" i="0">
                <a:solidFill>
                  <a:srgbClr val="1C1C1C"/>
                </a:solidFill>
                <a:latin typeface="Arial"/>
              </a:rPr>
              <a:t>Westgate I — Thomas R. Malthusstraat 5, 1066 JR Amsterdam. A prime, single-tenant office building of ± 27,000 m² GFA.</a:t>
            </a:r>
          </a:p>
        </p:txBody>
      </p:sp>
      <p:sp>
        <p:nvSpPr>
          <p:cNvPr id="12" name="Rectangle 11"/>
          <p:cNvSpPr/>
          <p:nvPr/>
        </p:nvSpPr>
        <p:spPr>
          <a:xfrm>
            <a:off x="411480" y="2807208"/>
            <a:ext cx="6766560" cy="914400"/>
          </a:xfrm>
          <a:prstGeom prst="rect">
            <a:avLst/>
          </a:prstGeom>
          <a:solidFill>
            <a:srgbClr val="FFFFFF"/>
          </a:solidFill>
          <a:ln w="6350">
            <a:solidFill>
              <a:srgbClr val="E2E2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48640" y="2898648"/>
            <a:ext cx="1828800" cy="731520"/>
          </a:xfrm>
          <a:prstGeom prst="rect">
            <a:avLst/>
          </a:prstGeom>
          <a:noFill/>
        </p:spPr>
        <p:txBody>
          <a:bodyPr wrap="square" anchor="ctr">
            <a:normAutofit/>
          </a:bodyPr>
          <a:lstStyle/>
          <a:p>
            <a:pPr algn="l"/>
            <a:r>
              <a:rPr sz="1200" b="1" i="0">
                <a:solidFill>
                  <a:srgbClr val="C3002B"/>
                </a:solidFill>
                <a:latin typeface="Arial"/>
              </a:rPr>
              <a:t>THE TENANT</a:t>
            </a:r>
          </a:p>
        </p:txBody>
      </p:sp>
      <p:sp>
        <p:nvSpPr>
          <p:cNvPr id="14" name="TextBox 13"/>
          <p:cNvSpPr txBox="1"/>
          <p:nvPr/>
        </p:nvSpPr>
        <p:spPr>
          <a:xfrm>
            <a:off x="2331720" y="2898648"/>
            <a:ext cx="4709160" cy="731520"/>
          </a:xfrm>
          <a:prstGeom prst="rect">
            <a:avLst/>
          </a:prstGeom>
          <a:noFill/>
        </p:spPr>
        <p:txBody>
          <a:bodyPr wrap="square" anchor="ctr">
            <a:normAutofit/>
          </a:bodyPr>
          <a:lstStyle/>
          <a:p>
            <a:pPr algn="l"/>
            <a:r>
              <a:rPr sz="1100" b="0" i="0">
                <a:solidFill>
                  <a:srgbClr val="1C1C1C"/>
                </a:solidFill>
                <a:latin typeface="Arial"/>
              </a:rPr>
              <a:t>PwC occupies the building and is in full operation every working day. The tenant relationship is the value of the asset.</a:t>
            </a:r>
          </a:p>
        </p:txBody>
      </p:sp>
      <p:sp>
        <p:nvSpPr>
          <p:cNvPr id="15" name="Rectangle 14"/>
          <p:cNvSpPr/>
          <p:nvPr/>
        </p:nvSpPr>
        <p:spPr>
          <a:xfrm>
            <a:off x="411480" y="3831336"/>
            <a:ext cx="6766560" cy="914400"/>
          </a:xfrm>
          <a:prstGeom prst="rect">
            <a:avLst/>
          </a:prstGeom>
          <a:solidFill>
            <a:srgbClr val="FFFFFF"/>
          </a:solidFill>
          <a:ln w="6350">
            <a:solidFill>
              <a:srgbClr val="E2E2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48640" y="3922776"/>
            <a:ext cx="1828800" cy="731520"/>
          </a:xfrm>
          <a:prstGeom prst="rect">
            <a:avLst/>
          </a:prstGeom>
          <a:noFill/>
        </p:spPr>
        <p:txBody>
          <a:bodyPr wrap="square" anchor="ctr">
            <a:normAutofit/>
          </a:bodyPr>
          <a:lstStyle/>
          <a:p>
            <a:pPr algn="l"/>
            <a:r>
              <a:rPr sz="1200" b="1" i="0">
                <a:solidFill>
                  <a:srgbClr val="C3002B"/>
                </a:solidFill>
                <a:latin typeface="Arial"/>
              </a:rPr>
              <a:t>THE OWNER</a:t>
            </a:r>
          </a:p>
        </p:txBody>
      </p:sp>
      <p:sp>
        <p:nvSpPr>
          <p:cNvPr id="17" name="TextBox 16"/>
          <p:cNvSpPr txBox="1"/>
          <p:nvPr/>
        </p:nvSpPr>
        <p:spPr>
          <a:xfrm>
            <a:off x="2331720" y="3922776"/>
            <a:ext cx="4709160" cy="731520"/>
          </a:xfrm>
          <a:prstGeom prst="rect">
            <a:avLst/>
          </a:prstGeom>
          <a:noFill/>
        </p:spPr>
        <p:txBody>
          <a:bodyPr wrap="square" anchor="ctr">
            <a:normAutofit/>
          </a:bodyPr>
          <a:lstStyle/>
          <a:p>
            <a:pPr algn="l"/>
            <a:r>
              <a:rPr sz="1100" b="0" i="0">
                <a:solidFill>
                  <a:srgbClr val="1C1C1C"/>
                </a:solidFill>
                <a:latin typeface="Arial"/>
              </a:rPr>
              <a:t>Corum A.M. — an institutional investor steering the asset from a distance, focused on returns, not on day-to-day Dutch construction.</a:t>
            </a:r>
          </a:p>
        </p:txBody>
      </p:sp>
      <p:sp>
        <p:nvSpPr>
          <p:cNvPr id="18" name="Rectangle 17"/>
          <p:cNvSpPr/>
          <p:nvPr/>
        </p:nvSpPr>
        <p:spPr>
          <a:xfrm>
            <a:off x="411480" y="4855464"/>
            <a:ext cx="6766560" cy="914400"/>
          </a:xfrm>
          <a:prstGeom prst="rect">
            <a:avLst/>
          </a:prstGeom>
          <a:solidFill>
            <a:srgbClr val="FFFFFF"/>
          </a:solidFill>
          <a:ln w="6350">
            <a:solidFill>
              <a:srgbClr val="E2E2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48640" y="4946904"/>
            <a:ext cx="1828800" cy="731520"/>
          </a:xfrm>
          <a:prstGeom prst="rect">
            <a:avLst/>
          </a:prstGeom>
          <a:noFill/>
        </p:spPr>
        <p:txBody>
          <a:bodyPr wrap="square" anchor="ctr">
            <a:normAutofit/>
          </a:bodyPr>
          <a:lstStyle/>
          <a:p>
            <a:pPr algn="l"/>
            <a:r>
              <a:rPr sz="1200" b="1" i="0">
                <a:solidFill>
                  <a:srgbClr val="C3002B"/>
                </a:solidFill>
                <a:latin typeface="Arial"/>
              </a:rPr>
              <a:t>THE COMMITMENT</a:t>
            </a:r>
          </a:p>
        </p:txBody>
      </p:sp>
      <p:sp>
        <p:nvSpPr>
          <p:cNvPr id="20" name="TextBox 19"/>
          <p:cNvSpPr txBox="1"/>
          <p:nvPr/>
        </p:nvSpPr>
        <p:spPr>
          <a:xfrm>
            <a:off x="2331720" y="4946904"/>
            <a:ext cx="4709160" cy="731520"/>
          </a:xfrm>
          <a:prstGeom prst="rect">
            <a:avLst/>
          </a:prstGeom>
          <a:noFill/>
        </p:spPr>
        <p:txBody>
          <a:bodyPr wrap="square" anchor="ctr">
            <a:normAutofit/>
          </a:bodyPr>
          <a:lstStyle/>
          <a:p>
            <a:pPr algn="l"/>
            <a:r>
              <a:rPr sz="1100" b="0" i="0">
                <a:solidFill>
                  <a:srgbClr val="1C1C1C"/>
                </a:solidFill>
                <a:latin typeface="Arial"/>
              </a:rPr>
              <a:t>The building must be brought to Paris Proof. This is a hard contractual obligation with a fixed budget and a fixed horizon.</a:t>
            </a:r>
          </a:p>
        </p:txBody>
      </p:sp>
      <p:sp>
        <p:nvSpPr>
          <p:cNvPr id="21" name="Rectangle 20"/>
          <p:cNvSpPr/>
          <p:nvPr/>
        </p:nvSpPr>
        <p:spPr>
          <a:xfrm>
            <a:off x="7406640" y="1783080"/>
            <a:ext cx="4343400" cy="4069080"/>
          </a:xfrm>
          <a:prstGeom prst="rect">
            <a:avLst/>
          </a:prstGeom>
          <a:solidFill>
            <a:srgbClr val="F3F3F3"/>
          </a:solidFill>
          <a:ln w="6350">
            <a:solidFill>
              <a:srgbClr val="E2E2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589520" y="1965960"/>
            <a:ext cx="4023360" cy="548640"/>
          </a:xfrm>
          <a:prstGeom prst="rect">
            <a:avLst/>
          </a:prstGeom>
          <a:noFill/>
        </p:spPr>
        <p:txBody>
          <a:bodyPr wrap="square" anchor="t">
            <a:normAutofit/>
          </a:bodyPr>
          <a:lstStyle/>
          <a:p>
            <a:pPr algn="l"/>
            <a:r>
              <a:rPr sz="1200" b="1" i="0">
                <a:solidFill>
                  <a:srgbClr val="C3002B"/>
                </a:solidFill>
                <a:latin typeface="Arial"/>
              </a:rPr>
              <a:t>WHAT THIS MEANS FOR CORUM</a:t>
            </a:r>
          </a:p>
        </p:txBody>
      </p:sp>
      <p:sp>
        <p:nvSpPr>
          <p:cNvPr id="23" name="TextBox 22"/>
          <p:cNvSpPr txBox="1"/>
          <p:nvPr/>
        </p:nvSpPr>
        <p:spPr>
          <a:xfrm>
            <a:off x="7589520" y="2560320"/>
            <a:ext cx="4023360" cy="3108960"/>
          </a:xfrm>
          <a:prstGeom prst="rect">
            <a:avLst/>
          </a:prstGeom>
          <a:noFill/>
        </p:spPr>
        <p:txBody>
          <a:bodyPr wrap="square" anchor="t">
            <a:normAutofit/>
          </a:bodyPr>
          <a:lstStyle/>
          <a:p>
            <a:pPr algn="l">
              <a:spcAft>
                <a:spcPts val="200"/>
              </a:spcAft>
            </a:pPr>
            <a:r>
              <a:rPr sz="1100" b="0" i="0">
                <a:solidFill>
                  <a:srgbClr val="1C1C1C"/>
                </a:solidFill>
                <a:latin typeface="Arial"/>
              </a:rPr>
              <a:t>Three assets are at stake in one building, at the same time:</a:t>
            </a:r>
          </a:p>
          <a:p>
            <a:pPr algn="l">
              <a:spcAft>
                <a:spcPts val="200"/>
              </a:spcAft>
            </a:pPr>
            <a:r>
              <a:rPr sz="1100" b="0" i="0">
                <a:solidFill>
                  <a:srgbClr val="1C1C1C"/>
                </a:solidFill>
                <a:latin typeface="Arial"/>
              </a:rPr>
              <a:t/>
            </a:r>
          </a:p>
          <a:p>
            <a:pPr algn="l">
              <a:spcAft>
                <a:spcPts val="200"/>
              </a:spcAft>
            </a:pPr>
            <a:r>
              <a:rPr sz="1100" b="0" i="0">
                <a:solidFill>
                  <a:srgbClr val="1C1C1C"/>
                </a:solidFill>
                <a:latin typeface="Arial"/>
              </a:rPr>
              <a:t>•  The physical asset and its value</a:t>
            </a:r>
          </a:p>
          <a:p>
            <a:pPr algn="l">
              <a:spcAft>
                <a:spcPts val="200"/>
              </a:spcAft>
            </a:pPr>
            <a:r>
              <a:rPr sz="1100" b="0" i="0">
                <a:solidFill>
                  <a:srgbClr val="1C1C1C"/>
                </a:solidFill>
                <a:latin typeface="Arial"/>
              </a:rPr>
              <a:t/>
            </a:r>
          </a:p>
          <a:p>
            <a:pPr algn="l">
              <a:spcAft>
                <a:spcPts val="200"/>
              </a:spcAft>
            </a:pPr>
            <a:r>
              <a:rPr sz="1100" b="0" i="0">
                <a:solidFill>
                  <a:srgbClr val="1C1C1C"/>
                </a:solidFill>
                <a:latin typeface="Arial"/>
              </a:rPr>
              <a:t>•  The PwC tenancy — and the lease that underpins your return</a:t>
            </a:r>
          </a:p>
          <a:p>
            <a:pPr algn="l">
              <a:spcAft>
                <a:spcPts val="200"/>
              </a:spcAft>
            </a:pPr>
            <a:r>
              <a:rPr sz="1100" b="0" i="0">
                <a:solidFill>
                  <a:srgbClr val="1C1C1C"/>
                </a:solidFill>
                <a:latin typeface="Arial"/>
              </a:rPr>
              <a:t/>
            </a:r>
          </a:p>
          <a:p>
            <a:pPr algn="l">
              <a:spcAft>
                <a:spcPts val="200"/>
              </a:spcAft>
            </a:pPr>
            <a:r>
              <a:rPr sz="1100" b="0" i="0">
                <a:solidFill>
                  <a:srgbClr val="1C1C1C"/>
                </a:solidFill>
                <a:latin typeface="Arial"/>
              </a:rPr>
              <a:t>•  Your reputation as a reliable, professional landlord</a:t>
            </a:r>
          </a:p>
          <a:p>
            <a:pPr algn="l">
              <a:spcAft>
                <a:spcPts val="200"/>
              </a:spcAft>
            </a:pPr>
            <a:r>
              <a:rPr sz="1100" b="0" i="0">
                <a:solidFill>
                  <a:srgbClr val="1C1C1C"/>
                </a:solidFill>
                <a:latin typeface="Arial"/>
              </a:rPr>
              <a:t/>
            </a:r>
          </a:p>
          <a:p>
            <a:pPr algn="l">
              <a:spcAft>
                <a:spcPts val="200"/>
              </a:spcAft>
            </a:pPr>
            <a:r>
              <a:rPr sz="1100" b="0" i="0">
                <a:solidFill>
                  <a:srgbClr val="1C1C1C"/>
                </a:solidFill>
                <a:latin typeface="Arial"/>
              </a:rPr>
              <a:t>All three are exposed the moment work starts inside an occupied building.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4592" cy="6858000"/>
          </a:xfrm>
          <a:prstGeom prst="rect">
            <a:avLst/>
          </a:prstGeom>
          <a:solidFill>
            <a:srgbClr val="C3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219456"/>
            <a:ext cx="10058400" cy="274320"/>
          </a:xfrm>
          <a:prstGeom prst="rect">
            <a:avLst/>
          </a:prstGeom>
          <a:noFill/>
        </p:spPr>
        <p:txBody>
          <a:bodyPr wrap="square" anchor="t">
            <a:normAutofit/>
          </a:bodyPr>
          <a:lstStyle/>
          <a:p>
            <a:pPr algn="l"/>
            <a:r>
              <a:rPr sz="1000" b="1" i="0">
                <a:solidFill>
                  <a:srgbClr val="C3002B"/>
                </a:solidFill>
                <a:latin typeface="Arial"/>
              </a:rPr>
              <a:t>01 — THE CASE FOR ACTION  ·  COMPLICATION</a:t>
            </a:r>
          </a:p>
        </p:txBody>
      </p:sp>
      <p:sp>
        <p:nvSpPr>
          <p:cNvPr id="4" name="TextBox 3"/>
          <p:cNvSpPr txBox="1"/>
          <p:nvPr/>
        </p:nvSpPr>
        <p:spPr>
          <a:xfrm>
            <a:off x="411480" y="457200"/>
            <a:ext cx="11155680" cy="868680"/>
          </a:xfrm>
          <a:prstGeom prst="rect">
            <a:avLst/>
          </a:prstGeom>
          <a:noFill/>
        </p:spPr>
        <p:txBody>
          <a:bodyPr wrap="square" anchor="t">
            <a:normAutofit/>
          </a:bodyPr>
          <a:lstStyle/>
          <a:p>
            <a:pPr algn="l"/>
            <a:r>
              <a:rPr sz="2300" b="1" i="0">
                <a:solidFill>
                  <a:srgbClr val="1C1C1C"/>
                </a:solidFill>
                <a:latin typeface="Arial"/>
              </a:rPr>
              <a:t>Three forces converge on one occupied building —</a:t>
            </a:r>
          </a:p>
          <a:p>
            <a:pPr algn="l"/>
            <a:r>
              <a:rPr sz="2300" b="1" i="0">
                <a:solidFill>
                  <a:srgbClr val="1C1C1C"/>
                </a:solidFill>
                <a:latin typeface="Arial"/>
              </a:rPr>
              <a:t>and all three touch your return</a:t>
            </a:r>
          </a:p>
        </p:txBody>
      </p:sp>
      <p:sp>
        <p:nvSpPr>
          <p:cNvPr id="5" name="TextBox 4"/>
          <p:cNvSpPr txBox="1"/>
          <p:nvPr/>
        </p:nvSpPr>
        <p:spPr>
          <a:xfrm>
            <a:off x="411480" y="6446520"/>
            <a:ext cx="5486400" cy="274320"/>
          </a:xfrm>
          <a:prstGeom prst="rect">
            <a:avLst/>
          </a:prstGeom>
          <a:noFill/>
        </p:spPr>
        <p:txBody>
          <a:bodyPr wrap="square" anchor="t">
            <a:normAutofit/>
          </a:bodyPr>
          <a:lstStyle/>
          <a:p>
            <a:pPr algn="l"/>
            <a:r>
              <a:rPr sz="800" b="0" i="0">
                <a:solidFill>
                  <a:srgbClr val="7A7A7A"/>
                </a:solidFill>
                <a:latin typeface="Arial"/>
              </a:rPr>
              <a:t>CUSHMAN &amp; WAKEFIELD  |  CORUM A.M.  ·  WESTGATE I</a:t>
            </a:r>
          </a:p>
        </p:txBody>
      </p:sp>
      <p:sp>
        <p:nvSpPr>
          <p:cNvPr id="6" name="TextBox 5"/>
          <p:cNvSpPr txBox="1"/>
          <p:nvPr/>
        </p:nvSpPr>
        <p:spPr>
          <a:xfrm>
            <a:off x="11475720" y="6446520"/>
            <a:ext cx="502920" cy="274320"/>
          </a:xfrm>
          <a:prstGeom prst="rect">
            <a:avLst/>
          </a:prstGeom>
          <a:noFill/>
        </p:spPr>
        <p:txBody>
          <a:bodyPr wrap="square" anchor="t">
            <a:normAutofit/>
          </a:bodyPr>
          <a:lstStyle/>
          <a:p>
            <a:pPr algn="r"/>
            <a:r>
              <a:rPr sz="1000" b="0" i="0">
                <a:solidFill>
                  <a:srgbClr val="7A7A7A"/>
                </a:solidFill>
                <a:latin typeface="Arial"/>
              </a:rPr>
              <a:t>5</a:t>
            </a:r>
          </a:p>
        </p:txBody>
      </p:sp>
      <p:sp>
        <p:nvSpPr>
          <p:cNvPr id="7" name="Rounded Rectangle 6"/>
          <p:cNvSpPr/>
          <p:nvPr/>
        </p:nvSpPr>
        <p:spPr>
          <a:xfrm>
            <a:off x="7726679" y="6419088"/>
            <a:ext cx="3657600" cy="292608"/>
          </a:xfrm>
          <a:prstGeom prst="roundRect">
            <a:avLst/>
          </a:prstGeom>
          <a:solidFill>
            <a:srgbClr val="C3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26679" y="6455664"/>
            <a:ext cx="3657600" cy="237744"/>
          </a:xfrm>
          <a:prstGeom prst="rect">
            <a:avLst/>
          </a:prstGeom>
          <a:noFill/>
        </p:spPr>
        <p:txBody>
          <a:bodyPr wrap="square" anchor="t">
            <a:normAutofit/>
          </a:bodyPr>
          <a:lstStyle/>
          <a:p>
            <a:pPr algn="ctr"/>
            <a:r>
              <a:rPr sz="800" b="1" i="0">
                <a:solidFill>
                  <a:srgbClr val="FFFFFF"/>
                </a:solidFill>
                <a:latin typeface="Arial"/>
              </a:rPr>
              <a:t>CORUM DECIDES  ·  C&amp;W DELIVERS  ·  PwC ALIGNED</a:t>
            </a:r>
          </a:p>
        </p:txBody>
      </p:sp>
      <p:sp>
        <p:nvSpPr>
          <p:cNvPr id="9" name="Rectangle 8"/>
          <p:cNvSpPr/>
          <p:nvPr/>
        </p:nvSpPr>
        <p:spPr>
          <a:xfrm>
            <a:off x="411480" y="1828800"/>
            <a:ext cx="3657600" cy="4023360"/>
          </a:xfrm>
          <a:prstGeom prst="rect">
            <a:avLst/>
          </a:prstGeom>
          <a:solidFill>
            <a:srgbClr val="FFFFFF"/>
          </a:solidFill>
          <a:ln w="6350">
            <a:solidFill>
              <a:srgbClr val="E2E2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11480" y="1828800"/>
            <a:ext cx="3657600" cy="868680"/>
          </a:xfrm>
          <a:prstGeom prst="rect">
            <a:avLst/>
          </a:prstGeom>
          <a:solidFill>
            <a:srgbClr val="C3002B"/>
          </a:solidFill>
          <a:ln w="6350">
            <a:solidFill>
              <a:srgbClr val="E2E2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920240"/>
            <a:ext cx="3383280" cy="365760"/>
          </a:xfrm>
          <a:prstGeom prst="rect">
            <a:avLst/>
          </a:prstGeom>
          <a:noFill/>
        </p:spPr>
        <p:txBody>
          <a:bodyPr wrap="square" anchor="t">
            <a:normAutofit/>
          </a:bodyPr>
          <a:lstStyle/>
          <a:p>
            <a:pPr algn="l"/>
            <a:r>
              <a:rPr sz="1300" b="1" i="0">
                <a:solidFill>
                  <a:srgbClr val="FFFFFF"/>
                </a:solidFill>
                <a:latin typeface="Arial"/>
              </a:rPr>
              <a:t>01</a:t>
            </a:r>
          </a:p>
        </p:txBody>
      </p:sp>
      <p:sp>
        <p:nvSpPr>
          <p:cNvPr id="12" name="TextBox 11"/>
          <p:cNvSpPr txBox="1"/>
          <p:nvPr/>
        </p:nvSpPr>
        <p:spPr>
          <a:xfrm>
            <a:off x="548640" y="2240280"/>
            <a:ext cx="3383280" cy="411480"/>
          </a:xfrm>
          <a:prstGeom prst="rect">
            <a:avLst/>
          </a:prstGeom>
          <a:noFill/>
        </p:spPr>
        <p:txBody>
          <a:bodyPr wrap="square" anchor="t">
            <a:normAutofit/>
          </a:bodyPr>
          <a:lstStyle/>
          <a:p>
            <a:pPr algn="l"/>
            <a:r>
              <a:rPr sz="1300" b="1" i="0">
                <a:solidFill>
                  <a:srgbClr val="FFFFFF"/>
                </a:solidFill>
                <a:latin typeface="Arial"/>
              </a:rPr>
              <a:t>THE TENANT RISK</a:t>
            </a:r>
          </a:p>
        </p:txBody>
      </p:sp>
      <p:sp>
        <p:nvSpPr>
          <p:cNvPr id="13" name="TextBox 12"/>
          <p:cNvSpPr txBox="1"/>
          <p:nvPr/>
        </p:nvSpPr>
        <p:spPr>
          <a:xfrm>
            <a:off x="594360" y="2834640"/>
            <a:ext cx="3291840" cy="640080"/>
          </a:xfrm>
          <a:prstGeom prst="rect">
            <a:avLst/>
          </a:prstGeom>
          <a:noFill/>
        </p:spPr>
        <p:txBody>
          <a:bodyPr wrap="square" anchor="t">
            <a:normAutofit/>
          </a:bodyPr>
          <a:lstStyle/>
          <a:p>
            <a:pPr algn="l"/>
            <a:r>
              <a:rPr sz="1100" b="1" i="1">
                <a:solidFill>
                  <a:srgbClr val="C3002B"/>
                </a:solidFill>
                <a:latin typeface="Arial"/>
              </a:rPr>
              <a:t>PwC keeps working while you rebuild</a:t>
            </a:r>
          </a:p>
        </p:txBody>
      </p:sp>
      <p:sp>
        <p:nvSpPr>
          <p:cNvPr id="14" name="TextBox 13"/>
          <p:cNvSpPr txBox="1"/>
          <p:nvPr/>
        </p:nvSpPr>
        <p:spPr>
          <a:xfrm>
            <a:off x="594360" y="3520440"/>
            <a:ext cx="3291840" cy="2194560"/>
          </a:xfrm>
          <a:prstGeom prst="rect">
            <a:avLst/>
          </a:prstGeom>
          <a:noFill/>
        </p:spPr>
        <p:txBody>
          <a:bodyPr wrap="square" anchor="t">
            <a:normAutofit/>
          </a:bodyPr>
          <a:lstStyle/>
          <a:p>
            <a:pPr algn="l"/>
            <a:r>
              <a:rPr sz="1050" b="0" i="0">
                <a:solidFill>
                  <a:srgbClr val="1C1C1C"/>
                </a:solidFill>
                <a:latin typeface="Arial"/>
              </a:rPr>
              <a:t>A previous Corum project (Rotterdam) showed how quickly insufficient communication erodes tenant trust. Disruption, noise and uncertainty can damage the relationship — and a damaged relationship puts lease renewal, and asset value, at risk.</a:t>
            </a:r>
          </a:p>
        </p:txBody>
      </p:sp>
      <p:sp>
        <p:nvSpPr>
          <p:cNvPr id="15" name="Rectangle 14"/>
          <p:cNvSpPr/>
          <p:nvPr/>
        </p:nvSpPr>
        <p:spPr>
          <a:xfrm>
            <a:off x="4233671" y="1828800"/>
            <a:ext cx="3657600" cy="4023360"/>
          </a:xfrm>
          <a:prstGeom prst="rect">
            <a:avLst/>
          </a:prstGeom>
          <a:solidFill>
            <a:srgbClr val="FFFFFF"/>
          </a:solidFill>
          <a:ln w="6350">
            <a:solidFill>
              <a:srgbClr val="E2E2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233671" y="1828800"/>
            <a:ext cx="3657600" cy="868680"/>
          </a:xfrm>
          <a:prstGeom prst="rect">
            <a:avLst/>
          </a:prstGeom>
          <a:solidFill>
            <a:srgbClr val="C3002B"/>
          </a:solidFill>
          <a:ln w="6350">
            <a:solidFill>
              <a:srgbClr val="E2E2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370831" y="1920240"/>
            <a:ext cx="3383280" cy="365760"/>
          </a:xfrm>
          <a:prstGeom prst="rect">
            <a:avLst/>
          </a:prstGeom>
          <a:noFill/>
        </p:spPr>
        <p:txBody>
          <a:bodyPr wrap="square" anchor="t">
            <a:normAutofit/>
          </a:bodyPr>
          <a:lstStyle/>
          <a:p>
            <a:pPr algn="l"/>
            <a:r>
              <a:rPr sz="1300" b="1" i="0">
                <a:solidFill>
                  <a:srgbClr val="FFFFFF"/>
                </a:solidFill>
                <a:latin typeface="Arial"/>
              </a:rPr>
              <a:t>02</a:t>
            </a:r>
          </a:p>
        </p:txBody>
      </p:sp>
      <p:sp>
        <p:nvSpPr>
          <p:cNvPr id="18" name="TextBox 17"/>
          <p:cNvSpPr txBox="1"/>
          <p:nvPr/>
        </p:nvSpPr>
        <p:spPr>
          <a:xfrm>
            <a:off x="4370831" y="2240280"/>
            <a:ext cx="3383280" cy="411480"/>
          </a:xfrm>
          <a:prstGeom prst="rect">
            <a:avLst/>
          </a:prstGeom>
          <a:noFill/>
        </p:spPr>
        <p:txBody>
          <a:bodyPr wrap="square" anchor="t">
            <a:normAutofit/>
          </a:bodyPr>
          <a:lstStyle/>
          <a:p>
            <a:pPr algn="l"/>
            <a:r>
              <a:rPr sz="1300" b="1" i="0">
                <a:solidFill>
                  <a:srgbClr val="FFFFFF"/>
                </a:solidFill>
                <a:latin typeface="Arial"/>
              </a:rPr>
              <a:t>THE DELIVERY RISK</a:t>
            </a:r>
          </a:p>
        </p:txBody>
      </p:sp>
      <p:sp>
        <p:nvSpPr>
          <p:cNvPr id="19" name="TextBox 18"/>
          <p:cNvSpPr txBox="1"/>
          <p:nvPr/>
        </p:nvSpPr>
        <p:spPr>
          <a:xfrm>
            <a:off x="4416551" y="2834640"/>
            <a:ext cx="3291840" cy="640080"/>
          </a:xfrm>
          <a:prstGeom prst="rect">
            <a:avLst/>
          </a:prstGeom>
          <a:noFill/>
        </p:spPr>
        <p:txBody>
          <a:bodyPr wrap="square" anchor="t">
            <a:normAutofit/>
          </a:bodyPr>
          <a:lstStyle/>
          <a:p>
            <a:pPr algn="l"/>
            <a:r>
              <a:rPr sz="1100" b="1" i="1">
                <a:solidFill>
                  <a:srgbClr val="C3002B"/>
                </a:solidFill>
                <a:latin typeface="Arial"/>
              </a:rPr>
              <a:t>Fixed budget, complex technique, live site</a:t>
            </a:r>
          </a:p>
        </p:txBody>
      </p:sp>
      <p:sp>
        <p:nvSpPr>
          <p:cNvPr id="20" name="TextBox 19"/>
          <p:cNvSpPr txBox="1"/>
          <p:nvPr/>
        </p:nvSpPr>
        <p:spPr>
          <a:xfrm>
            <a:off x="4416551" y="3520440"/>
            <a:ext cx="3291840" cy="2194560"/>
          </a:xfrm>
          <a:prstGeom prst="rect">
            <a:avLst/>
          </a:prstGeom>
          <a:noFill/>
        </p:spPr>
        <p:txBody>
          <a:bodyPr wrap="square" anchor="t">
            <a:normAutofit/>
          </a:bodyPr>
          <a:lstStyle/>
          <a:p>
            <a:pPr algn="l"/>
            <a:r>
              <a:rPr sz="1050" b="0" i="0">
                <a:solidFill>
                  <a:srgbClr val="1C1C1C"/>
                </a:solidFill>
                <a:latin typeface="Arial"/>
              </a:rPr>
              <a:t>Paris Proof means a full climate-system transformation (see M3E's two scenarios). Executed floor-by-floor in an occupied building, on a fixed budget, this is unforgiving: every technical or sequencing mistake becomes visible to the tenant and expensive to the owner.</a:t>
            </a:r>
          </a:p>
        </p:txBody>
      </p:sp>
      <p:sp>
        <p:nvSpPr>
          <p:cNvPr id="21" name="Rectangle 20"/>
          <p:cNvSpPr/>
          <p:nvPr/>
        </p:nvSpPr>
        <p:spPr>
          <a:xfrm>
            <a:off x="8055862" y="1828800"/>
            <a:ext cx="3657600" cy="4023360"/>
          </a:xfrm>
          <a:prstGeom prst="rect">
            <a:avLst/>
          </a:prstGeom>
          <a:solidFill>
            <a:srgbClr val="FFFFFF"/>
          </a:solidFill>
          <a:ln w="6350">
            <a:solidFill>
              <a:srgbClr val="E2E2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055862" y="1828800"/>
            <a:ext cx="3657600" cy="868680"/>
          </a:xfrm>
          <a:prstGeom prst="rect">
            <a:avLst/>
          </a:prstGeom>
          <a:solidFill>
            <a:srgbClr val="C3002B"/>
          </a:solidFill>
          <a:ln w="6350">
            <a:solidFill>
              <a:srgbClr val="E2E2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193022" y="1920240"/>
            <a:ext cx="3383280" cy="365760"/>
          </a:xfrm>
          <a:prstGeom prst="rect">
            <a:avLst/>
          </a:prstGeom>
          <a:noFill/>
        </p:spPr>
        <p:txBody>
          <a:bodyPr wrap="square" anchor="t">
            <a:normAutofit/>
          </a:bodyPr>
          <a:lstStyle/>
          <a:p>
            <a:pPr algn="l"/>
            <a:r>
              <a:rPr sz="1300" b="1" i="0">
                <a:solidFill>
                  <a:srgbClr val="FFFFFF"/>
                </a:solidFill>
                <a:latin typeface="Arial"/>
              </a:rPr>
              <a:t>03</a:t>
            </a:r>
          </a:p>
        </p:txBody>
      </p:sp>
      <p:sp>
        <p:nvSpPr>
          <p:cNvPr id="24" name="TextBox 23"/>
          <p:cNvSpPr txBox="1"/>
          <p:nvPr/>
        </p:nvSpPr>
        <p:spPr>
          <a:xfrm>
            <a:off x="8193022" y="2240280"/>
            <a:ext cx="3383280" cy="411480"/>
          </a:xfrm>
          <a:prstGeom prst="rect">
            <a:avLst/>
          </a:prstGeom>
          <a:noFill/>
        </p:spPr>
        <p:txBody>
          <a:bodyPr wrap="square" anchor="t">
            <a:normAutofit/>
          </a:bodyPr>
          <a:lstStyle/>
          <a:p>
            <a:pPr algn="l"/>
            <a:r>
              <a:rPr sz="1300" b="1" i="0">
                <a:solidFill>
                  <a:srgbClr val="FFFFFF"/>
                </a:solidFill>
                <a:latin typeface="Arial"/>
              </a:rPr>
              <a:t>THE DEADLINE RISK</a:t>
            </a:r>
          </a:p>
        </p:txBody>
      </p:sp>
      <p:sp>
        <p:nvSpPr>
          <p:cNvPr id="25" name="TextBox 24"/>
          <p:cNvSpPr txBox="1"/>
          <p:nvPr/>
        </p:nvSpPr>
        <p:spPr>
          <a:xfrm>
            <a:off x="8238742" y="2834640"/>
            <a:ext cx="3291840" cy="640080"/>
          </a:xfrm>
          <a:prstGeom prst="rect">
            <a:avLst/>
          </a:prstGeom>
          <a:noFill/>
        </p:spPr>
        <p:txBody>
          <a:bodyPr wrap="square" anchor="t">
            <a:normAutofit/>
          </a:bodyPr>
          <a:lstStyle/>
          <a:p>
            <a:pPr algn="l"/>
            <a:r>
              <a:rPr sz="1100" b="1" i="1">
                <a:solidFill>
                  <a:srgbClr val="C3002B"/>
                </a:solidFill>
                <a:latin typeface="Arial"/>
              </a:rPr>
              <a:t>Paris Proof is contractual, not optional</a:t>
            </a:r>
          </a:p>
        </p:txBody>
      </p:sp>
      <p:sp>
        <p:nvSpPr>
          <p:cNvPr id="26" name="TextBox 25"/>
          <p:cNvSpPr txBox="1"/>
          <p:nvPr/>
        </p:nvSpPr>
        <p:spPr>
          <a:xfrm>
            <a:off x="8238742" y="3520440"/>
            <a:ext cx="3291840" cy="2194560"/>
          </a:xfrm>
          <a:prstGeom prst="rect">
            <a:avLst/>
          </a:prstGeom>
          <a:noFill/>
        </p:spPr>
        <p:txBody>
          <a:bodyPr wrap="square" anchor="t">
            <a:normAutofit/>
          </a:bodyPr>
          <a:lstStyle/>
          <a:p>
            <a:pPr algn="l"/>
            <a:r>
              <a:rPr sz="1050" b="0" i="0">
                <a:solidFill>
                  <a:srgbClr val="1C1C1C"/>
                </a:solidFill>
                <a:latin typeface="Arial"/>
              </a:rPr>
              <a:t>The obligation is binding. Slippage is not a soft cost — it is a breach exposure. The programme must be driven to a hard finish line, with the critical path owned and defended from day one.</a:t>
            </a:r>
          </a:p>
        </p:txBody>
      </p:sp>
      <p:sp>
        <p:nvSpPr>
          <p:cNvPr id="27" name="TextBox 26"/>
          <p:cNvSpPr txBox="1"/>
          <p:nvPr/>
        </p:nvSpPr>
        <p:spPr>
          <a:xfrm>
            <a:off x="411480" y="5943600"/>
            <a:ext cx="10515600" cy="365760"/>
          </a:xfrm>
          <a:prstGeom prst="rect">
            <a:avLst/>
          </a:prstGeom>
          <a:noFill/>
        </p:spPr>
        <p:txBody>
          <a:bodyPr wrap="square" anchor="t">
            <a:normAutofit/>
          </a:bodyPr>
          <a:lstStyle/>
          <a:p>
            <a:pPr algn="l"/>
            <a:r>
              <a:rPr sz="1100" b="1" i="1">
                <a:solidFill>
                  <a:srgbClr val="1C1C1C"/>
                </a:solidFill>
                <a:latin typeface="Arial"/>
              </a:rPr>
              <a:t>Left unmanaged, these three risks compound. Managed by one accountable party, they become a controlled programme.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C1C1C"/>
          </a:solidFill>
          <a:ln w="9525">
            <a:solidFill>
              <a:srgbClr val="1C1C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C3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280160"/>
            <a:ext cx="10058400" cy="365760"/>
          </a:xfrm>
          <a:prstGeom prst="rect">
            <a:avLst/>
          </a:prstGeom>
          <a:noFill/>
        </p:spPr>
        <p:txBody>
          <a:bodyPr wrap="square" anchor="t">
            <a:normAutofit/>
          </a:bodyPr>
          <a:lstStyle/>
          <a:p>
            <a:pPr algn="l"/>
            <a:r>
              <a:rPr sz="1200" b="1" i="0">
                <a:solidFill>
                  <a:srgbClr val="C3002B"/>
                </a:solidFill>
                <a:latin typeface="Arial"/>
              </a:rPr>
              <a:t>OUR GOVERNING ANSWER</a:t>
            </a:r>
          </a:p>
        </p:txBody>
      </p:sp>
      <p:sp>
        <p:nvSpPr>
          <p:cNvPr id="5" name="TextBox 4"/>
          <p:cNvSpPr txBox="1"/>
          <p:nvPr/>
        </p:nvSpPr>
        <p:spPr>
          <a:xfrm>
            <a:off x="640080" y="1828800"/>
            <a:ext cx="10972800" cy="2377440"/>
          </a:xfrm>
          <a:prstGeom prst="rect">
            <a:avLst/>
          </a:prstGeom>
          <a:noFill/>
        </p:spPr>
        <p:txBody>
          <a:bodyPr wrap="square" anchor="t">
            <a:normAutofit/>
          </a:bodyPr>
          <a:lstStyle/>
          <a:p>
            <a:pPr algn="l"/>
            <a:r>
              <a:rPr sz="3400" b="1" i="0">
                <a:solidFill>
                  <a:srgbClr val="FFFFFF"/>
                </a:solidFill>
                <a:latin typeface="Arial"/>
              </a:rPr>
              <a:t>Make Cushman &amp; Wakefield your single</a:t>
            </a:r>
          </a:p>
          <a:p>
            <a:pPr algn="l"/>
            <a:r>
              <a:rPr sz="3400" b="1" i="0">
                <a:solidFill>
                  <a:srgbClr val="FFFFFF"/>
                </a:solidFill>
                <a:latin typeface="Arial"/>
              </a:rPr>
              <a:t>point of control in the Netherlands.</a:t>
            </a:r>
          </a:p>
        </p:txBody>
      </p:sp>
      <p:sp>
        <p:nvSpPr>
          <p:cNvPr id="6" name="TextBox 5"/>
          <p:cNvSpPr txBox="1"/>
          <p:nvPr/>
        </p:nvSpPr>
        <p:spPr>
          <a:xfrm>
            <a:off x="640080" y="3931920"/>
            <a:ext cx="10789920" cy="1371600"/>
          </a:xfrm>
          <a:prstGeom prst="rect">
            <a:avLst/>
          </a:prstGeom>
          <a:noFill/>
        </p:spPr>
        <p:txBody>
          <a:bodyPr wrap="square" anchor="t">
            <a:normAutofit/>
          </a:bodyPr>
          <a:lstStyle/>
          <a:p>
            <a:pPr algn="l"/>
            <a:r>
              <a:rPr sz="1500" b="0" i="0">
                <a:solidFill>
                  <a:srgbClr val="FFFFFF"/>
                </a:solidFill>
                <a:latin typeface="Arial"/>
              </a:rPr>
              <a:t>We deliver the entire Paris Proof transformation end-to-end and keep PwC fully aware and aligned at every step. You steer the asset; we run the works and the tenant relationship — and we bring you every decision, prepared, before it is needed.</a:t>
            </a:r>
          </a:p>
        </p:txBody>
      </p:sp>
      <p:sp>
        <p:nvSpPr>
          <p:cNvPr id="7" name="Rounded Rectangle 6"/>
          <p:cNvSpPr/>
          <p:nvPr/>
        </p:nvSpPr>
        <p:spPr>
          <a:xfrm>
            <a:off x="640080" y="5669280"/>
            <a:ext cx="5943600" cy="457200"/>
          </a:xfrm>
          <a:prstGeom prst="roundRect">
            <a:avLst/>
          </a:prstGeom>
          <a:solidFill>
            <a:srgbClr val="C3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5751576"/>
            <a:ext cx="5943600" cy="320040"/>
          </a:xfrm>
          <a:prstGeom prst="rect">
            <a:avLst/>
          </a:prstGeom>
          <a:noFill/>
        </p:spPr>
        <p:txBody>
          <a:bodyPr wrap="square" anchor="t">
            <a:normAutofit/>
          </a:bodyPr>
          <a:lstStyle/>
          <a:p>
            <a:pPr algn="ctr"/>
            <a:r>
              <a:rPr sz="1200" b="1" i="0">
                <a:solidFill>
                  <a:srgbClr val="FFFFFF"/>
                </a:solidFill>
                <a:latin typeface="Arial"/>
              </a:rPr>
              <a:t>CORUM DECIDES  ·  C&amp;W DELIVERS  ·  PwC ALIGNED</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4592" cy="6858000"/>
          </a:xfrm>
          <a:prstGeom prst="rect">
            <a:avLst/>
          </a:prstGeom>
          <a:solidFill>
            <a:srgbClr val="C3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219456"/>
            <a:ext cx="10058400" cy="274320"/>
          </a:xfrm>
          <a:prstGeom prst="rect">
            <a:avLst/>
          </a:prstGeom>
          <a:noFill/>
        </p:spPr>
        <p:txBody>
          <a:bodyPr wrap="square" anchor="t">
            <a:normAutofit/>
          </a:bodyPr>
          <a:lstStyle/>
          <a:p>
            <a:pPr algn="l"/>
            <a:r>
              <a:rPr sz="1000" b="1" i="0">
                <a:solidFill>
                  <a:srgbClr val="C3002B"/>
                </a:solidFill>
                <a:latin typeface="Arial"/>
              </a:rPr>
              <a:t>01 — THE CASE FOR ACTION  ·  OUR ANSWER</a:t>
            </a:r>
          </a:p>
        </p:txBody>
      </p:sp>
      <p:sp>
        <p:nvSpPr>
          <p:cNvPr id="4" name="TextBox 3"/>
          <p:cNvSpPr txBox="1"/>
          <p:nvPr/>
        </p:nvSpPr>
        <p:spPr>
          <a:xfrm>
            <a:off x="411480" y="457200"/>
            <a:ext cx="11155680" cy="868680"/>
          </a:xfrm>
          <a:prstGeom prst="rect">
            <a:avLst/>
          </a:prstGeom>
          <a:noFill/>
        </p:spPr>
        <p:txBody>
          <a:bodyPr wrap="square" anchor="t">
            <a:normAutofit/>
          </a:bodyPr>
          <a:lstStyle/>
          <a:p>
            <a:pPr algn="l"/>
            <a:r>
              <a:rPr sz="2300" b="1" i="0">
                <a:solidFill>
                  <a:srgbClr val="1C1C1C"/>
                </a:solidFill>
                <a:latin typeface="Arial"/>
              </a:rPr>
              <a:t>In practice, we take three things entirely off your plate</a:t>
            </a:r>
          </a:p>
        </p:txBody>
      </p:sp>
      <p:sp>
        <p:nvSpPr>
          <p:cNvPr id="5" name="TextBox 4"/>
          <p:cNvSpPr txBox="1"/>
          <p:nvPr/>
        </p:nvSpPr>
        <p:spPr>
          <a:xfrm>
            <a:off x="411480" y="6446520"/>
            <a:ext cx="5486400" cy="274320"/>
          </a:xfrm>
          <a:prstGeom prst="rect">
            <a:avLst/>
          </a:prstGeom>
          <a:noFill/>
        </p:spPr>
        <p:txBody>
          <a:bodyPr wrap="square" anchor="t">
            <a:normAutofit/>
          </a:bodyPr>
          <a:lstStyle/>
          <a:p>
            <a:pPr algn="l"/>
            <a:r>
              <a:rPr sz="800" b="0" i="0">
                <a:solidFill>
                  <a:srgbClr val="7A7A7A"/>
                </a:solidFill>
                <a:latin typeface="Arial"/>
              </a:rPr>
              <a:t>CUSHMAN &amp; WAKEFIELD  |  CORUM A.M.  ·  WESTGATE I</a:t>
            </a:r>
          </a:p>
        </p:txBody>
      </p:sp>
      <p:sp>
        <p:nvSpPr>
          <p:cNvPr id="6" name="TextBox 5"/>
          <p:cNvSpPr txBox="1"/>
          <p:nvPr/>
        </p:nvSpPr>
        <p:spPr>
          <a:xfrm>
            <a:off x="11475720" y="6446520"/>
            <a:ext cx="502920" cy="274320"/>
          </a:xfrm>
          <a:prstGeom prst="rect">
            <a:avLst/>
          </a:prstGeom>
          <a:noFill/>
        </p:spPr>
        <p:txBody>
          <a:bodyPr wrap="square" anchor="t">
            <a:normAutofit/>
          </a:bodyPr>
          <a:lstStyle/>
          <a:p>
            <a:pPr algn="r"/>
            <a:r>
              <a:rPr sz="1000" b="0" i="0">
                <a:solidFill>
                  <a:srgbClr val="7A7A7A"/>
                </a:solidFill>
                <a:latin typeface="Arial"/>
              </a:rPr>
              <a:t>7</a:t>
            </a:r>
          </a:p>
        </p:txBody>
      </p:sp>
      <p:sp>
        <p:nvSpPr>
          <p:cNvPr id="7" name="Rounded Rectangle 6"/>
          <p:cNvSpPr/>
          <p:nvPr/>
        </p:nvSpPr>
        <p:spPr>
          <a:xfrm>
            <a:off x="7726679" y="6419088"/>
            <a:ext cx="3657600" cy="292608"/>
          </a:xfrm>
          <a:prstGeom prst="roundRect">
            <a:avLst/>
          </a:prstGeom>
          <a:solidFill>
            <a:srgbClr val="C3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26679" y="6455664"/>
            <a:ext cx="3657600" cy="237744"/>
          </a:xfrm>
          <a:prstGeom prst="rect">
            <a:avLst/>
          </a:prstGeom>
          <a:noFill/>
        </p:spPr>
        <p:txBody>
          <a:bodyPr wrap="square" anchor="t">
            <a:normAutofit/>
          </a:bodyPr>
          <a:lstStyle/>
          <a:p>
            <a:pPr algn="ctr"/>
            <a:r>
              <a:rPr sz="800" b="1" i="0">
                <a:solidFill>
                  <a:srgbClr val="FFFFFF"/>
                </a:solidFill>
                <a:latin typeface="Arial"/>
              </a:rPr>
              <a:t>CORUM DECIDES  ·  C&amp;W DELIVERS  ·  PwC ALIGNED</a:t>
            </a:r>
          </a:p>
        </p:txBody>
      </p:sp>
      <p:sp>
        <p:nvSpPr>
          <p:cNvPr id="9" name="Rectangle 8"/>
          <p:cNvSpPr/>
          <p:nvPr/>
        </p:nvSpPr>
        <p:spPr>
          <a:xfrm>
            <a:off x="411480" y="1691640"/>
            <a:ext cx="3657600" cy="4023360"/>
          </a:xfrm>
          <a:prstGeom prst="rect">
            <a:avLst/>
          </a:prstGeom>
          <a:solidFill>
            <a:srgbClr val="FFFFFF"/>
          </a:solidFill>
          <a:ln w="6350">
            <a:solidFill>
              <a:srgbClr val="E2E2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11480" y="1691640"/>
            <a:ext cx="3657600" cy="914400"/>
          </a:xfrm>
          <a:prstGeom prst="rect">
            <a:avLst/>
          </a:prstGeom>
          <a:solidFill>
            <a:srgbClr val="C3002B"/>
          </a:solidFill>
          <a:ln w="6350">
            <a:solidFill>
              <a:srgbClr val="E2E2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810512"/>
            <a:ext cx="3383280" cy="777240"/>
          </a:xfrm>
          <a:prstGeom prst="rect">
            <a:avLst/>
          </a:prstGeom>
          <a:noFill/>
        </p:spPr>
        <p:txBody>
          <a:bodyPr wrap="square" anchor="ctr">
            <a:normAutofit/>
          </a:bodyPr>
          <a:lstStyle/>
          <a:p>
            <a:pPr algn="l"/>
            <a:r>
              <a:rPr sz="1300" b="1" i="0">
                <a:solidFill>
                  <a:srgbClr val="FFFFFF"/>
                </a:solidFill>
                <a:latin typeface="Arial"/>
              </a:rPr>
              <a:t>PwC FULLY AWARE</a:t>
            </a:r>
          </a:p>
          <a:p>
            <a:pPr algn="l"/>
            <a:r>
              <a:rPr sz="1300" b="1" i="0">
                <a:solidFill>
                  <a:srgbClr val="FFFFFF"/>
                </a:solidFill>
                <a:latin typeface="Arial"/>
              </a:rPr>
              <a:t>&amp; ALIGNED</a:t>
            </a:r>
          </a:p>
        </p:txBody>
      </p:sp>
      <p:sp>
        <p:nvSpPr>
          <p:cNvPr id="12" name="TextBox 11"/>
          <p:cNvSpPr txBox="1"/>
          <p:nvPr/>
        </p:nvSpPr>
        <p:spPr>
          <a:xfrm>
            <a:off x="594360" y="2788920"/>
            <a:ext cx="3291840" cy="2834640"/>
          </a:xfrm>
          <a:prstGeom prst="rect">
            <a:avLst/>
          </a:prstGeom>
          <a:noFill/>
        </p:spPr>
        <p:txBody>
          <a:bodyPr wrap="square" anchor="t">
            <a:normAutofit/>
          </a:bodyPr>
          <a:lstStyle/>
          <a:p>
            <a:pPr algn="l">
              <a:spcAft>
                <a:spcPts val="800"/>
              </a:spcAft>
            </a:pPr>
            <a:r>
              <a:rPr sz="1100" b="0" i="0">
                <a:solidFill>
                  <a:srgbClr val="1C1C1C"/>
                </a:solidFill>
                <a:latin typeface="Arial"/>
              </a:rPr>
              <a:t>•  One familiar point of contact for PwC</a:t>
            </a:r>
          </a:p>
          <a:p>
            <a:pPr algn="l">
              <a:spcAft>
                <a:spcPts val="800"/>
              </a:spcAft>
            </a:pPr>
            <a:r>
              <a:rPr sz="1100" b="0" i="0">
                <a:solidFill>
                  <a:srgbClr val="1C1C1C"/>
                </a:solidFill>
                <a:latin typeface="Arial"/>
              </a:rPr>
              <a:t>•  PwC actively involved in decisions that affect them</a:t>
            </a:r>
          </a:p>
          <a:p>
            <a:pPr algn="l">
              <a:spcAft>
                <a:spcPts val="800"/>
              </a:spcAft>
            </a:pPr>
            <a:r>
              <a:rPr sz="1100" b="0" i="0">
                <a:solidFill>
                  <a:srgbClr val="1C1C1C"/>
                </a:solidFill>
                <a:latin typeface="Arial"/>
              </a:rPr>
              <a:t>•  Continuous insight into progress &amp; planning</a:t>
            </a:r>
          </a:p>
          <a:p>
            <a:pPr algn="l">
              <a:spcAft>
                <a:spcPts val="800"/>
              </a:spcAft>
            </a:pPr>
            <a:r>
              <a:rPr sz="1100" b="0" i="0">
                <a:solidFill>
                  <a:srgbClr val="1C1C1C"/>
                </a:solidFill>
                <a:latin typeface="Arial"/>
              </a:rPr>
              <a:t>•  Timely notice of anything impacting operations</a:t>
            </a:r>
          </a:p>
          <a:p>
            <a:pPr algn="l">
              <a:spcAft>
                <a:spcPts val="800"/>
              </a:spcAft>
            </a:pPr>
            <a:r>
              <a:rPr sz="1100" b="0" i="0">
                <a:solidFill>
                  <a:srgbClr val="1C1C1C"/>
                </a:solidFill>
                <a:latin typeface="Arial"/>
              </a:rPr>
              <a:t>•  PwC feels the project is fully under control</a:t>
            </a:r>
          </a:p>
        </p:txBody>
      </p:sp>
      <p:sp>
        <p:nvSpPr>
          <p:cNvPr id="13" name="Rectangle 12"/>
          <p:cNvSpPr/>
          <p:nvPr/>
        </p:nvSpPr>
        <p:spPr>
          <a:xfrm>
            <a:off x="4233671" y="1691640"/>
            <a:ext cx="3657600" cy="4023360"/>
          </a:xfrm>
          <a:prstGeom prst="rect">
            <a:avLst/>
          </a:prstGeom>
          <a:solidFill>
            <a:srgbClr val="FFFFFF"/>
          </a:solidFill>
          <a:ln w="6350">
            <a:solidFill>
              <a:srgbClr val="E2E2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233671" y="1691640"/>
            <a:ext cx="3657600" cy="914400"/>
          </a:xfrm>
          <a:prstGeom prst="rect">
            <a:avLst/>
          </a:prstGeom>
          <a:solidFill>
            <a:srgbClr val="1C1C1C"/>
          </a:solidFill>
          <a:ln w="6350">
            <a:solidFill>
              <a:srgbClr val="E2E2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370831" y="1810512"/>
            <a:ext cx="3383280" cy="777240"/>
          </a:xfrm>
          <a:prstGeom prst="rect">
            <a:avLst/>
          </a:prstGeom>
          <a:noFill/>
        </p:spPr>
        <p:txBody>
          <a:bodyPr wrap="square" anchor="ctr">
            <a:normAutofit/>
          </a:bodyPr>
          <a:lstStyle/>
          <a:p>
            <a:pPr algn="l"/>
            <a:r>
              <a:rPr sz="1300" b="1" i="0">
                <a:solidFill>
                  <a:srgbClr val="FFFFFF"/>
                </a:solidFill>
                <a:latin typeface="Arial"/>
              </a:rPr>
              <a:t>WE ORGANIZE THE</a:t>
            </a:r>
          </a:p>
          <a:p>
            <a:pPr algn="l"/>
            <a:r>
              <a:rPr sz="1300" b="1" i="0">
                <a:solidFill>
                  <a:srgbClr val="FFFFFF"/>
                </a:solidFill>
                <a:latin typeface="Arial"/>
              </a:rPr>
              <a:t>SUSTAINABILITY WORKS</a:t>
            </a:r>
          </a:p>
        </p:txBody>
      </p:sp>
      <p:sp>
        <p:nvSpPr>
          <p:cNvPr id="16" name="TextBox 15"/>
          <p:cNvSpPr txBox="1"/>
          <p:nvPr/>
        </p:nvSpPr>
        <p:spPr>
          <a:xfrm>
            <a:off x="4416551" y="2788920"/>
            <a:ext cx="3291840" cy="2834640"/>
          </a:xfrm>
          <a:prstGeom prst="rect">
            <a:avLst/>
          </a:prstGeom>
          <a:noFill/>
        </p:spPr>
        <p:txBody>
          <a:bodyPr wrap="square" anchor="t">
            <a:normAutofit/>
          </a:bodyPr>
          <a:lstStyle/>
          <a:p>
            <a:pPr algn="l">
              <a:spcAft>
                <a:spcPts val="800"/>
              </a:spcAft>
            </a:pPr>
            <a:r>
              <a:rPr sz="1100" b="0" i="0">
                <a:solidFill>
                  <a:srgbClr val="1C1C1C"/>
                </a:solidFill>
                <a:latin typeface="Arial"/>
              </a:rPr>
              <a:t>•  Translate M3E's design into deliverable scope</a:t>
            </a:r>
          </a:p>
          <a:p>
            <a:pPr algn="l">
              <a:spcAft>
                <a:spcPts val="800"/>
              </a:spcAft>
            </a:pPr>
            <a:r>
              <a:rPr sz="1100" b="0" i="0">
                <a:solidFill>
                  <a:srgbClr val="1C1C1C"/>
                </a:solidFill>
                <a:latin typeface="Arial"/>
              </a:rPr>
              <a:t>•  Run the tender &amp; select the contractor</a:t>
            </a:r>
          </a:p>
          <a:p>
            <a:pPr algn="l">
              <a:spcAft>
                <a:spcPts val="800"/>
              </a:spcAft>
            </a:pPr>
            <a:r>
              <a:rPr sz="1100" b="0" i="0">
                <a:solidFill>
                  <a:srgbClr val="1C1C1C"/>
                </a:solidFill>
                <a:latin typeface="Arial"/>
              </a:rPr>
              <a:t>•  Direct and supervise the site</a:t>
            </a:r>
          </a:p>
          <a:p>
            <a:pPr algn="l">
              <a:spcAft>
                <a:spcPts val="800"/>
              </a:spcAft>
            </a:pPr>
            <a:r>
              <a:rPr sz="1100" b="0" i="0">
                <a:solidFill>
                  <a:srgbClr val="1C1C1C"/>
                </a:solidFill>
                <a:latin typeface="Arial"/>
              </a:rPr>
              <a:t>•  Drive the programme to Paris Proof</a:t>
            </a:r>
          </a:p>
          <a:p>
            <a:pPr algn="l">
              <a:spcAft>
                <a:spcPts val="800"/>
              </a:spcAft>
            </a:pPr>
            <a:r>
              <a:rPr sz="1100" b="0" i="0">
                <a:solidFill>
                  <a:srgbClr val="1C1C1C"/>
                </a:solidFill>
                <a:latin typeface="Arial"/>
              </a:rPr>
              <a:t>•  Own budget, quality, planning &amp; risk</a:t>
            </a:r>
          </a:p>
        </p:txBody>
      </p:sp>
      <p:sp>
        <p:nvSpPr>
          <p:cNvPr id="17" name="Rectangle 16"/>
          <p:cNvSpPr/>
          <p:nvPr/>
        </p:nvSpPr>
        <p:spPr>
          <a:xfrm>
            <a:off x="8055862" y="1691640"/>
            <a:ext cx="3657600" cy="4023360"/>
          </a:xfrm>
          <a:prstGeom prst="rect">
            <a:avLst/>
          </a:prstGeom>
          <a:solidFill>
            <a:srgbClr val="FFFFFF"/>
          </a:solidFill>
          <a:ln w="6350">
            <a:solidFill>
              <a:srgbClr val="E2E2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55862" y="1691640"/>
            <a:ext cx="3657600" cy="914400"/>
          </a:xfrm>
          <a:prstGeom prst="rect">
            <a:avLst/>
          </a:prstGeom>
          <a:solidFill>
            <a:srgbClr val="C3002B"/>
          </a:solidFill>
          <a:ln w="6350">
            <a:solidFill>
              <a:srgbClr val="E2E2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193022" y="1810512"/>
            <a:ext cx="3383280" cy="777240"/>
          </a:xfrm>
          <a:prstGeom prst="rect">
            <a:avLst/>
          </a:prstGeom>
          <a:noFill/>
        </p:spPr>
        <p:txBody>
          <a:bodyPr wrap="square" anchor="ctr">
            <a:normAutofit/>
          </a:bodyPr>
          <a:lstStyle/>
          <a:p>
            <a:pPr algn="l"/>
            <a:r>
              <a:rPr sz="1300" b="1" i="0">
                <a:solidFill>
                  <a:srgbClr val="FFFFFF"/>
                </a:solidFill>
                <a:latin typeface="Arial"/>
              </a:rPr>
              <a:t>WE KEEP YOU IN</a:t>
            </a:r>
          </a:p>
          <a:p>
            <a:pPr algn="l"/>
            <a:r>
              <a:rPr sz="1300" b="1" i="0">
                <a:solidFill>
                  <a:srgbClr val="FFFFFF"/>
                </a:solidFill>
                <a:latin typeface="Arial"/>
              </a:rPr>
              <a:t>CONTROL FROM AFAR</a:t>
            </a:r>
          </a:p>
        </p:txBody>
      </p:sp>
      <p:sp>
        <p:nvSpPr>
          <p:cNvPr id="20" name="TextBox 19"/>
          <p:cNvSpPr txBox="1"/>
          <p:nvPr/>
        </p:nvSpPr>
        <p:spPr>
          <a:xfrm>
            <a:off x="8238742" y="2788920"/>
            <a:ext cx="3291840" cy="2834640"/>
          </a:xfrm>
          <a:prstGeom prst="rect">
            <a:avLst/>
          </a:prstGeom>
          <a:noFill/>
        </p:spPr>
        <p:txBody>
          <a:bodyPr wrap="square" anchor="t">
            <a:normAutofit/>
          </a:bodyPr>
          <a:lstStyle/>
          <a:p>
            <a:pPr algn="l">
              <a:spcAft>
                <a:spcPts val="800"/>
              </a:spcAft>
            </a:pPr>
            <a:r>
              <a:rPr sz="1100" b="0" i="0">
                <a:solidFill>
                  <a:srgbClr val="1C1C1C"/>
                </a:solidFill>
                <a:latin typeface="Arial"/>
              </a:rPr>
              <a:t>•  One contact, one monthly report</a:t>
            </a:r>
          </a:p>
          <a:p>
            <a:pPr algn="l">
              <a:spcAft>
                <a:spcPts val="800"/>
              </a:spcAft>
            </a:pPr>
            <a:r>
              <a:rPr sz="1100" b="0" i="0">
                <a:solidFill>
                  <a:srgbClr val="1C1C1C"/>
                </a:solidFill>
                <a:latin typeface="Arial"/>
              </a:rPr>
              <a:t>•  Every key decision prepared in advance</a:t>
            </a:r>
          </a:p>
          <a:p>
            <a:pPr algn="l">
              <a:spcAft>
                <a:spcPts val="800"/>
              </a:spcAft>
            </a:pPr>
            <a:r>
              <a:rPr sz="1100" b="0" i="0">
                <a:solidFill>
                  <a:srgbClr val="1C1C1C"/>
                </a:solidFill>
                <a:latin typeface="Arial"/>
              </a:rPr>
              <a:t>•  Full transparency on cost &amp; progress</a:t>
            </a:r>
          </a:p>
          <a:p>
            <a:pPr algn="l">
              <a:spcAft>
                <a:spcPts val="800"/>
              </a:spcAft>
            </a:pPr>
            <a:r>
              <a:rPr sz="1100" b="0" i="0">
                <a:solidFill>
                  <a:srgbClr val="1C1C1C"/>
                </a:solidFill>
                <a:latin typeface="Arial"/>
              </a:rPr>
              <a:t>•  Clear escalation lines to Corum</a:t>
            </a:r>
          </a:p>
          <a:p>
            <a:pPr algn="l">
              <a:spcAft>
                <a:spcPts val="800"/>
              </a:spcAft>
            </a:pPr>
            <a:r>
              <a:rPr sz="1100" b="0" i="0">
                <a:solidFill>
                  <a:srgbClr val="1C1C1C"/>
                </a:solidFill>
                <a:latin typeface="Arial"/>
              </a:rPr>
              <a:t>•  No surprises — ever</a:t>
            </a:r>
          </a:p>
        </p:txBody>
      </p:sp>
      <p:sp>
        <p:nvSpPr>
          <p:cNvPr id="21" name="TextBox 20"/>
          <p:cNvSpPr txBox="1"/>
          <p:nvPr/>
        </p:nvSpPr>
        <p:spPr>
          <a:xfrm>
            <a:off x="411480" y="5897880"/>
            <a:ext cx="10515600" cy="365760"/>
          </a:xfrm>
          <a:prstGeom prst="rect">
            <a:avLst/>
          </a:prstGeom>
          <a:noFill/>
        </p:spPr>
        <p:txBody>
          <a:bodyPr wrap="square" anchor="t">
            <a:normAutofit/>
          </a:bodyPr>
          <a:lstStyle/>
          <a:p>
            <a:pPr algn="l"/>
            <a:r>
              <a:rPr sz="1100" b="1" i="1">
                <a:solidFill>
                  <a:srgbClr val="1C1C1C"/>
                </a:solidFill>
                <a:latin typeface="Arial"/>
              </a:rPr>
              <a:t>Corum keeps the decisions that matter. We deliver the works and keep PwC fully aware and aligned — so nothing ever lands on Corum by surprise.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4592" cy="6858000"/>
          </a:xfrm>
          <a:prstGeom prst="rect">
            <a:avLst/>
          </a:prstGeom>
          <a:solidFill>
            <a:srgbClr val="C3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219456"/>
            <a:ext cx="10058400" cy="274320"/>
          </a:xfrm>
          <a:prstGeom prst="rect">
            <a:avLst/>
          </a:prstGeom>
          <a:noFill/>
        </p:spPr>
        <p:txBody>
          <a:bodyPr wrap="square" anchor="t">
            <a:normAutofit/>
          </a:bodyPr>
          <a:lstStyle/>
          <a:p>
            <a:pPr algn="l"/>
            <a:r>
              <a:rPr sz="1000" b="1" i="0">
                <a:solidFill>
                  <a:srgbClr val="C3002B"/>
                </a:solidFill>
                <a:latin typeface="Arial"/>
              </a:rPr>
              <a:t>01 — THE CASE FOR ACTION  ·  THE PLAYING FIELD</a:t>
            </a:r>
          </a:p>
        </p:txBody>
      </p:sp>
      <p:sp>
        <p:nvSpPr>
          <p:cNvPr id="4" name="TextBox 3"/>
          <p:cNvSpPr txBox="1"/>
          <p:nvPr/>
        </p:nvSpPr>
        <p:spPr>
          <a:xfrm>
            <a:off x="411480" y="457200"/>
            <a:ext cx="11155680" cy="868680"/>
          </a:xfrm>
          <a:prstGeom prst="rect">
            <a:avLst/>
          </a:prstGeom>
          <a:noFill/>
        </p:spPr>
        <p:txBody>
          <a:bodyPr wrap="square" anchor="t">
            <a:normAutofit/>
          </a:bodyPr>
          <a:lstStyle/>
          <a:p>
            <a:pPr algn="l"/>
            <a:r>
              <a:rPr sz="2300" b="1" i="0">
                <a:solidFill>
                  <a:srgbClr val="1C1C1C"/>
                </a:solidFill>
                <a:latin typeface="Arial"/>
              </a:rPr>
              <a:t>Four parties, one hub: we connect Corum, PwC,</a:t>
            </a:r>
          </a:p>
          <a:p>
            <a:pPr algn="l"/>
            <a:r>
              <a:rPr sz="2300" b="1" i="0">
                <a:solidFill>
                  <a:srgbClr val="1C1C1C"/>
                </a:solidFill>
                <a:latin typeface="Arial"/>
              </a:rPr>
              <a:t>M3E and the contractor</a:t>
            </a:r>
          </a:p>
        </p:txBody>
      </p:sp>
      <p:sp>
        <p:nvSpPr>
          <p:cNvPr id="5" name="TextBox 4"/>
          <p:cNvSpPr txBox="1"/>
          <p:nvPr/>
        </p:nvSpPr>
        <p:spPr>
          <a:xfrm>
            <a:off x="411480" y="6446520"/>
            <a:ext cx="5486400" cy="274320"/>
          </a:xfrm>
          <a:prstGeom prst="rect">
            <a:avLst/>
          </a:prstGeom>
          <a:noFill/>
        </p:spPr>
        <p:txBody>
          <a:bodyPr wrap="square" anchor="t">
            <a:normAutofit/>
          </a:bodyPr>
          <a:lstStyle/>
          <a:p>
            <a:pPr algn="l"/>
            <a:r>
              <a:rPr sz="800" b="0" i="0">
                <a:solidFill>
                  <a:srgbClr val="7A7A7A"/>
                </a:solidFill>
                <a:latin typeface="Arial"/>
              </a:rPr>
              <a:t>CUSHMAN &amp; WAKEFIELD  |  CORUM A.M.  ·  WESTGATE I</a:t>
            </a:r>
          </a:p>
        </p:txBody>
      </p:sp>
      <p:sp>
        <p:nvSpPr>
          <p:cNvPr id="6" name="TextBox 5"/>
          <p:cNvSpPr txBox="1"/>
          <p:nvPr/>
        </p:nvSpPr>
        <p:spPr>
          <a:xfrm>
            <a:off x="11475720" y="6446520"/>
            <a:ext cx="502920" cy="274320"/>
          </a:xfrm>
          <a:prstGeom prst="rect">
            <a:avLst/>
          </a:prstGeom>
          <a:noFill/>
        </p:spPr>
        <p:txBody>
          <a:bodyPr wrap="square" anchor="t">
            <a:normAutofit/>
          </a:bodyPr>
          <a:lstStyle/>
          <a:p>
            <a:pPr algn="r"/>
            <a:r>
              <a:rPr sz="1000" b="0" i="0">
                <a:solidFill>
                  <a:srgbClr val="7A7A7A"/>
                </a:solidFill>
                <a:latin typeface="Arial"/>
              </a:rPr>
              <a:t>8</a:t>
            </a:r>
          </a:p>
        </p:txBody>
      </p:sp>
      <p:sp>
        <p:nvSpPr>
          <p:cNvPr id="7" name="Rounded Rectangle 6"/>
          <p:cNvSpPr/>
          <p:nvPr/>
        </p:nvSpPr>
        <p:spPr>
          <a:xfrm>
            <a:off x="7726679" y="6419088"/>
            <a:ext cx="3657600" cy="292608"/>
          </a:xfrm>
          <a:prstGeom prst="roundRect">
            <a:avLst/>
          </a:prstGeom>
          <a:solidFill>
            <a:srgbClr val="C3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26679" y="6455664"/>
            <a:ext cx="3657600" cy="237744"/>
          </a:xfrm>
          <a:prstGeom prst="rect">
            <a:avLst/>
          </a:prstGeom>
          <a:noFill/>
        </p:spPr>
        <p:txBody>
          <a:bodyPr wrap="square" anchor="t">
            <a:normAutofit/>
          </a:bodyPr>
          <a:lstStyle/>
          <a:p>
            <a:pPr algn="ctr"/>
            <a:r>
              <a:rPr sz="800" b="1" i="0">
                <a:solidFill>
                  <a:srgbClr val="FFFFFF"/>
                </a:solidFill>
                <a:latin typeface="Arial"/>
              </a:rPr>
              <a:t>CORUM DECIDES  ·  C&amp;W DELIVERS  ·  PwC ALIGNED</a:t>
            </a:r>
          </a:p>
        </p:txBody>
      </p:sp>
      <p:sp>
        <p:nvSpPr>
          <p:cNvPr id="9" name="Rectangle 8"/>
          <p:cNvSpPr/>
          <p:nvPr/>
        </p:nvSpPr>
        <p:spPr>
          <a:xfrm>
            <a:off x="411480" y="1783080"/>
            <a:ext cx="4206240" cy="4023360"/>
          </a:xfrm>
          <a:prstGeom prst="rect">
            <a:avLst/>
          </a:prstGeom>
          <a:solidFill>
            <a:srgbClr val="F3F3F3"/>
          </a:solidFill>
          <a:ln w="6350">
            <a:solidFill>
              <a:srgbClr val="E2E2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1920240"/>
            <a:ext cx="3931920" cy="365760"/>
          </a:xfrm>
          <a:prstGeom prst="rect">
            <a:avLst/>
          </a:prstGeom>
          <a:noFill/>
        </p:spPr>
        <p:txBody>
          <a:bodyPr wrap="square" anchor="t">
            <a:normAutofit/>
          </a:bodyPr>
          <a:lstStyle/>
          <a:p>
            <a:pPr algn="l"/>
            <a:r>
              <a:rPr sz="1200" b="1" i="0">
                <a:solidFill>
                  <a:srgbClr val="C3002B"/>
                </a:solidFill>
                <a:latin typeface="Arial"/>
              </a:rPr>
              <a:t>THE PARTIES</a:t>
            </a:r>
          </a:p>
        </p:txBody>
      </p:sp>
      <p:sp>
        <p:nvSpPr>
          <p:cNvPr id="11" name="TextBox 10"/>
          <p:cNvSpPr txBox="1"/>
          <p:nvPr/>
        </p:nvSpPr>
        <p:spPr>
          <a:xfrm>
            <a:off x="548640" y="2331720"/>
            <a:ext cx="1554480" cy="777240"/>
          </a:xfrm>
          <a:prstGeom prst="rect">
            <a:avLst/>
          </a:prstGeom>
          <a:noFill/>
        </p:spPr>
        <p:txBody>
          <a:bodyPr wrap="square" anchor="t">
            <a:normAutofit/>
          </a:bodyPr>
          <a:lstStyle/>
          <a:p>
            <a:pPr algn="l"/>
            <a:r>
              <a:rPr sz="1100" b="1" i="0">
                <a:solidFill>
                  <a:srgbClr val="1C1C1C"/>
                </a:solidFill>
                <a:latin typeface="Arial"/>
              </a:rPr>
              <a:t>CORUM A.M.</a:t>
            </a:r>
          </a:p>
        </p:txBody>
      </p:sp>
      <p:sp>
        <p:nvSpPr>
          <p:cNvPr id="12" name="TextBox 11"/>
          <p:cNvSpPr txBox="1"/>
          <p:nvPr/>
        </p:nvSpPr>
        <p:spPr>
          <a:xfrm>
            <a:off x="2103120" y="2331720"/>
            <a:ext cx="2377440" cy="777240"/>
          </a:xfrm>
          <a:prstGeom prst="rect">
            <a:avLst/>
          </a:prstGeom>
          <a:noFill/>
        </p:spPr>
        <p:txBody>
          <a:bodyPr wrap="square" anchor="t">
            <a:normAutofit/>
          </a:bodyPr>
          <a:lstStyle/>
          <a:p>
            <a:pPr algn="l"/>
            <a:r>
              <a:rPr sz="950" b="0" i="0">
                <a:solidFill>
                  <a:srgbClr val="1C1C1C"/>
                </a:solidFill>
                <a:latin typeface="Arial"/>
              </a:rPr>
              <a:t>Owner / investor — sets objectives, holds the budget, makes the decisions.</a:t>
            </a:r>
          </a:p>
        </p:txBody>
      </p:sp>
      <p:sp>
        <p:nvSpPr>
          <p:cNvPr id="13" name="TextBox 12"/>
          <p:cNvSpPr txBox="1"/>
          <p:nvPr/>
        </p:nvSpPr>
        <p:spPr>
          <a:xfrm>
            <a:off x="548640" y="3172968"/>
            <a:ext cx="1554480" cy="777240"/>
          </a:xfrm>
          <a:prstGeom prst="rect">
            <a:avLst/>
          </a:prstGeom>
          <a:noFill/>
        </p:spPr>
        <p:txBody>
          <a:bodyPr wrap="square" anchor="t">
            <a:normAutofit/>
          </a:bodyPr>
          <a:lstStyle/>
          <a:p>
            <a:pPr algn="l"/>
            <a:r>
              <a:rPr sz="1100" b="1" i="0">
                <a:solidFill>
                  <a:srgbClr val="1C1C1C"/>
                </a:solidFill>
                <a:latin typeface="Arial"/>
              </a:rPr>
              <a:t>PwC</a:t>
            </a:r>
          </a:p>
        </p:txBody>
      </p:sp>
      <p:sp>
        <p:nvSpPr>
          <p:cNvPr id="14" name="TextBox 13"/>
          <p:cNvSpPr txBox="1"/>
          <p:nvPr/>
        </p:nvSpPr>
        <p:spPr>
          <a:xfrm>
            <a:off x="2103120" y="3172968"/>
            <a:ext cx="2377440" cy="777240"/>
          </a:xfrm>
          <a:prstGeom prst="rect">
            <a:avLst/>
          </a:prstGeom>
          <a:noFill/>
        </p:spPr>
        <p:txBody>
          <a:bodyPr wrap="square" anchor="t">
            <a:normAutofit/>
          </a:bodyPr>
          <a:lstStyle/>
          <a:p>
            <a:pPr algn="l"/>
            <a:r>
              <a:rPr sz="950" b="0" i="0">
                <a:solidFill>
                  <a:srgbClr val="1C1C1C"/>
                </a:solidFill>
                <a:latin typeface="Arial"/>
              </a:rPr>
              <a:t>Tenant — must keep operating; their experience defines success.</a:t>
            </a:r>
          </a:p>
        </p:txBody>
      </p:sp>
      <p:sp>
        <p:nvSpPr>
          <p:cNvPr id="15" name="TextBox 14"/>
          <p:cNvSpPr txBox="1"/>
          <p:nvPr/>
        </p:nvSpPr>
        <p:spPr>
          <a:xfrm>
            <a:off x="548640" y="4014216"/>
            <a:ext cx="1554480" cy="777240"/>
          </a:xfrm>
          <a:prstGeom prst="rect">
            <a:avLst/>
          </a:prstGeom>
          <a:noFill/>
        </p:spPr>
        <p:txBody>
          <a:bodyPr wrap="square" anchor="t">
            <a:normAutofit/>
          </a:bodyPr>
          <a:lstStyle/>
          <a:p>
            <a:pPr algn="l"/>
            <a:r>
              <a:rPr sz="1100" b="1" i="0">
                <a:solidFill>
                  <a:srgbClr val="1C1C1C"/>
                </a:solidFill>
                <a:latin typeface="Arial"/>
              </a:rPr>
              <a:t>M3E</a:t>
            </a:r>
          </a:p>
        </p:txBody>
      </p:sp>
      <p:sp>
        <p:nvSpPr>
          <p:cNvPr id="16" name="TextBox 15"/>
          <p:cNvSpPr txBox="1"/>
          <p:nvPr/>
        </p:nvSpPr>
        <p:spPr>
          <a:xfrm>
            <a:off x="2103120" y="4014216"/>
            <a:ext cx="2377440" cy="777240"/>
          </a:xfrm>
          <a:prstGeom prst="rect">
            <a:avLst/>
          </a:prstGeom>
          <a:noFill/>
        </p:spPr>
        <p:txBody>
          <a:bodyPr wrap="square" anchor="t">
            <a:normAutofit/>
          </a:bodyPr>
          <a:lstStyle/>
          <a:p>
            <a:pPr algn="l"/>
            <a:r>
              <a:rPr sz="950" b="0" i="0">
                <a:solidFill>
                  <a:srgbClr val="1C1C1C"/>
                </a:solidFill>
                <a:latin typeface="Arial"/>
              </a:rPr>
              <a:t>Technical advisor — develops the climate-system design (two scenarios).</a:t>
            </a:r>
          </a:p>
        </p:txBody>
      </p:sp>
      <p:sp>
        <p:nvSpPr>
          <p:cNvPr id="17" name="TextBox 16"/>
          <p:cNvSpPr txBox="1"/>
          <p:nvPr/>
        </p:nvSpPr>
        <p:spPr>
          <a:xfrm>
            <a:off x="548640" y="4855464"/>
            <a:ext cx="1554480" cy="777240"/>
          </a:xfrm>
          <a:prstGeom prst="rect">
            <a:avLst/>
          </a:prstGeom>
          <a:noFill/>
        </p:spPr>
        <p:txBody>
          <a:bodyPr wrap="square" anchor="t">
            <a:normAutofit/>
          </a:bodyPr>
          <a:lstStyle/>
          <a:p>
            <a:pPr algn="l"/>
            <a:r>
              <a:rPr sz="1100" b="1" i="0">
                <a:solidFill>
                  <a:srgbClr val="1C1C1C"/>
                </a:solidFill>
                <a:latin typeface="Arial"/>
              </a:rPr>
              <a:t>CONTRACTOR</a:t>
            </a:r>
          </a:p>
        </p:txBody>
      </p:sp>
      <p:sp>
        <p:nvSpPr>
          <p:cNvPr id="18" name="TextBox 17"/>
          <p:cNvSpPr txBox="1"/>
          <p:nvPr/>
        </p:nvSpPr>
        <p:spPr>
          <a:xfrm>
            <a:off x="2103120" y="4855464"/>
            <a:ext cx="2377440" cy="777240"/>
          </a:xfrm>
          <a:prstGeom prst="rect">
            <a:avLst/>
          </a:prstGeom>
          <a:noFill/>
        </p:spPr>
        <p:txBody>
          <a:bodyPr wrap="square" anchor="t">
            <a:normAutofit/>
          </a:bodyPr>
          <a:lstStyle/>
          <a:p>
            <a:pPr algn="l"/>
            <a:r>
              <a:rPr sz="950" b="0" i="0">
                <a:solidFill>
                  <a:srgbClr val="1C1C1C"/>
                </a:solidFill>
                <a:latin typeface="Arial"/>
              </a:rPr>
              <a:t>Executes the works — selected and managed through the tender.</a:t>
            </a:r>
          </a:p>
        </p:txBody>
      </p:sp>
      <p:sp>
        <p:nvSpPr>
          <p:cNvPr id="19" name="Rectangle 18"/>
          <p:cNvSpPr/>
          <p:nvPr/>
        </p:nvSpPr>
        <p:spPr>
          <a:xfrm>
            <a:off x="4846320" y="1783080"/>
            <a:ext cx="6903720" cy="4023360"/>
          </a:xfrm>
          <a:prstGeom prst="rect">
            <a:avLst/>
          </a:prstGeom>
          <a:solidFill>
            <a:srgbClr val="FFFFFF"/>
          </a:solidFill>
          <a:ln w="6350">
            <a:solidFill>
              <a:srgbClr val="E2E2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983480" y="1920240"/>
            <a:ext cx="6583680" cy="365760"/>
          </a:xfrm>
          <a:prstGeom prst="rect">
            <a:avLst/>
          </a:prstGeom>
          <a:noFill/>
        </p:spPr>
        <p:txBody>
          <a:bodyPr wrap="square" anchor="t">
            <a:normAutofit/>
          </a:bodyPr>
          <a:lstStyle/>
          <a:p>
            <a:pPr algn="ctr"/>
            <a:r>
              <a:rPr sz="1200" b="1" i="0">
                <a:solidFill>
                  <a:srgbClr val="C3002B"/>
                </a:solidFill>
                <a:latin typeface="Arial"/>
              </a:rPr>
              <a:t>C&amp;W AS THE HUB</a:t>
            </a:r>
          </a:p>
        </p:txBody>
      </p:sp>
      <p:sp>
        <p:nvSpPr>
          <p:cNvPr id="21" name="Rectangle 20"/>
          <p:cNvSpPr/>
          <p:nvPr/>
        </p:nvSpPr>
        <p:spPr>
          <a:xfrm>
            <a:off x="7635240" y="2423160"/>
            <a:ext cx="1600200" cy="868680"/>
          </a:xfrm>
          <a:prstGeom prst="rect">
            <a:avLst/>
          </a:prstGeom>
          <a:solidFill>
            <a:srgbClr val="F3F3F3"/>
          </a:solidFill>
          <a:ln w="6350">
            <a:solidFill>
              <a:srgbClr val="E2E2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635240" y="2532888"/>
            <a:ext cx="1600200" cy="685800"/>
          </a:xfrm>
          <a:prstGeom prst="rect">
            <a:avLst/>
          </a:prstGeom>
          <a:noFill/>
        </p:spPr>
        <p:txBody>
          <a:bodyPr wrap="square" anchor="t">
            <a:normAutofit/>
          </a:bodyPr>
          <a:lstStyle/>
          <a:p>
            <a:pPr algn="ctr"/>
            <a:r>
              <a:rPr sz="1000" b="1" i="0">
                <a:solidFill>
                  <a:srgbClr val="1C1C1C"/>
                </a:solidFill>
                <a:latin typeface="Arial"/>
              </a:rPr>
              <a:t>CORUM</a:t>
            </a:r>
          </a:p>
        </p:txBody>
      </p:sp>
      <p:sp>
        <p:nvSpPr>
          <p:cNvPr id="23" name="Rectangle 22"/>
          <p:cNvSpPr/>
          <p:nvPr/>
        </p:nvSpPr>
        <p:spPr>
          <a:xfrm>
            <a:off x="5486400" y="3566160"/>
            <a:ext cx="1600200" cy="868680"/>
          </a:xfrm>
          <a:prstGeom prst="rect">
            <a:avLst/>
          </a:prstGeom>
          <a:solidFill>
            <a:srgbClr val="F3F3F3"/>
          </a:solidFill>
          <a:ln w="6350">
            <a:solidFill>
              <a:srgbClr val="E2E2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486400" y="3675888"/>
            <a:ext cx="1600200" cy="685800"/>
          </a:xfrm>
          <a:prstGeom prst="rect">
            <a:avLst/>
          </a:prstGeom>
          <a:noFill/>
        </p:spPr>
        <p:txBody>
          <a:bodyPr wrap="square" anchor="t">
            <a:normAutofit/>
          </a:bodyPr>
          <a:lstStyle/>
          <a:p>
            <a:pPr algn="ctr"/>
            <a:r>
              <a:rPr sz="1000" b="1" i="0">
                <a:solidFill>
                  <a:srgbClr val="1C1C1C"/>
                </a:solidFill>
                <a:latin typeface="Arial"/>
              </a:rPr>
              <a:t>PwC</a:t>
            </a:r>
          </a:p>
        </p:txBody>
      </p:sp>
      <p:sp>
        <p:nvSpPr>
          <p:cNvPr id="25" name="Rectangle 24"/>
          <p:cNvSpPr/>
          <p:nvPr/>
        </p:nvSpPr>
        <p:spPr>
          <a:xfrm>
            <a:off x="7635240" y="4892040"/>
            <a:ext cx="1600200" cy="868680"/>
          </a:xfrm>
          <a:prstGeom prst="rect">
            <a:avLst/>
          </a:prstGeom>
          <a:solidFill>
            <a:srgbClr val="F3F3F3"/>
          </a:solidFill>
          <a:ln w="6350">
            <a:solidFill>
              <a:srgbClr val="E2E2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635240" y="5001768"/>
            <a:ext cx="1600200" cy="685800"/>
          </a:xfrm>
          <a:prstGeom prst="rect">
            <a:avLst/>
          </a:prstGeom>
          <a:noFill/>
        </p:spPr>
        <p:txBody>
          <a:bodyPr wrap="square" anchor="t">
            <a:normAutofit/>
          </a:bodyPr>
          <a:lstStyle/>
          <a:p>
            <a:pPr algn="ctr"/>
            <a:r>
              <a:rPr sz="1000" b="1" i="0">
                <a:solidFill>
                  <a:srgbClr val="1C1C1C"/>
                </a:solidFill>
                <a:latin typeface="Arial"/>
              </a:rPr>
              <a:t>M3E</a:t>
            </a:r>
          </a:p>
        </p:txBody>
      </p:sp>
      <p:sp>
        <p:nvSpPr>
          <p:cNvPr id="27" name="Rectangle 26"/>
          <p:cNvSpPr/>
          <p:nvPr/>
        </p:nvSpPr>
        <p:spPr>
          <a:xfrm>
            <a:off x="9784080" y="3566160"/>
            <a:ext cx="1600200" cy="868680"/>
          </a:xfrm>
          <a:prstGeom prst="rect">
            <a:avLst/>
          </a:prstGeom>
          <a:solidFill>
            <a:srgbClr val="F3F3F3"/>
          </a:solidFill>
          <a:ln w="6350">
            <a:solidFill>
              <a:srgbClr val="E2E2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784080" y="3675888"/>
            <a:ext cx="1600200" cy="685800"/>
          </a:xfrm>
          <a:prstGeom prst="rect">
            <a:avLst/>
          </a:prstGeom>
          <a:noFill/>
        </p:spPr>
        <p:txBody>
          <a:bodyPr wrap="square" anchor="t">
            <a:normAutofit/>
          </a:bodyPr>
          <a:lstStyle/>
          <a:p>
            <a:pPr algn="ctr"/>
            <a:r>
              <a:rPr sz="1000" b="1" i="0">
                <a:solidFill>
                  <a:srgbClr val="1C1C1C"/>
                </a:solidFill>
                <a:latin typeface="Arial"/>
              </a:rPr>
              <a:t>CONTRACTOR</a:t>
            </a:r>
          </a:p>
        </p:txBody>
      </p:sp>
      <p:sp>
        <p:nvSpPr>
          <p:cNvPr id="29" name="Rectangle 28"/>
          <p:cNvSpPr/>
          <p:nvPr/>
        </p:nvSpPr>
        <p:spPr>
          <a:xfrm>
            <a:off x="7635240" y="3520440"/>
            <a:ext cx="1600200" cy="868680"/>
          </a:xfrm>
          <a:prstGeom prst="rect">
            <a:avLst/>
          </a:prstGeom>
          <a:solidFill>
            <a:srgbClr val="C3002B"/>
          </a:solidFill>
          <a:ln w="6350">
            <a:solidFill>
              <a:srgbClr val="E2E2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635240" y="3630168"/>
            <a:ext cx="1600200" cy="685800"/>
          </a:xfrm>
          <a:prstGeom prst="rect">
            <a:avLst/>
          </a:prstGeom>
          <a:noFill/>
        </p:spPr>
        <p:txBody>
          <a:bodyPr wrap="square" anchor="t">
            <a:normAutofit/>
          </a:bodyPr>
          <a:lstStyle/>
          <a:p>
            <a:pPr algn="ctr"/>
            <a:r>
              <a:rPr sz="1000" b="1" i="0">
                <a:solidFill>
                  <a:srgbClr val="FFFFFF"/>
                </a:solidFill>
                <a:latin typeface="Arial"/>
              </a:rPr>
              <a:t>C&amp;W</a:t>
            </a:r>
          </a:p>
          <a:p>
            <a:pPr algn="ctr"/>
            <a:r>
              <a:rPr sz="1000" b="1" i="0">
                <a:solidFill>
                  <a:srgbClr val="FFFFFF"/>
                </a:solidFill>
                <a:latin typeface="Arial"/>
              </a:rPr>
              <a:t>Single point</a:t>
            </a:r>
          </a:p>
          <a:p>
            <a:pPr algn="ctr"/>
            <a:r>
              <a:rPr sz="1000" b="1" i="0">
                <a:solidFill>
                  <a:srgbClr val="FFFFFF"/>
                </a:solidFill>
                <a:latin typeface="Arial"/>
              </a:rPr>
              <a:t>of control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4592" cy="6858000"/>
          </a:xfrm>
          <a:prstGeom prst="rect">
            <a:avLst/>
          </a:prstGeom>
          <a:solidFill>
            <a:srgbClr val="C3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219456"/>
            <a:ext cx="10058400" cy="274320"/>
          </a:xfrm>
          <a:prstGeom prst="rect">
            <a:avLst/>
          </a:prstGeom>
          <a:noFill/>
        </p:spPr>
        <p:txBody>
          <a:bodyPr wrap="square" anchor="t">
            <a:normAutofit/>
          </a:bodyPr>
          <a:lstStyle/>
          <a:p>
            <a:pPr algn="l"/>
            <a:r>
              <a:rPr sz="1000" b="1" i="0">
                <a:solidFill>
                  <a:srgbClr val="C3002B"/>
                </a:solidFill>
                <a:latin typeface="Arial"/>
              </a:rPr>
              <a:t>02 — WHAT WE TAKE OFF YOUR PLATE  ·  THE TECHNIQUE</a:t>
            </a:r>
          </a:p>
        </p:txBody>
      </p:sp>
      <p:sp>
        <p:nvSpPr>
          <p:cNvPr id="4" name="TextBox 3"/>
          <p:cNvSpPr txBox="1"/>
          <p:nvPr/>
        </p:nvSpPr>
        <p:spPr>
          <a:xfrm>
            <a:off x="411480" y="457200"/>
            <a:ext cx="11155680" cy="868680"/>
          </a:xfrm>
          <a:prstGeom prst="rect">
            <a:avLst/>
          </a:prstGeom>
          <a:noFill/>
        </p:spPr>
        <p:txBody>
          <a:bodyPr wrap="square" anchor="t">
            <a:normAutofit/>
          </a:bodyPr>
          <a:lstStyle/>
          <a:p>
            <a:pPr algn="l"/>
            <a:r>
              <a:rPr sz="2300" b="1" i="0">
                <a:solidFill>
                  <a:srgbClr val="1C1C1C"/>
                </a:solidFill>
                <a:latin typeface="Arial"/>
              </a:rPr>
              <a:t>Two technical routes to Paris Proof — we make the choice</a:t>
            </a:r>
          </a:p>
          <a:p>
            <a:pPr algn="l"/>
            <a:r>
              <a:rPr sz="2300" b="1" i="0">
                <a:solidFill>
                  <a:srgbClr val="1C1C1C"/>
                </a:solidFill>
                <a:latin typeface="Arial"/>
              </a:rPr>
              <a:t>decision-ready for you</a:t>
            </a:r>
          </a:p>
        </p:txBody>
      </p:sp>
      <p:sp>
        <p:nvSpPr>
          <p:cNvPr id="5" name="TextBox 4"/>
          <p:cNvSpPr txBox="1"/>
          <p:nvPr/>
        </p:nvSpPr>
        <p:spPr>
          <a:xfrm>
            <a:off x="411480" y="6446520"/>
            <a:ext cx="5486400" cy="274320"/>
          </a:xfrm>
          <a:prstGeom prst="rect">
            <a:avLst/>
          </a:prstGeom>
          <a:noFill/>
        </p:spPr>
        <p:txBody>
          <a:bodyPr wrap="square" anchor="t">
            <a:normAutofit/>
          </a:bodyPr>
          <a:lstStyle/>
          <a:p>
            <a:pPr algn="l"/>
            <a:r>
              <a:rPr sz="800" b="0" i="0">
                <a:solidFill>
                  <a:srgbClr val="7A7A7A"/>
                </a:solidFill>
                <a:latin typeface="Arial"/>
              </a:rPr>
              <a:t>CUSHMAN &amp; WAKEFIELD  |  CORUM A.M.  ·  WESTGATE I</a:t>
            </a:r>
          </a:p>
        </p:txBody>
      </p:sp>
      <p:sp>
        <p:nvSpPr>
          <p:cNvPr id="6" name="TextBox 5"/>
          <p:cNvSpPr txBox="1"/>
          <p:nvPr/>
        </p:nvSpPr>
        <p:spPr>
          <a:xfrm>
            <a:off x="11475720" y="6446520"/>
            <a:ext cx="502920" cy="274320"/>
          </a:xfrm>
          <a:prstGeom prst="rect">
            <a:avLst/>
          </a:prstGeom>
          <a:noFill/>
        </p:spPr>
        <p:txBody>
          <a:bodyPr wrap="square" anchor="t">
            <a:normAutofit/>
          </a:bodyPr>
          <a:lstStyle/>
          <a:p>
            <a:pPr algn="r"/>
            <a:r>
              <a:rPr sz="1000" b="0" i="0">
                <a:solidFill>
                  <a:srgbClr val="7A7A7A"/>
                </a:solidFill>
                <a:latin typeface="Arial"/>
              </a:rPr>
              <a:t>9</a:t>
            </a:r>
          </a:p>
        </p:txBody>
      </p:sp>
      <p:sp>
        <p:nvSpPr>
          <p:cNvPr id="7" name="Rounded Rectangle 6"/>
          <p:cNvSpPr/>
          <p:nvPr/>
        </p:nvSpPr>
        <p:spPr>
          <a:xfrm>
            <a:off x="7726679" y="6419088"/>
            <a:ext cx="3657600" cy="292608"/>
          </a:xfrm>
          <a:prstGeom prst="roundRect">
            <a:avLst/>
          </a:prstGeom>
          <a:solidFill>
            <a:srgbClr val="C3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26679" y="6455664"/>
            <a:ext cx="3657600" cy="237744"/>
          </a:xfrm>
          <a:prstGeom prst="rect">
            <a:avLst/>
          </a:prstGeom>
          <a:noFill/>
        </p:spPr>
        <p:txBody>
          <a:bodyPr wrap="square" anchor="t">
            <a:normAutofit/>
          </a:bodyPr>
          <a:lstStyle/>
          <a:p>
            <a:pPr algn="ctr"/>
            <a:r>
              <a:rPr sz="800" b="1" i="0">
                <a:solidFill>
                  <a:srgbClr val="FFFFFF"/>
                </a:solidFill>
                <a:latin typeface="Arial"/>
              </a:rPr>
              <a:t>CORUM DECIDES  ·  C&amp;W DELIVERS  ·  PwC ALIGNED</a:t>
            </a:r>
          </a:p>
        </p:txBody>
      </p:sp>
      <p:sp>
        <p:nvSpPr>
          <p:cNvPr id="9" name="TextBox 8"/>
          <p:cNvSpPr txBox="1"/>
          <p:nvPr/>
        </p:nvSpPr>
        <p:spPr>
          <a:xfrm>
            <a:off x="411480" y="1600200"/>
            <a:ext cx="11155680" cy="320040"/>
          </a:xfrm>
          <a:prstGeom prst="rect">
            <a:avLst/>
          </a:prstGeom>
          <a:noFill/>
        </p:spPr>
        <p:txBody>
          <a:bodyPr wrap="square" anchor="t">
            <a:normAutofit/>
          </a:bodyPr>
          <a:lstStyle/>
          <a:p>
            <a:pPr algn="l"/>
            <a:r>
              <a:rPr sz="1050" b="0" i="1">
                <a:solidFill>
                  <a:srgbClr val="7A7A7A"/>
                </a:solidFill>
                <a:latin typeface="Arial"/>
              </a:rPr>
              <a:t>Based on M3E's scenario notes (9 Feb 2026). Our job is not to design — it is to turn this choice into a clear, costed, de-risked decision.</a:t>
            </a:r>
          </a:p>
        </p:txBody>
      </p:sp>
      <p:sp>
        <p:nvSpPr>
          <p:cNvPr id="10" name="Rectangle 9"/>
          <p:cNvSpPr/>
          <p:nvPr/>
        </p:nvSpPr>
        <p:spPr>
          <a:xfrm>
            <a:off x="411480" y="2011680"/>
            <a:ext cx="5577840" cy="3291840"/>
          </a:xfrm>
          <a:prstGeom prst="rect">
            <a:avLst/>
          </a:prstGeom>
          <a:solidFill>
            <a:srgbClr val="FFFFFF"/>
          </a:solidFill>
          <a:ln w="6350">
            <a:solidFill>
              <a:srgbClr val="E2E2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11480" y="2011680"/>
            <a:ext cx="5577840" cy="502920"/>
          </a:xfrm>
          <a:prstGeom prst="rect">
            <a:avLst/>
          </a:prstGeom>
          <a:solidFill>
            <a:srgbClr val="C3002B"/>
          </a:solidFill>
          <a:ln w="6350">
            <a:solidFill>
              <a:srgbClr val="E2E2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21208" y="2093976"/>
            <a:ext cx="5349240" cy="365760"/>
          </a:xfrm>
          <a:prstGeom prst="rect">
            <a:avLst/>
          </a:prstGeom>
          <a:noFill/>
        </p:spPr>
        <p:txBody>
          <a:bodyPr wrap="square" anchor="t">
            <a:normAutofit/>
          </a:bodyPr>
          <a:lstStyle/>
          <a:p>
            <a:pPr algn="l"/>
            <a:r>
              <a:rPr sz="1050" b="1" i="0">
                <a:solidFill>
                  <a:srgbClr val="FFFFFF"/>
                </a:solidFill>
                <a:latin typeface="Arial"/>
              </a:rPr>
              <a:t>PREFERRED — LT-WKO + CLIMATE CEILINGS</a:t>
            </a:r>
          </a:p>
        </p:txBody>
      </p:sp>
      <p:sp>
        <p:nvSpPr>
          <p:cNvPr id="13" name="TextBox 12"/>
          <p:cNvSpPr txBox="1"/>
          <p:nvPr/>
        </p:nvSpPr>
        <p:spPr>
          <a:xfrm>
            <a:off x="594360" y="2651760"/>
            <a:ext cx="5212080" cy="2560320"/>
          </a:xfrm>
          <a:prstGeom prst="rect">
            <a:avLst/>
          </a:prstGeom>
          <a:noFill/>
        </p:spPr>
        <p:txBody>
          <a:bodyPr wrap="square" anchor="t">
            <a:normAutofit/>
          </a:bodyPr>
          <a:lstStyle/>
          <a:p>
            <a:pPr algn="l">
              <a:spcAft>
                <a:spcPts val="300"/>
              </a:spcAft>
            </a:pPr>
            <a:r>
              <a:rPr sz="1050" b="0" i="0">
                <a:solidFill>
                  <a:srgbClr val="1C1C1C"/>
                </a:solidFill>
                <a:latin typeface="Arial"/>
              </a:rPr>
              <a:t>•  Full replacement of the gas installation</a:t>
            </a:r>
          </a:p>
          <a:p>
            <a:pPr algn="l">
              <a:spcAft>
                <a:spcPts val="300"/>
              </a:spcAft>
            </a:pPr>
            <a:r>
              <a:rPr sz="1050" b="0" i="0">
                <a:solidFill>
                  <a:srgbClr val="1C1C1C"/>
                </a:solidFill>
                <a:latin typeface="Arial"/>
              </a:rPr>
              <a:t>•  Low-temperature thermal storage (WKO): warm &amp; cold source</a:t>
            </a:r>
          </a:p>
          <a:p>
            <a:pPr algn="l">
              <a:spcAft>
                <a:spcPts val="300"/>
              </a:spcAft>
            </a:pPr>
            <a:r>
              <a:rPr sz="1050" b="0" i="0">
                <a:solidFill>
                  <a:srgbClr val="1C1C1C"/>
                </a:solidFill>
                <a:latin typeface="Arial"/>
              </a:rPr>
              <a:t>•  Energy plant in the basement (heat pumps, buffers)</a:t>
            </a:r>
          </a:p>
          <a:p>
            <a:pPr algn="l">
              <a:spcAft>
                <a:spcPts val="300"/>
              </a:spcAft>
            </a:pPr>
            <a:r>
              <a:rPr sz="1050" b="0" i="0">
                <a:solidFill>
                  <a:srgbClr val="1C1C1C"/>
                </a:solidFill>
                <a:latin typeface="Arial"/>
              </a:rPr>
              <a:t>•  Climate ceilings + new VAV (no induction) per floor</a:t>
            </a:r>
          </a:p>
          <a:p>
            <a:pPr algn="l">
              <a:spcAft>
                <a:spcPts val="300"/>
              </a:spcAft>
            </a:pPr>
            <a:r>
              <a:rPr sz="1050" b="0" i="0">
                <a:solidFill>
                  <a:srgbClr val="1C1C1C"/>
                </a:solidFill>
                <a:latin typeface="Arial"/>
              </a:rPr>
              <a:t>•  New integral controls; energy metering per floor</a:t>
            </a:r>
          </a:p>
          <a:p>
            <a:pPr algn="l">
              <a:spcAft>
                <a:spcPts val="300"/>
              </a:spcAft>
            </a:pPr>
            <a:r>
              <a:rPr sz="1050" b="0" i="0">
                <a:solidFill>
                  <a:srgbClr val="1C1C1C"/>
                </a:solidFill>
                <a:latin typeface="Arial"/>
              </a:rPr>
              <a:t>•  Phased floor-by-floor — building stays in use</a:t>
            </a:r>
          </a:p>
          <a:p>
            <a:pPr algn="l">
              <a:spcAft>
                <a:spcPts val="300"/>
              </a:spcAft>
            </a:pPr>
            <a:r>
              <a:rPr sz="1050" b="0" i="0">
                <a:solidFill>
                  <a:srgbClr val="1C1C1C"/>
                </a:solidFill>
                <a:latin typeface="Arial"/>
              </a:rPr>
              <a:t>•  Future-proof: one intervention, done</a:t>
            </a:r>
          </a:p>
        </p:txBody>
      </p:sp>
      <p:sp>
        <p:nvSpPr>
          <p:cNvPr id="14" name="Rectangle 13"/>
          <p:cNvSpPr/>
          <p:nvPr/>
        </p:nvSpPr>
        <p:spPr>
          <a:xfrm>
            <a:off x="6217920" y="2011680"/>
            <a:ext cx="5577840" cy="3291840"/>
          </a:xfrm>
          <a:prstGeom prst="rect">
            <a:avLst/>
          </a:prstGeom>
          <a:solidFill>
            <a:srgbClr val="FFFFFF"/>
          </a:solidFill>
          <a:ln w="6350">
            <a:solidFill>
              <a:srgbClr val="E2E2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217920" y="2011680"/>
            <a:ext cx="5577840" cy="502920"/>
          </a:xfrm>
          <a:prstGeom prst="rect">
            <a:avLst/>
          </a:prstGeom>
          <a:solidFill>
            <a:srgbClr val="1C1C1C"/>
          </a:solidFill>
          <a:ln w="6350">
            <a:solidFill>
              <a:srgbClr val="E2E2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327648" y="2093976"/>
            <a:ext cx="5349240" cy="365760"/>
          </a:xfrm>
          <a:prstGeom prst="rect">
            <a:avLst/>
          </a:prstGeom>
          <a:noFill/>
        </p:spPr>
        <p:txBody>
          <a:bodyPr wrap="square" anchor="t">
            <a:normAutofit/>
          </a:bodyPr>
          <a:lstStyle/>
          <a:p>
            <a:pPr algn="l"/>
            <a:r>
              <a:rPr sz="1050" b="1" i="0">
                <a:solidFill>
                  <a:srgbClr val="FFFFFF"/>
                </a:solidFill>
                <a:latin typeface="Arial"/>
              </a:rPr>
              <a:t>ALTERNATIVE — AIR-WATER HP + VRF + RETAINED VAV</a:t>
            </a:r>
          </a:p>
        </p:txBody>
      </p:sp>
      <p:sp>
        <p:nvSpPr>
          <p:cNvPr id="17" name="TextBox 16"/>
          <p:cNvSpPr txBox="1"/>
          <p:nvPr/>
        </p:nvSpPr>
        <p:spPr>
          <a:xfrm>
            <a:off x="6400800" y="2651760"/>
            <a:ext cx="5212080" cy="2560320"/>
          </a:xfrm>
          <a:prstGeom prst="rect">
            <a:avLst/>
          </a:prstGeom>
          <a:noFill/>
        </p:spPr>
        <p:txBody>
          <a:bodyPr wrap="square" anchor="t">
            <a:normAutofit/>
          </a:bodyPr>
          <a:lstStyle/>
          <a:p>
            <a:pPr algn="l">
              <a:spcAft>
                <a:spcPts val="300"/>
              </a:spcAft>
            </a:pPr>
            <a:r>
              <a:rPr sz="1050" b="0" i="0">
                <a:solidFill>
                  <a:srgbClr val="1C1C1C"/>
                </a:solidFill>
                <a:latin typeface="Arial"/>
              </a:rPr>
              <a:t>•  Air-water heat pump for base heating (roof)</a:t>
            </a:r>
          </a:p>
          <a:p>
            <a:pPr algn="l">
              <a:spcAft>
                <a:spcPts val="300"/>
              </a:spcAft>
            </a:pPr>
            <a:r>
              <a:rPr sz="1050" b="0" i="0">
                <a:solidFill>
                  <a:srgbClr val="1C1C1C"/>
                </a:solidFill>
                <a:latin typeface="Arial"/>
              </a:rPr>
              <a:t>•  Existing VAV induction units retained</a:t>
            </a:r>
          </a:p>
          <a:p>
            <a:pPr algn="l">
              <a:spcAft>
                <a:spcPts val="300"/>
              </a:spcAft>
            </a:pPr>
            <a:r>
              <a:rPr sz="1050" b="0" i="0">
                <a:solidFill>
                  <a:srgbClr val="1C1C1C"/>
                </a:solidFill>
                <a:latin typeface="Arial"/>
              </a:rPr>
              <a:t>•  VRF system with convectors for zone control per floor</a:t>
            </a:r>
          </a:p>
          <a:p>
            <a:pPr algn="l">
              <a:spcAft>
                <a:spcPts val="300"/>
              </a:spcAft>
            </a:pPr>
            <a:r>
              <a:rPr sz="1050" b="0" i="0">
                <a:solidFill>
                  <a:srgbClr val="1C1C1C"/>
                </a:solidFill>
                <a:latin typeface="Arial"/>
              </a:rPr>
              <a:t>•  New DX block replaces outdated cooling</a:t>
            </a:r>
          </a:p>
          <a:p>
            <a:pPr algn="l">
              <a:spcAft>
                <a:spcPts val="300"/>
              </a:spcAft>
            </a:pPr>
            <a:r>
              <a:rPr sz="1050" b="0" i="0">
                <a:solidFill>
                  <a:srgbClr val="1C1C1C"/>
                </a:solidFill>
                <a:latin typeface="Arial"/>
              </a:rPr>
              <a:t>•  Fewer interventions on the office floors</a:t>
            </a:r>
          </a:p>
          <a:p>
            <a:pPr algn="l">
              <a:spcAft>
                <a:spcPts val="300"/>
              </a:spcAft>
            </a:pPr>
            <a:r>
              <a:rPr sz="1050" b="0" i="0">
                <a:solidFill>
                  <a:srgbClr val="1C1C1C"/>
                </a:solidFill>
                <a:latin typeface="Arial"/>
              </a:rPr>
              <a:t>•  Hybrid system — careful controls integration needed</a:t>
            </a:r>
          </a:p>
          <a:p>
            <a:pPr algn="l">
              <a:spcAft>
                <a:spcPts val="300"/>
              </a:spcAft>
            </a:pPr>
            <a:r>
              <a:rPr sz="1050" b="0" i="0">
                <a:solidFill>
                  <a:srgbClr val="1C1C1C"/>
                </a:solidFill>
                <a:latin typeface="Arial"/>
              </a:rPr>
              <a:t>•  Residual VAV life ± 6–9 yrs → a second intervention later</a:t>
            </a:r>
          </a:p>
        </p:txBody>
      </p:sp>
      <p:sp>
        <p:nvSpPr>
          <p:cNvPr id="18" name="Rectangle 17"/>
          <p:cNvSpPr/>
          <p:nvPr/>
        </p:nvSpPr>
        <p:spPr>
          <a:xfrm>
            <a:off x="411480" y="5440680"/>
            <a:ext cx="11338560" cy="777240"/>
          </a:xfrm>
          <a:prstGeom prst="rect">
            <a:avLst/>
          </a:prstGeom>
          <a:solidFill>
            <a:srgbClr val="F3F3F3"/>
          </a:solidFill>
          <a:ln w="6350">
            <a:solidFill>
              <a:srgbClr val="E2E2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48640" y="5532120"/>
            <a:ext cx="11064240" cy="640080"/>
          </a:xfrm>
          <a:prstGeom prst="rect">
            <a:avLst/>
          </a:prstGeom>
          <a:noFill/>
        </p:spPr>
        <p:txBody>
          <a:bodyPr wrap="square" anchor="t">
            <a:normAutofit/>
          </a:bodyPr>
          <a:lstStyle/>
          <a:p>
            <a:pPr algn="l"/>
            <a:r>
              <a:rPr sz="1100" b="1" i="0">
                <a:solidFill>
                  <a:srgbClr val="1C1C1C"/>
                </a:solidFill>
                <a:latin typeface="Arial"/>
              </a:rPr>
              <a:t>C&amp;W's role: benchmark both routes on cost, disruption to PwC and long-term asset value — then bring Corum a single, recommended decision. Our management approach is robust for either scenario: phased, floor-by-floor, tenant-first.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4592" cy="6858000"/>
          </a:xfrm>
          <a:prstGeom prst="rect">
            <a:avLst/>
          </a:prstGeom>
          <a:solidFill>
            <a:srgbClr val="C3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219456"/>
            <a:ext cx="10058400" cy="274320"/>
          </a:xfrm>
          <a:prstGeom prst="rect">
            <a:avLst/>
          </a:prstGeom>
          <a:noFill/>
        </p:spPr>
        <p:txBody>
          <a:bodyPr wrap="square" anchor="t">
            <a:normAutofit/>
          </a:bodyPr>
          <a:lstStyle/>
          <a:p>
            <a:pPr algn="l"/>
            <a:r>
              <a:rPr sz="1000" b="1" i="0">
                <a:solidFill>
                  <a:srgbClr val="C3002B"/>
                </a:solidFill>
                <a:latin typeface="Arial"/>
              </a:rPr>
              <a:t>02 — WHAT WE TAKE OFF YOUR PLATE  ·  DEEP DIVE 1 OF 2</a:t>
            </a:r>
          </a:p>
        </p:txBody>
      </p:sp>
      <p:sp>
        <p:nvSpPr>
          <p:cNvPr id="4" name="TextBox 3"/>
          <p:cNvSpPr txBox="1"/>
          <p:nvPr/>
        </p:nvSpPr>
        <p:spPr>
          <a:xfrm>
            <a:off x="411480" y="457200"/>
            <a:ext cx="11155680" cy="868680"/>
          </a:xfrm>
          <a:prstGeom prst="rect">
            <a:avLst/>
          </a:prstGeom>
          <a:noFill/>
        </p:spPr>
        <p:txBody>
          <a:bodyPr wrap="square" anchor="t">
            <a:normAutofit/>
          </a:bodyPr>
          <a:lstStyle/>
          <a:p>
            <a:pPr algn="l"/>
            <a:r>
              <a:rPr sz="2300" b="1" i="0">
                <a:solidFill>
                  <a:srgbClr val="1C1C1C"/>
                </a:solidFill>
                <a:latin typeface="Arial"/>
              </a:rPr>
              <a:t>We deliver the works with PwC fully aware and aligned —</a:t>
            </a:r>
          </a:p>
          <a:p>
            <a:pPr algn="l"/>
            <a:r>
              <a:rPr sz="2300" b="1" i="0">
                <a:solidFill>
                  <a:srgbClr val="1C1C1C"/>
                </a:solidFill>
                <a:latin typeface="Arial"/>
              </a:rPr>
              <a:t>so your tenant stays confident and your lease stays intact</a:t>
            </a:r>
          </a:p>
        </p:txBody>
      </p:sp>
      <p:sp>
        <p:nvSpPr>
          <p:cNvPr id="5" name="TextBox 4"/>
          <p:cNvSpPr txBox="1"/>
          <p:nvPr/>
        </p:nvSpPr>
        <p:spPr>
          <a:xfrm>
            <a:off x="411480" y="6446520"/>
            <a:ext cx="5486400" cy="274320"/>
          </a:xfrm>
          <a:prstGeom prst="rect">
            <a:avLst/>
          </a:prstGeom>
          <a:noFill/>
        </p:spPr>
        <p:txBody>
          <a:bodyPr wrap="square" anchor="t">
            <a:normAutofit/>
          </a:bodyPr>
          <a:lstStyle/>
          <a:p>
            <a:pPr algn="l"/>
            <a:r>
              <a:rPr sz="800" b="0" i="0">
                <a:solidFill>
                  <a:srgbClr val="7A7A7A"/>
                </a:solidFill>
                <a:latin typeface="Arial"/>
              </a:rPr>
              <a:t>CUSHMAN &amp; WAKEFIELD  |  CORUM A.M.  ·  WESTGATE I</a:t>
            </a:r>
          </a:p>
        </p:txBody>
      </p:sp>
      <p:sp>
        <p:nvSpPr>
          <p:cNvPr id="6" name="TextBox 5"/>
          <p:cNvSpPr txBox="1"/>
          <p:nvPr/>
        </p:nvSpPr>
        <p:spPr>
          <a:xfrm>
            <a:off x="11475720" y="6446520"/>
            <a:ext cx="502920" cy="274320"/>
          </a:xfrm>
          <a:prstGeom prst="rect">
            <a:avLst/>
          </a:prstGeom>
          <a:noFill/>
        </p:spPr>
        <p:txBody>
          <a:bodyPr wrap="square" anchor="t">
            <a:normAutofit/>
          </a:bodyPr>
          <a:lstStyle/>
          <a:p>
            <a:pPr algn="r"/>
            <a:r>
              <a:rPr sz="1000" b="0" i="0">
                <a:solidFill>
                  <a:srgbClr val="7A7A7A"/>
                </a:solidFill>
                <a:latin typeface="Arial"/>
              </a:rPr>
              <a:t>10</a:t>
            </a:r>
          </a:p>
        </p:txBody>
      </p:sp>
      <p:sp>
        <p:nvSpPr>
          <p:cNvPr id="7" name="Rounded Rectangle 6"/>
          <p:cNvSpPr/>
          <p:nvPr/>
        </p:nvSpPr>
        <p:spPr>
          <a:xfrm>
            <a:off x="7726679" y="6419088"/>
            <a:ext cx="3657600" cy="292608"/>
          </a:xfrm>
          <a:prstGeom prst="roundRect">
            <a:avLst/>
          </a:prstGeom>
          <a:solidFill>
            <a:srgbClr val="C3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26679" y="6455664"/>
            <a:ext cx="3657600" cy="237744"/>
          </a:xfrm>
          <a:prstGeom prst="rect">
            <a:avLst/>
          </a:prstGeom>
          <a:noFill/>
        </p:spPr>
        <p:txBody>
          <a:bodyPr wrap="square" anchor="t">
            <a:normAutofit/>
          </a:bodyPr>
          <a:lstStyle/>
          <a:p>
            <a:pPr algn="ctr"/>
            <a:r>
              <a:rPr sz="800" b="1" i="0">
                <a:solidFill>
                  <a:srgbClr val="FFFFFF"/>
                </a:solidFill>
                <a:latin typeface="Arial"/>
              </a:rPr>
              <a:t>CORUM DECIDES  ·  C&amp;W DELIVERS  ·  PwC ALIGNED</a:t>
            </a:r>
          </a:p>
        </p:txBody>
      </p:sp>
      <p:sp>
        <p:nvSpPr>
          <p:cNvPr id="9" name="TextBox 8"/>
          <p:cNvSpPr txBox="1"/>
          <p:nvPr/>
        </p:nvSpPr>
        <p:spPr>
          <a:xfrm>
            <a:off x="411480" y="1691640"/>
            <a:ext cx="11247120" cy="731520"/>
          </a:xfrm>
          <a:prstGeom prst="rect">
            <a:avLst/>
          </a:prstGeom>
          <a:noFill/>
        </p:spPr>
        <p:txBody>
          <a:bodyPr wrap="square" anchor="t">
            <a:normAutofit/>
          </a:bodyPr>
          <a:lstStyle/>
          <a:p>
            <a:pPr algn="l"/>
            <a:r>
              <a:rPr sz="1150" b="0" i="0">
                <a:solidFill>
                  <a:srgbClr val="1C1C1C"/>
                </a:solidFill>
                <a:latin typeface="Arial"/>
              </a:rPr>
              <a:t>From day one, PwC deals with one familiar C&amp;W face. We keep the tenant actively involved in the decisions that affect them, with continuous insight into progress and planning and timely notice of anything that touches their operations. The outcome, in Corum's own words: PwC experiences full confidence that the project is under control.</a:t>
            </a:r>
          </a:p>
        </p:txBody>
      </p:sp>
      <p:sp>
        <p:nvSpPr>
          <p:cNvPr id="10" name="Rectangle 9"/>
          <p:cNvSpPr/>
          <p:nvPr/>
        </p:nvSpPr>
        <p:spPr>
          <a:xfrm>
            <a:off x="411480" y="2788920"/>
            <a:ext cx="5577840" cy="1417320"/>
          </a:xfrm>
          <a:prstGeom prst="rect">
            <a:avLst/>
          </a:prstGeom>
          <a:solidFill>
            <a:srgbClr val="FFFFFF"/>
          </a:solidFill>
          <a:ln w="6350">
            <a:solidFill>
              <a:srgbClr val="E2E2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76072" y="2898648"/>
            <a:ext cx="5212080" cy="365760"/>
          </a:xfrm>
          <a:prstGeom prst="rect">
            <a:avLst/>
          </a:prstGeom>
          <a:noFill/>
        </p:spPr>
        <p:txBody>
          <a:bodyPr wrap="square" anchor="t">
            <a:normAutofit/>
          </a:bodyPr>
          <a:lstStyle/>
          <a:p>
            <a:pPr algn="l"/>
            <a:r>
              <a:rPr sz="1200" b="1" i="0">
                <a:solidFill>
                  <a:srgbClr val="C3002B"/>
                </a:solidFill>
                <a:latin typeface="Arial"/>
              </a:rPr>
              <a:t>ONE FAMILIAR INTERFACE</a:t>
            </a:r>
          </a:p>
        </p:txBody>
      </p:sp>
      <p:sp>
        <p:nvSpPr>
          <p:cNvPr id="12" name="TextBox 11"/>
          <p:cNvSpPr txBox="1"/>
          <p:nvPr/>
        </p:nvSpPr>
        <p:spPr>
          <a:xfrm>
            <a:off x="576072" y="3337560"/>
            <a:ext cx="5257800" cy="822960"/>
          </a:xfrm>
          <a:prstGeom prst="rect">
            <a:avLst/>
          </a:prstGeom>
          <a:noFill/>
        </p:spPr>
        <p:txBody>
          <a:bodyPr wrap="square" anchor="t">
            <a:normAutofit/>
          </a:bodyPr>
          <a:lstStyle/>
          <a:p>
            <a:pPr algn="l"/>
            <a:r>
              <a:rPr sz="1050" b="0" i="0">
                <a:solidFill>
                  <a:srgbClr val="1C1C1C"/>
                </a:solidFill>
                <a:latin typeface="Arial"/>
              </a:rPr>
              <a:t>The Stakeholder Management PM owns the PwC relationship end-to-end — one consistent, familiar point of contact for everything that touches the tenant.</a:t>
            </a:r>
          </a:p>
        </p:txBody>
      </p:sp>
      <p:sp>
        <p:nvSpPr>
          <p:cNvPr id="13" name="Rectangle 12"/>
          <p:cNvSpPr/>
          <p:nvPr/>
        </p:nvSpPr>
        <p:spPr>
          <a:xfrm>
            <a:off x="6217920" y="2788920"/>
            <a:ext cx="5577840" cy="1417320"/>
          </a:xfrm>
          <a:prstGeom prst="rect">
            <a:avLst/>
          </a:prstGeom>
          <a:solidFill>
            <a:srgbClr val="FFFFFF"/>
          </a:solidFill>
          <a:ln w="6350">
            <a:solidFill>
              <a:srgbClr val="E2E2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82512" y="2898648"/>
            <a:ext cx="5212080" cy="365760"/>
          </a:xfrm>
          <a:prstGeom prst="rect">
            <a:avLst/>
          </a:prstGeom>
          <a:noFill/>
        </p:spPr>
        <p:txBody>
          <a:bodyPr wrap="square" anchor="t">
            <a:normAutofit/>
          </a:bodyPr>
          <a:lstStyle/>
          <a:p>
            <a:pPr algn="l"/>
            <a:r>
              <a:rPr sz="1200" b="1" i="0">
                <a:solidFill>
                  <a:srgbClr val="C3002B"/>
                </a:solidFill>
                <a:latin typeface="Arial"/>
              </a:rPr>
              <a:t>ACTIVELY INVOLVED IN DECISIONS</a:t>
            </a:r>
          </a:p>
        </p:txBody>
      </p:sp>
      <p:sp>
        <p:nvSpPr>
          <p:cNvPr id="15" name="TextBox 14"/>
          <p:cNvSpPr txBox="1"/>
          <p:nvPr/>
        </p:nvSpPr>
        <p:spPr>
          <a:xfrm>
            <a:off x="6382512" y="3337560"/>
            <a:ext cx="5257800" cy="822960"/>
          </a:xfrm>
          <a:prstGeom prst="rect">
            <a:avLst/>
          </a:prstGeom>
          <a:noFill/>
        </p:spPr>
        <p:txBody>
          <a:bodyPr wrap="square" anchor="t">
            <a:normAutofit/>
          </a:bodyPr>
          <a:lstStyle/>
          <a:p>
            <a:pPr algn="l"/>
            <a:r>
              <a:rPr sz="1050" b="0" i="0">
                <a:solidFill>
                  <a:srgbClr val="1C1C1C"/>
                </a:solidFill>
                <a:latin typeface="Arial"/>
              </a:rPr>
              <a:t>PwC is actively involved in the decision-making process on matters that affect them — briefed early, aligned before we act, never presented with a fait accompli.</a:t>
            </a:r>
          </a:p>
        </p:txBody>
      </p:sp>
      <p:sp>
        <p:nvSpPr>
          <p:cNvPr id="16" name="Rectangle 15"/>
          <p:cNvSpPr/>
          <p:nvPr/>
        </p:nvSpPr>
        <p:spPr>
          <a:xfrm>
            <a:off x="411480" y="4389120"/>
            <a:ext cx="5577840" cy="1417320"/>
          </a:xfrm>
          <a:prstGeom prst="rect">
            <a:avLst/>
          </a:prstGeom>
          <a:solidFill>
            <a:srgbClr val="FFFFFF"/>
          </a:solidFill>
          <a:ln w="6350">
            <a:solidFill>
              <a:srgbClr val="E2E2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76072" y="4498848"/>
            <a:ext cx="5212080" cy="365760"/>
          </a:xfrm>
          <a:prstGeom prst="rect">
            <a:avLst/>
          </a:prstGeom>
          <a:noFill/>
        </p:spPr>
        <p:txBody>
          <a:bodyPr wrap="square" anchor="t">
            <a:normAutofit/>
          </a:bodyPr>
          <a:lstStyle/>
          <a:p>
            <a:pPr algn="l"/>
            <a:r>
              <a:rPr sz="1200" b="1" i="0">
                <a:solidFill>
                  <a:srgbClr val="C3002B"/>
                </a:solidFill>
                <a:latin typeface="Arial"/>
              </a:rPr>
              <a:t>CONTINUOUS INSIGHT &amp; TIMELY NOTICE</a:t>
            </a:r>
          </a:p>
        </p:txBody>
      </p:sp>
      <p:sp>
        <p:nvSpPr>
          <p:cNvPr id="18" name="TextBox 17"/>
          <p:cNvSpPr txBox="1"/>
          <p:nvPr/>
        </p:nvSpPr>
        <p:spPr>
          <a:xfrm>
            <a:off x="576072" y="4937760"/>
            <a:ext cx="5257800" cy="822960"/>
          </a:xfrm>
          <a:prstGeom prst="rect">
            <a:avLst/>
          </a:prstGeom>
          <a:noFill/>
        </p:spPr>
        <p:txBody>
          <a:bodyPr wrap="square" anchor="t">
            <a:normAutofit/>
          </a:bodyPr>
          <a:lstStyle/>
          <a:p>
            <a:pPr algn="l"/>
            <a:r>
              <a:rPr sz="1050" b="0" i="0">
                <a:solidFill>
                  <a:srgbClr val="1C1C1C"/>
                </a:solidFill>
                <a:latin typeface="Arial"/>
              </a:rPr>
              <a:t>Continuous insight into progress and planning, and timely communication of any change that impacts business operations — noise, access and disruption kept inside agreed windows.</a:t>
            </a:r>
          </a:p>
        </p:txBody>
      </p:sp>
      <p:sp>
        <p:nvSpPr>
          <p:cNvPr id="19" name="Rectangle 18"/>
          <p:cNvSpPr/>
          <p:nvPr/>
        </p:nvSpPr>
        <p:spPr>
          <a:xfrm>
            <a:off x="6217920" y="4389120"/>
            <a:ext cx="5577840" cy="1417320"/>
          </a:xfrm>
          <a:prstGeom prst="rect">
            <a:avLst/>
          </a:prstGeom>
          <a:solidFill>
            <a:srgbClr val="FFFFFF"/>
          </a:solidFill>
          <a:ln w="6350">
            <a:solidFill>
              <a:srgbClr val="E2E2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82512" y="4498848"/>
            <a:ext cx="5212080" cy="365760"/>
          </a:xfrm>
          <a:prstGeom prst="rect">
            <a:avLst/>
          </a:prstGeom>
          <a:noFill/>
        </p:spPr>
        <p:txBody>
          <a:bodyPr wrap="square" anchor="t">
            <a:normAutofit/>
          </a:bodyPr>
          <a:lstStyle/>
          <a:p>
            <a:pPr algn="l"/>
            <a:r>
              <a:rPr sz="1200" b="1" i="0">
                <a:solidFill>
                  <a:srgbClr val="C3002B"/>
                </a:solidFill>
                <a:latin typeface="Arial"/>
              </a:rPr>
              <a:t>FULL CONFIDENCE, PROTECTED VALUE</a:t>
            </a:r>
          </a:p>
        </p:txBody>
      </p:sp>
      <p:sp>
        <p:nvSpPr>
          <p:cNvPr id="21" name="TextBox 20"/>
          <p:cNvSpPr txBox="1"/>
          <p:nvPr/>
        </p:nvSpPr>
        <p:spPr>
          <a:xfrm>
            <a:off x="6382512" y="4937760"/>
            <a:ext cx="5257800" cy="822960"/>
          </a:xfrm>
          <a:prstGeom prst="rect">
            <a:avLst/>
          </a:prstGeom>
          <a:noFill/>
        </p:spPr>
        <p:txBody>
          <a:bodyPr wrap="square" anchor="t">
            <a:normAutofit/>
          </a:bodyPr>
          <a:lstStyle/>
          <a:p>
            <a:pPr algn="l"/>
            <a:r>
              <a:rPr sz="1050" b="0" i="0">
                <a:solidFill>
                  <a:srgbClr val="1C1C1C"/>
                </a:solidFill>
                <a:latin typeface="Arial"/>
              </a:rPr>
              <a:t>The outcome Corum asked for: PwC experiences full confidence that the project is under control. A confident tenant renews — protecting lease retention, income and exit value.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4592" cy="6858000"/>
          </a:xfrm>
          <a:prstGeom prst="rect">
            <a:avLst/>
          </a:prstGeom>
          <a:solidFill>
            <a:srgbClr val="C3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219456"/>
            <a:ext cx="10058400" cy="274320"/>
          </a:xfrm>
          <a:prstGeom prst="rect">
            <a:avLst/>
          </a:prstGeom>
          <a:noFill/>
        </p:spPr>
        <p:txBody>
          <a:bodyPr wrap="square" anchor="t">
            <a:normAutofit/>
          </a:bodyPr>
          <a:lstStyle/>
          <a:p>
            <a:pPr algn="l"/>
            <a:r>
              <a:rPr sz="1000" b="1" i="0">
                <a:solidFill>
                  <a:srgbClr val="C3002B"/>
                </a:solidFill>
                <a:latin typeface="Arial"/>
              </a:rPr>
              <a:t>02 — WHAT WE TAKE OFF YOUR PLATE  ·  DEEP DIVE 2 OF 2</a:t>
            </a:r>
          </a:p>
        </p:txBody>
      </p:sp>
      <p:sp>
        <p:nvSpPr>
          <p:cNvPr id="4" name="TextBox 3"/>
          <p:cNvSpPr txBox="1"/>
          <p:nvPr/>
        </p:nvSpPr>
        <p:spPr>
          <a:xfrm>
            <a:off x="411480" y="457200"/>
            <a:ext cx="11155680" cy="868680"/>
          </a:xfrm>
          <a:prstGeom prst="rect">
            <a:avLst/>
          </a:prstGeom>
          <a:noFill/>
        </p:spPr>
        <p:txBody>
          <a:bodyPr wrap="square" anchor="t">
            <a:normAutofit/>
          </a:bodyPr>
          <a:lstStyle/>
          <a:p>
            <a:pPr algn="l"/>
            <a:r>
              <a:rPr sz="2300" b="1" i="0">
                <a:solidFill>
                  <a:srgbClr val="1C1C1C"/>
                </a:solidFill>
                <a:latin typeface="Arial"/>
              </a:rPr>
              <a:t>We organize the works — from M3E's design</a:t>
            </a:r>
          </a:p>
          <a:p>
            <a:pPr algn="l"/>
            <a:r>
              <a:rPr sz="2300" b="1" i="0">
                <a:solidFill>
                  <a:srgbClr val="1C1C1C"/>
                </a:solidFill>
                <a:latin typeface="Arial"/>
              </a:rPr>
              <a:t>to a building that is Paris Proof</a:t>
            </a:r>
          </a:p>
        </p:txBody>
      </p:sp>
      <p:sp>
        <p:nvSpPr>
          <p:cNvPr id="5" name="TextBox 4"/>
          <p:cNvSpPr txBox="1"/>
          <p:nvPr/>
        </p:nvSpPr>
        <p:spPr>
          <a:xfrm>
            <a:off x="411480" y="6446520"/>
            <a:ext cx="5486400" cy="274320"/>
          </a:xfrm>
          <a:prstGeom prst="rect">
            <a:avLst/>
          </a:prstGeom>
          <a:noFill/>
        </p:spPr>
        <p:txBody>
          <a:bodyPr wrap="square" anchor="t">
            <a:normAutofit/>
          </a:bodyPr>
          <a:lstStyle/>
          <a:p>
            <a:pPr algn="l"/>
            <a:r>
              <a:rPr sz="800" b="0" i="0">
                <a:solidFill>
                  <a:srgbClr val="7A7A7A"/>
                </a:solidFill>
                <a:latin typeface="Arial"/>
              </a:rPr>
              <a:t>CUSHMAN &amp; WAKEFIELD  |  CORUM A.M.  ·  WESTGATE I</a:t>
            </a:r>
          </a:p>
        </p:txBody>
      </p:sp>
      <p:sp>
        <p:nvSpPr>
          <p:cNvPr id="6" name="TextBox 5"/>
          <p:cNvSpPr txBox="1"/>
          <p:nvPr/>
        </p:nvSpPr>
        <p:spPr>
          <a:xfrm>
            <a:off x="11475720" y="6446520"/>
            <a:ext cx="502920" cy="274320"/>
          </a:xfrm>
          <a:prstGeom prst="rect">
            <a:avLst/>
          </a:prstGeom>
          <a:noFill/>
        </p:spPr>
        <p:txBody>
          <a:bodyPr wrap="square" anchor="t">
            <a:normAutofit/>
          </a:bodyPr>
          <a:lstStyle/>
          <a:p>
            <a:pPr algn="r"/>
            <a:r>
              <a:rPr sz="1000" b="0" i="0">
                <a:solidFill>
                  <a:srgbClr val="7A7A7A"/>
                </a:solidFill>
                <a:latin typeface="Arial"/>
              </a:rPr>
              <a:t>11</a:t>
            </a:r>
          </a:p>
        </p:txBody>
      </p:sp>
      <p:sp>
        <p:nvSpPr>
          <p:cNvPr id="7" name="Rounded Rectangle 6"/>
          <p:cNvSpPr/>
          <p:nvPr/>
        </p:nvSpPr>
        <p:spPr>
          <a:xfrm>
            <a:off x="7726679" y="6419088"/>
            <a:ext cx="3657600" cy="292608"/>
          </a:xfrm>
          <a:prstGeom prst="roundRect">
            <a:avLst/>
          </a:prstGeom>
          <a:solidFill>
            <a:srgbClr val="C3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26679" y="6455664"/>
            <a:ext cx="3657600" cy="237744"/>
          </a:xfrm>
          <a:prstGeom prst="rect">
            <a:avLst/>
          </a:prstGeom>
          <a:noFill/>
        </p:spPr>
        <p:txBody>
          <a:bodyPr wrap="square" anchor="t">
            <a:normAutofit/>
          </a:bodyPr>
          <a:lstStyle/>
          <a:p>
            <a:pPr algn="ctr"/>
            <a:r>
              <a:rPr sz="800" b="1" i="0">
                <a:solidFill>
                  <a:srgbClr val="FFFFFF"/>
                </a:solidFill>
                <a:latin typeface="Arial"/>
              </a:rPr>
              <a:t>CORUM DECIDES  ·  C&amp;W DELIVERS  ·  PwC ALIGNED</a:t>
            </a:r>
          </a:p>
        </p:txBody>
      </p:sp>
      <p:sp>
        <p:nvSpPr>
          <p:cNvPr id="9" name="TextBox 8"/>
          <p:cNvSpPr txBox="1"/>
          <p:nvPr/>
        </p:nvSpPr>
        <p:spPr>
          <a:xfrm>
            <a:off x="411480" y="1691640"/>
            <a:ext cx="11247120" cy="731520"/>
          </a:xfrm>
          <a:prstGeom prst="rect">
            <a:avLst/>
          </a:prstGeom>
          <a:noFill/>
        </p:spPr>
        <p:txBody>
          <a:bodyPr wrap="square" anchor="t">
            <a:normAutofit/>
          </a:bodyPr>
          <a:lstStyle/>
          <a:p>
            <a:pPr algn="l"/>
            <a:r>
              <a:rPr sz="1150" b="0" i="0">
                <a:solidFill>
                  <a:srgbClr val="1C1C1C"/>
                </a:solidFill>
                <a:latin typeface="Arial"/>
              </a:rPr>
              <a:t>C&amp;W is the orchestrator of the transformation. We take M3E's technical concept and turn it into a scope that can be tendered, contracted, built and commissioned — floor-by-floor, on budget, to the Paris Proof standard. Corum gets a finished, verified building; not a construction site to supervise.</a:t>
            </a:r>
          </a:p>
        </p:txBody>
      </p:sp>
      <p:sp>
        <p:nvSpPr>
          <p:cNvPr id="10" name="Rectangle 9"/>
          <p:cNvSpPr/>
          <p:nvPr/>
        </p:nvSpPr>
        <p:spPr>
          <a:xfrm>
            <a:off x="411480" y="2743200"/>
            <a:ext cx="2194560" cy="2651760"/>
          </a:xfrm>
          <a:prstGeom prst="rect">
            <a:avLst/>
          </a:prstGeom>
          <a:solidFill>
            <a:srgbClr val="FFFFFF"/>
          </a:solidFill>
          <a:ln w="6350">
            <a:solidFill>
              <a:srgbClr val="E2E2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11480" y="2743200"/>
            <a:ext cx="2194560" cy="594360"/>
          </a:xfrm>
          <a:prstGeom prst="rect">
            <a:avLst/>
          </a:prstGeom>
          <a:solidFill>
            <a:srgbClr val="C3002B"/>
          </a:solidFill>
          <a:ln w="6350">
            <a:solidFill>
              <a:srgbClr val="E2E2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21208" y="2816352"/>
            <a:ext cx="2011680" cy="457200"/>
          </a:xfrm>
          <a:prstGeom prst="rect">
            <a:avLst/>
          </a:prstGeom>
          <a:noFill/>
        </p:spPr>
        <p:txBody>
          <a:bodyPr wrap="square" anchor="ctr">
            <a:normAutofit/>
          </a:bodyPr>
          <a:lstStyle/>
          <a:p>
            <a:pPr algn="l"/>
            <a:r>
              <a:rPr sz="1100" b="1" i="0">
                <a:solidFill>
                  <a:srgbClr val="FFFFFF"/>
                </a:solidFill>
                <a:latin typeface="Arial"/>
              </a:rPr>
              <a:t>1  SCOPE</a:t>
            </a:r>
          </a:p>
        </p:txBody>
      </p:sp>
      <p:sp>
        <p:nvSpPr>
          <p:cNvPr id="13" name="TextBox 12"/>
          <p:cNvSpPr txBox="1"/>
          <p:nvPr/>
        </p:nvSpPr>
        <p:spPr>
          <a:xfrm>
            <a:off x="548640" y="3520440"/>
            <a:ext cx="1920240" cy="1737360"/>
          </a:xfrm>
          <a:prstGeom prst="rect">
            <a:avLst/>
          </a:prstGeom>
          <a:noFill/>
        </p:spPr>
        <p:txBody>
          <a:bodyPr wrap="square" anchor="t">
            <a:normAutofit/>
          </a:bodyPr>
          <a:lstStyle/>
          <a:p>
            <a:pPr algn="l"/>
            <a:r>
              <a:rPr sz="1050" b="0" i="0">
                <a:solidFill>
                  <a:srgbClr val="1C1C1C"/>
                </a:solidFill>
                <a:latin typeface="Arial"/>
              </a:rPr>
              <a:t>Translate M3E's chosen scenario into a clear, tenderable scope of work.</a:t>
            </a:r>
          </a:p>
        </p:txBody>
      </p:sp>
      <p:sp>
        <p:nvSpPr>
          <p:cNvPr id="14" name="Right Arrow 13"/>
          <p:cNvSpPr/>
          <p:nvPr/>
        </p:nvSpPr>
        <p:spPr>
          <a:xfrm>
            <a:off x="2587752" y="3794760"/>
            <a:ext cx="201168" cy="256032"/>
          </a:xfrm>
          <a:prstGeom prst="rightArrow">
            <a:avLst/>
          </a:prstGeom>
          <a:solidFill>
            <a:srgbClr val="C3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651760" y="2743200"/>
            <a:ext cx="2194560" cy="2651760"/>
          </a:xfrm>
          <a:prstGeom prst="rect">
            <a:avLst/>
          </a:prstGeom>
          <a:solidFill>
            <a:srgbClr val="FFFFFF"/>
          </a:solidFill>
          <a:ln w="6350">
            <a:solidFill>
              <a:srgbClr val="E2E2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2651760" y="2743200"/>
            <a:ext cx="2194560" cy="594360"/>
          </a:xfrm>
          <a:prstGeom prst="rect">
            <a:avLst/>
          </a:prstGeom>
          <a:solidFill>
            <a:srgbClr val="1C1C1C"/>
          </a:solidFill>
          <a:ln w="6350">
            <a:solidFill>
              <a:srgbClr val="E2E2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761488" y="2816352"/>
            <a:ext cx="2011680" cy="457200"/>
          </a:xfrm>
          <a:prstGeom prst="rect">
            <a:avLst/>
          </a:prstGeom>
          <a:noFill/>
        </p:spPr>
        <p:txBody>
          <a:bodyPr wrap="square" anchor="ctr">
            <a:normAutofit/>
          </a:bodyPr>
          <a:lstStyle/>
          <a:p>
            <a:pPr algn="l"/>
            <a:r>
              <a:rPr sz="1100" b="1" i="0">
                <a:solidFill>
                  <a:srgbClr val="FFFFFF"/>
                </a:solidFill>
                <a:latin typeface="Arial"/>
              </a:rPr>
              <a:t>2  TENDER</a:t>
            </a:r>
          </a:p>
        </p:txBody>
      </p:sp>
      <p:sp>
        <p:nvSpPr>
          <p:cNvPr id="18" name="TextBox 17"/>
          <p:cNvSpPr txBox="1"/>
          <p:nvPr/>
        </p:nvSpPr>
        <p:spPr>
          <a:xfrm>
            <a:off x="2788920" y="3520440"/>
            <a:ext cx="1920240" cy="1737360"/>
          </a:xfrm>
          <a:prstGeom prst="rect">
            <a:avLst/>
          </a:prstGeom>
          <a:noFill/>
        </p:spPr>
        <p:txBody>
          <a:bodyPr wrap="square" anchor="t">
            <a:normAutofit/>
          </a:bodyPr>
          <a:lstStyle/>
          <a:p>
            <a:pPr algn="l"/>
            <a:r>
              <a:rPr sz="1050" b="0" i="0">
                <a:solidFill>
                  <a:srgbClr val="1C1C1C"/>
                </a:solidFill>
                <a:latin typeface="Arial"/>
              </a:rPr>
              <a:t>Run a structured tender; select the contractor on price, quality and risk.</a:t>
            </a:r>
          </a:p>
        </p:txBody>
      </p:sp>
      <p:sp>
        <p:nvSpPr>
          <p:cNvPr id="19" name="Right Arrow 18"/>
          <p:cNvSpPr/>
          <p:nvPr/>
        </p:nvSpPr>
        <p:spPr>
          <a:xfrm>
            <a:off x="4828032" y="3794760"/>
            <a:ext cx="201168" cy="256032"/>
          </a:xfrm>
          <a:prstGeom prst="rightArrow">
            <a:avLst/>
          </a:prstGeom>
          <a:solidFill>
            <a:srgbClr val="C3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892040" y="2743200"/>
            <a:ext cx="2194560" cy="2651760"/>
          </a:xfrm>
          <a:prstGeom prst="rect">
            <a:avLst/>
          </a:prstGeom>
          <a:solidFill>
            <a:srgbClr val="FFFFFF"/>
          </a:solidFill>
          <a:ln w="6350">
            <a:solidFill>
              <a:srgbClr val="E2E2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892040" y="2743200"/>
            <a:ext cx="2194560" cy="594360"/>
          </a:xfrm>
          <a:prstGeom prst="rect">
            <a:avLst/>
          </a:prstGeom>
          <a:solidFill>
            <a:srgbClr val="1C1C1C"/>
          </a:solidFill>
          <a:ln w="6350">
            <a:solidFill>
              <a:srgbClr val="E2E2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001768" y="2816352"/>
            <a:ext cx="2011680" cy="457200"/>
          </a:xfrm>
          <a:prstGeom prst="rect">
            <a:avLst/>
          </a:prstGeom>
          <a:noFill/>
        </p:spPr>
        <p:txBody>
          <a:bodyPr wrap="square" anchor="ctr">
            <a:normAutofit/>
          </a:bodyPr>
          <a:lstStyle/>
          <a:p>
            <a:pPr algn="l"/>
            <a:r>
              <a:rPr sz="1100" b="1" i="0">
                <a:solidFill>
                  <a:srgbClr val="FFFFFF"/>
                </a:solidFill>
                <a:latin typeface="Arial"/>
              </a:rPr>
              <a:t>3  BUILD</a:t>
            </a:r>
          </a:p>
        </p:txBody>
      </p:sp>
      <p:sp>
        <p:nvSpPr>
          <p:cNvPr id="23" name="TextBox 22"/>
          <p:cNvSpPr txBox="1"/>
          <p:nvPr/>
        </p:nvSpPr>
        <p:spPr>
          <a:xfrm>
            <a:off x="5029200" y="3520440"/>
            <a:ext cx="1920240" cy="1737360"/>
          </a:xfrm>
          <a:prstGeom prst="rect">
            <a:avLst/>
          </a:prstGeom>
          <a:noFill/>
        </p:spPr>
        <p:txBody>
          <a:bodyPr wrap="square" anchor="t">
            <a:normAutofit/>
          </a:bodyPr>
          <a:lstStyle/>
          <a:p>
            <a:pPr algn="l"/>
            <a:r>
              <a:rPr sz="1050" b="0" i="0">
                <a:solidFill>
                  <a:srgbClr val="1C1C1C"/>
                </a:solidFill>
                <a:latin typeface="Arial"/>
              </a:rPr>
              <a:t>Direct and supervise the site; phased, floor-by-floor, tenant-first.</a:t>
            </a:r>
          </a:p>
        </p:txBody>
      </p:sp>
      <p:sp>
        <p:nvSpPr>
          <p:cNvPr id="24" name="Right Arrow 23"/>
          <p:cNvSpPr/>
          <p:nvPr/>
        </p:nvSpPr>
        <p:spPr>
          <a:xfrm>
            <a:off x="7068312" y="3794760"/>
            <a:ext cx="201168" cy="256032"/>
          </a:xfrm>
          <a:prstGeom prst="rightArrow">
            <a:avLst/>
          </a:prstGeom>
          <a:solidFill>
            <a:srgbClr val="C3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132320" y="2743200"/>
            <a:ext cx="2194560" cy="2651760"/>
          </a:xfrm>
          <a:prstGeom prst="rect">
            <a:avLst/>
          </a:prstGeom>
          <a:solidFill>
            <a:srgbClr val="FFFFFF"/>
          </a:solidFill>
          <a:ln w="6350">
            <a:solidFill>
              <a:srgbClr val="E2E2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132320" y="2743200"/>
            <a:ext cx="2194560" cy="594360"/>
          </a:xfrm>
          <a:prstGeom prst="rect">
            <a:avLst/>
          </a:prstGeom>
          <a:solidFill>
            <a:srgbClr val="1C1C1C"/>
          </a:solidFill>
          <a:ln w="6350">
            <a:solidFill>
              <a:srgbClr val="E2E2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242048" y="2816352"/>
            <a:ext cx="2011680" cy="457200"/>
          </a:xfrm>
          <a:prstGeom prst="rect">
            <a:avLst/>
          </a:prstGeom>
          <a:noFill/>
        </p:spPr>
        <p:txBody>
          <a:bodyPr wrap="square" anchor="ctr">
            <a:normAutofit/>
          </a:bodyPr>
          <a:lstStyle/>
          <a:p>
            <a:pPr algn="l"/>
            <a:r>
              <a:rPr sz="1100" b="1" i="0">
                <a:solidFill>
                  <a:srgbClr val="FFFFFF"/>
                </a:solidFill>
                <a:latin typeface="Arial"/>
              </a:rPr>
              <a:t>4  COMMISSION</a:t>
            </a:r>
          </a:p>
        </p:txBody>
      </p:sp>
      <p:sp>
        <p:nvSpPr>
          <p:cNvPr id="28" name="TextBox 27"/>
          <p:cNvSpPr txBox="1"/>
          <p:nvPr/>
        </p:nvSpPr>
        <p:spPr>
          <a:xfrm>
            <a:off x="7269480" y="3520440"/>
            <a:ext cx="1920240" cy="1737360"/>
          </a:xfrm>
          <a:prstGeom prst="rect">
            <a:avLst/>
          </a:prstGeom>
          <a:noFill/>
        </p:spPr>
        <p:txBody>
          <a:bodyPr wrap="square" anchor="t">
            <a:normAutofit/>
          </a:bodyPr>
          <a:lstStyle/>
          <a:p>
            <a:pPr algn="l"/>
            <a:r>
              <a:rPr sz="1050" b="0" i="0">
                <a:solidFill>
                  <a:srgbClr val="1C1C1C"/>
                </a:solidFill>
                <a:latin typeface="Arial"/>
              </a:rPr>
              <a:t>Test, commission and verify each floor before handing it back in use.</a:t>
            </a:r>
          </a:p>
        </p:txBody>
      </p:sp>
      <p:sp>
        <p:nvSpPr>
          <p:cNvPr id="29" name="Right Arrow 28"/>
          <p:cNvSpPr/>
          <p:nvPr/>
        </p:nvSpPr>
        <p:spPr>
          <a:xfrm>
            <a:off x="9308592" y="3794760"/>
            <a:ext cx="201168" cy="256032"/>
          </a:xfrm>
          <a:prstGeom prst="rightArrow">
            <a:avLst/>
          </a:prstGeom>
          <a:solidFill>
            <a:srgbClr val="C3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9372600" y="2743200"/>
            <a:ext cx="2194560" cy="2651760"/>
          </a:xfrm>
          <a:prstGeom prst="rect">
            <a:avLst/>
          </a:prstGeom>
          <a:solidFill>
            <a:srgbClr val="FFFFFF"/>
          </a:solidFill>
          <a:ln w="6350">
            <a:solidFill>
              <a:srgbClr val="E2E2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9372600" y="2743200"/>
            <a:ext cx="2194560" cy="594360"/>
          </a:xfrm>
          <a:prstGeom prst="rect">
            <a:avLst/>
          </a:prstGeom>
          <a:solidFill>
            <a:srgbClr val="C3002B"/>
          </a:solidFill>
          <a:ln w="6350">
            <a:solidFill>
              <a:srgbClr val="E2E2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482328" y="2816352"/>
            <a:ext cx="2011680" cy="457200"/>
          </a:xfrm>
          <a:prstGeom prst="rect">
            <a:avLst/>
          </a:prstGeom>
          <a:noFill/>
        </p:spPr>
        <p:txBody>
          <a:bodyPr wrap="square" anchor="ctr">
            <a:normAutofit/>
          </a:bodyPr>
          <a:lstStyle/>
          <a:p>
            <a:pPr algn="l"/>
            <a:r>
              <a:rPr sz="1100" b="1" i="0">
                <a:solidFill>
                  <a:srgbClr val="FFFFFF"/>
                </a:solidFill>
                <a:latin typeface="Arial"/>
              </a:rPr>
              <a:t>5  PARIS PROOF</a:t>
            </a:r>
          </a:p>
        </p:txBody>
      </p:sp>
      <p:sp>
        <p:nvSpPr>
          <p:cNvPr id="33" name="TextBox 32"/>
          <p:cNvSpPr txBox="1"/>
          <p:nvPr/>
        </p:nvSpPr>
        <p:spPr>
          <a:xfrm>
            <a:off x="9509760" y="3520440"/>
            <a:ext cx="1920240" cy="1737360"/>
          </a:xfrm>
          <a:prstGeom prst="rect">
            <a:avLst/>
          </a:prstGeom>
          <a:noFill/>
        </p:spPr>
        <p:txBody>
          <a:bodyPr wrap="square" anchor="t">
            <a:normAutofit/>
          </a:bodyPr>
          <a:lstStyle/>
          <a:p>
            <a:pPr algn="l"/>
            <a:r>
              <a:rPr sz="1050" b="0" i="0">
                <a:solidFill>
                  <a:srgbClr val="1C1C1C"/>
                </a:solidFill>
                <a:latin typeface="Arial"/>
              </a:rPr>
              <a:t>Deliver the verified, Paris Proof building and a documented handover.</a:t>
            </a:r>
          </a:p>
        </p:txBody>
      </p:sp>
      <p:sp>
        <p:nvSpPr>
          <p:cNvPr id="34" name="TextBox 33"/>
          <p:cNvSpPr txBox="1"/>
          <p:nvPr/>
        </p:nvSpPr>
        <p:spPr>
          <a:xfrm>
            <a:off x="411480" y="5577840"/>
            <a:ext cx="10972800" cy="640080"/>
          </a:xfrm>
          <a:prstGeom prst="rect">
            <a:avLst/>
          </a:prstGeom>
          <a:noFill/>
        </p:spPr>
        <p:txBody>
          <a:bodyPr wrap="square" anchor="t">
            <a:normAutofit/>
          </a:bodyPr>
          <a:lstStyle/>
          <a:p>
            <a:pPr algn="l"/>
            <a:r>
              <a:rPr sz="1100" b="1" i="1">
                <a:solidFill>
                  <a:srgbClr val="1C1C1C"/>
                </a:solidFill>
                <a:latin typeface="Arial"/>
              </a:rPr>
              <a:t>One accountable owner across all five steps. Corum never has to stitch together advisors, contractors and inspectors — that is our job.</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4592" cy="6858000"/>
          </a:xfrm>
          <a:prstGeom prst="rect">
            <a:avLst/>
          </a:prstGeom>
          <a:solidFill>
            <a:srgbClr val="C3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219456"/>
            <a:ext cx="10058400" cy="274320"/>
          </a:xfrm>
          <a:prstGeom prst="rect">
            <a:avLst/>
          </a:prstGeom>
          <a:noFill/>
        </p:spPr>
        <p:txBody>
          <a:bodyPr wrap="square" anchor="t">
            <a:normAutofit/>
          </a:bodyPr>
          <a:lstStyle/>
          <a:p>
            <a:pPr algn="l"/>
            <a:r>
              <a:rPr sz="1000" b="1" i="0">
                <a:solidFill>
                  <a:srgbClr val="C3002B"/>
                </a:solidFill>
                <a:latin typeface="Arial"/>
              </a:rPr>
              <a:t>02 — WHAT WE TAKE OFF YOUR PLATE  ·  WHAT MAKES IT WORK</a:t>
            </a:r>
          </a:p>
        </p:txBody>
      </p:sp>
      <p:sp>
        <p:nvSpPr>
          <p:cNvPr id="4" name="TextBox 3"/>
          <p:cNvSpPr txBox="1"/>
          <p:nvPr/>
        </p:nvSpPr>
        <p:spPr>
          <a:xfrm>
            <a:off x="411480" y="457200"/>
            <a:ext cx="11155680" cy="868680"/>
          </a:xfrm>
          <a:prstGeom prst="rect">
            <a:avLst/>
          </a:prstGeom>
          <a:noFill/>
        </p:spPr>
        <p:txBody>
          <a:bodyPr wrap="square" anchor="t">
            <a:normAutofit/>
          </a:bodyPr>
          <a:lstStyle/>
          <a:p>
            <a:pPr algn="l"/>
            <a:r>
              <a:rPr sz="2300" b="1" i="0">
                <a:solidFill>
                  <a:srgbClr val="1C1C1C"/>
                </a:solidFill>
                <a:latin typeface="Arial"/>
              </a:rPr>
              <a:t>Four principles turn a risky rebuild into a controlled programme</a:t>
            </a:r>
          </a:p>
        </p:txBody>
      </p:sp>
      <p:sp>
        <p:nvSpPr>
          <p:cNvPr id="5" name="TextBox 4"/>
          <p:cNvSpPr txBox="1"/>
          <p:nvPr/>
        </p:nvSpPr>
        <p:spPr>
          <a:xfrm>
            <a:off x="411480" y="6446520"/>
            <a:ext cx="5486400" cy="274320"/>
          </a:xfrm>
          <a:prstGeom prst="rect">
            <a:avLst/>
          </a:prstGeom>
          <a:noFill/>
        </p:spPr>
        <p:txBody>
          <a:bodyPr wrap="square" anchor="t">
            <a:normAutofit/>
          </a:bodyPr>
          <a:lstStyle/>
          <a:p>
            <a:pPr algn="l"/>
            <a:r>
              <a:rPr sz="800" b="0" i="0">
                <a:solidFill>
                  <a:srgbClr val="7A7A7A"/>
                </a:solidFill>
                <a:latin typeface="Arial"/>
              </a:rPr>
              <a:t>CUSHMAN &amp; WAKEFIELD  |  CORUM A.M.  ·  WESTGATE I</a:t>
            </a:r>
          </a:p>
        </p:txBody>
      </p:sp>
      <p:sp>
        <p:nvSpPr>
          <p:cNvPr id="6" name="TextBox 5"/>
          <p:cNvSpPr txBox="1"/>
          <p:nvPr/>
        </p:nvSpPr>
        <p:spPr>
          <a:xfrm>
            <a:off x="11475720" y="6446520"/>
            <a:ext cx="502920" cy="274320"/>
          </a:xfrm>
          <a:prstGeom prst="rect">
            <a:avLst/>
          </a:prstGeom>
          <a:noFill/>
        </p:spPr>
        <p:txBody>
          <a:bodyPr wrap="square" anchor="t">
            <a:normAutofit/>
          </a:bodyPr>
          <a:lstStyle/>
          <a:p>
            <a:pPr algn="r"/>
            <a:r>
              <a:rPr sz="1000" b="0" i="0">
                <a:solidFill>
                  <a:srgbClr val="7A7A7A"/>
                </a:solidFill>
                <a:latin typeface="Arial"/>
              </a:rPr>
              <a:t>12</a:t>
            </a:r>
          </a:p>
        </p:txBody>
      </p:sp>
      <p:sp>
        <p:nvSpPr>
          <p:cNvPr id="7" name="Rounded Rectangle 6"/>
          <p:cNvSpPr/>
          <p:nvPr/>
        </p:nvSpPr>
        <p:spPr>
          <a:xfrm>
            <a:off x="7726679" y="6419088"/>
            <a:ext cx="3657600" cy="292608"/>
          </a:xfrm>
          <a:prstGeom prst="roundRect">
            <a:avLst/>
          </a:prstGeom>
          <a:solidFill>
            <a:srgbClr val="C3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26679" y="6455664"/>
            <a:ext cx="3657600" cy="237744"/>
          </a:xfrm>
          <a:prstGeom prst="rect">
            <a:avLst/>
          </a:prstGeom>
          <a:noFill/>
        </p:spPr>
        <p:txBody>
          <a:bodyPr wrap="square" anchor="t">
            <a:normAutofit/>
          </a:bodyPr>
          <a:lstStyle/>
          <a:p>
            <a:pPr algn="ctr"/>
            <a:r>
              <a:rPr sz="800" b="1" i="0">
                <a:solidFill>
                  <a:srgbClr val="FFFFFF"/>
                </a:solidFill>
                <a:latin typeface="Arial"/>
              </a:rPr>
              <a:t>CORUM DECIDES  ·  C&amp;W DELIVERS  ·  PwC ALIGNED</a:t>
            </a:r>
          </a:p>
        </p:txBody>
      </p:sp>
      <p:sp>
        <p:nvSpPr>
          <p:cNvPr id="9" name="Rectangle 8"/>
          <p:cNvSpPr/>
          <p:nvPr/>
        </p:nvSpPr>
        <p:spPr>
          <a:xfrm>
            <a:off x="411480" y="1691640"/>
            <a:ext cx="5577840" cy="1920240"/>
          </a:xfrm>
          <a:prstGeom prst="rect">
            <a:avLst/>
          </a:prstGeom>
          <a:solidFill>
            <a:srgbClr val="FFFFFF"/>
          </a:solidFill>
          <a:ln w="6350">
            <a:solidFill>
              <a:srgbClr val="E2E2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76072" y="1828800"/>
            <a:ext cx="5212080" cy="457200"/>
          </a:xfrm>
          <a:prstGeom prst="rect">
            <a:avLst/>
          </a:prstGeom>
          <a:noFill/>
        </p:spPr>
        <p:txBody>
          <a:bodyPr wrap="square" anchor="t">
            <a:normAutofit/>
          </a:bodyPr>
          <a:lstStyle/>
          <a:p>
            <a:pPr algn="l"/>
            <a:r>
              <a:rPr sz="1300" b="1" i="0">
                <a:solidFill>
                  <a:srgbClr val="C3002B"/>
                </a:solidFill>
                <a:latin typeface="Arial"/>
              </a:rPr>
              <a:t>TENANT SATISFACTION FIRST</a:t>
            </a:r>
          </a:p>
        </p:txBody>
      </p:sp>
      <p:sp>
        <p:nvSpPr>
          <p:cNvPr id="11" name="TextBox 10"/>
          <p:cNvSpPr txBox="1"/>
          <p:nvPr/>
        </p:nvSpPr>
        <p:spPr>
          <a:xfrm>
            <a:off x="576072" y="2377440"/>
            <a:ext cx="5257800" cy="1143000"/>
          </a:xfrm>
          <a:prstGeom prst="rect">
            <a:avLst/>
          </a:prstGeom>
          <a:noFill/>
        </p:spPr>
        <p:txBody>
          <a:bodyPr wrap="square" anchor="t">
            <a:normAutofit/>
          </a:bodyPr>
          <a:lstStyle/>
          <a:p>
            <a:pPr algn="l"/>
            <a:r>
              <a:rPr sz="1050" b="0" i="0">
                <a:solidFill>
                  <a:srgbClr val="1C1C1C"/>
                </a:solidFill>
                <a:latin typeface="Arial"/>
              </a:rPr>
              <a:t>The tenant experience is the lead indicator of success. Everything — sequencing, timing, communication — is designed around keeping PwC operational and confident. The lesson from Rotterdam is built into how we work.</a:t>
            </a:r>
          </a:p>
        </p:txBody>
      </p:sp>
      <p:sp>
        <p:nvSpPr>
          <p:cNvPr id="12" name="Rectangle 11"/>
          <p:cNvSpPr/>
          <p:nvPr/>
        </p:nvSpPr>
        <p:spPr>
          <a:xfrm>
            <a:off x="6217920" y="1691640"/>
            <a:ext cx="5577840" cy="1920240"/>
          </a:xfrm>
          <a:prstGeom prst="rect">
            <a:avLst/>
          </a:prstGeom>
          <a:solidFill>
            <a:srgbClr val="FFFFFF"/>
          </a:solidFill>
          <a:ln w="6350">
            <a:solidFill>
              <a:srgbClr val="E2E2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82512" y="1828800"/>
            <a:ext cx="5212080" cy="457200"/>
          </a:xfrm>
          <a:prstGeom prst="rect">
            <a:avLst/>
          </a:prstGeom>
          <a:noFill/>
        </p:spPr>
        <p:txBody>
          <a:bodyPr wrap="square" anchor="t">
            <a:normAutofit/>
          </a:bodyPr>
          <a:lstStyle/>
          <a:p>
            <a:pPr algn="l"/>
            <a:r>
              <a:rPr sz="1300" b="1" i="0">
                <a:solidFill>
                  <a:srgbClr val="C3002B"/>
                </a:solidFill>
                <a:latin typeface="Arial"/>
              </a:rPr>
              <a:t>PHASED DELIVERY IN A LIVE BUILDING</a:t>
            </a:r>
          </a:p>
        </p:txBody>
      </p:sp>
      <p:sp>
        <p:nvSpPr>
          <p:cNvPr id="14" name="TextBox 13"/>
          <p:cNvSpPr txBox="1"/>
          <p:nvPr/>
        </p:nvSpPr>
        <p:spPr>
          <a:xfrm>
            <a:off x="6382512" y="2377440"/>
            <a:ext cx="5257800" cy="1143000"/>
          </a:xfrm>
          <a:prstGeom prst="rect">
            <a:avLst/>
          </a:prstGeom>
          <a:noFill/>
        </p:spPr>
        <p:txBody>
          <a:bodyPr wrap="square" anchor="t">
            <a:normAutofit/>
          </a:bodyPr>
          <a:lstStyle/>
          <a:p>
            <a:pPr algn="l"/>
            <a:r>
              <a:rPr sz="1050" b="0" i="0">
                <a:solidFill>
                  <a:srgbClr val="1C1C1C"/>
                </a:solidFill>
                <a:latin typeface="Arial"/>
              </a:rPr>
              <a:t>Floor-by-floor execution: one zone temporarily out of use, tested and handed back before the next begins. The building keeps running; the programme keeps moving.</a:t>
            </a:r>
          </a:p>
        </p:txBody>
      </p:sp>
      <p:sp>
        <p:nvSpPr>
          <p:cNvPr id="15" name="Rectangle 14"/>
          <p:cNvSpPr/>
          <p:nvPr/>
        </p:nvSpPr>
        <p:spPr>
          <a:xfrm>
            <a:off x="411480" y="3840480"/>
            <a:ext cx="5577840" cy="1920240"/>
          </a:xfrm>
          <a:prstGeom prst="rect">
            <a:avLst/>
          </a:prstGeom>
          <a:solidFill>
            <a:srgbClr val="FFFFFF"/>
          </a:solidFill>
          <a:ln w="6350">
            <a:solidFill>
              <a:srgbClr val="E2E2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76072" y="3977640"/>
            <a:ext cx="5212080" cy="457200"/>
          </a:xfrm>
          <a:prstGeom prst="rect">
            <a:avLst/>
          </a:prstGeom>
          <a:noFill/>
        </p:spPr>
        <p:txBody>
          <a:bodyPr wrap="square" anchor="t">
            <a:normAutofit/>
          </a:bodyPr>
          <a:lstStyle/>
          <a:p>
            <a:pPr algn="l"/>
            <a:r>
              <a:rPr sz="1300" b="1" i="0">
                <a:solidFill>
                  <a:srgbClr val="C3002B"/>
                </a:solidFill>
                <a:latin typeface="Arial"/>
              </a:rPr>
              <a:t>CLEAR GOVERNANCE &amp; DECISION RIGHTS</a:t>
            </a:r>
          </a:p>
        </p:txBody>
      </p:sp>
      <p:sp>
        <p:nvSpPr>
          <p:cNvPr id="17" name="TextBox 16"/>
          <p:cNvSpPr txBox="1"/>
          <p:nvPr/>
        </p:nvSpPr>
        <p:spPr>
          <a:xfrm>
            <a:off x="576072" y="4526280"/>
            <a:ext cx="5257800" cy="1143000"/>
          </a:xfrm>
          <a:prstGeom prst="rect">
            <a:avLst/>
          </a:prstGeom>
          <a:noFill/>
        </p:spPr>
        <p:txBody>
          <a:bodyPr wrap="square" anchor="t">
            <a:normAutofit/>
          </a:bodyPr>
          <a:lstStyle/>
          <a:p>
            <a:pPr algn="l"/>
            <a:r>
              <a:rPr sz="1050" b="0" i="0">
                <a:solidFill>
                  <a:srgbClr val="1C1C1C"/>
                </a:solidFill>
                <a:latin typeface="Arial"/>
              </a:rPr>
              <a:t>Everyone knows who decides what, and when. PwC is involved where it matters, Corum decides the big calls, C&amp;W runs the rest — with clean escalation lines.</a:t>
            </a:r>
          </a:p>
        </p:txBody>
      </p:sp>
      <p:sp>
        <p:nvSpPr>
          <p:cNvPr id="18" name="Rectangle 17"/>
          <p:cNvSpPr/>
          <p:nvPr/>
        </p:nvSpPr>
        <p:spPr>
          <a:xfrm>
            <a:off x="6217920" y="3840480"/>
            <a:ext cx="5577840" cy="1920240"/>
          </a:xfrm>
          <a:prstGeom prst="rect">
            <a:avLst/>
          </a:prstGeom>
          <a:solidFill>
            <a:srgbClr val="FFFFFF"/>
          </a:solidFill>
          <a:ln w="6350">
            <a:solidFill>
              <a:srgbClr val="E2E2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382512" y="3977640"/>
            <a:ext cx="5212080" cy="457200"/>
          </a:xfrm>
          <a:prstGeom prst="rect">
            <a:avLst/>
          </a:prstGeom>
          <a:noFill/>
        </p:spPr>
        <p:txBody>
          <a:bodyPr wrap="square" anchor="t">
            <a:normAutofit/>
          </a:bodyPr>
          <a:lstStyle/>
          <a:p>
            <a:pPr algn="l"/>
            <a:r>
              <a:rPr sz="1300" b="1" i="0">
                <a:solidFill>
                  <a:srgbClr val="C3002B"/>
                </a:solidFill>
                <a:latin typeface="Arial"/>
              </a:rPr>
              <a:t>NO SURPRISES</a:t>
            </a:r>
          </a:p>
        </p:txBody>
      </p:sp>
      <p:sp>
        <p:nvSpPr>
          <p:cNvPr id="20" name="TextBox 19"/>
          <p:cNvSpPr txBox="1"/>
          <p:nvPr/>
        </p:nvSpPr>
        <p:spPr>
          <a:xfrm>
            <a:off x="6382512" y="4526280"/>
            <a:ext cx="5257800" cy="1143000"/>
          </a:xfrm>
          <a:prstGeom prst="rect">
            <a:avLst/>
          </a:prstGeom>
          <a:noFill/>
        </p:spPr>
        <p:txBody>
          <a:bodyPr wrap="square" anchor="t">
            <a:normAutofit/>
          </a:bodyPr>
          <a:lstStyle/>
          <a:p>
            <a:pPr algn="l"/>
            <a:r>
              <a:rPr sz="1050" b="0" i="0">
                <a:solidFill>
                  <a:srgbClr val="1C1C1C"/>
                </a:solidFill>
                <a:latin typeface="Arial"/>
              </a:rPr>
              <a:t>A live Risk Register from day one and decisions prepared in advance. Corum hears about issues as early intelligence, with an option to decide — never as a problem after the fact.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4592" cy="6858000"/>
          </a:xfrm>
          <a:prstGeom prst="rect">
            <a:avLst/>
          </a:prstGeom>
          <a:solidFill>
            <a:srgbClr val="C3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219456"/>
            <a:ext cx="10058400" cy="274320"/>
          </a:xfrm>
          <a:prstGeom prst="rect">
            <a:avLst/>
          </a:prstGeom>
          <a:noFill/>
        </p:spPr>
        <p:txBody>
          <a:bodyPr wrap="square" anchor="t">
            <a:normAutofit/>
          </a:bodyPr>
          <a:lstStyle/>
          <a:p>
            <a:pPr algn="l"/>
            <a:r>
              <a:rPr sz="1000" b="1" i="0">
                <a:solidFill>
                  <a:srgbClr val="C3002B"/>
                </a:solidFill>
                <a:latin typeface="Arial"/>
              </a:rPr>
              <a:t>03 — THE JOURNEY</a:t>
            </a:r>
          </a:p>
        </p:txBody>
      </p:sp>
      <p:sp>
        <p:nvSpPr>
          <p:cNvPr id="4" name="TextBox 3"/>
          <p:cNvSpPr txBox="1"/>
          <p:nvPr/>
        </p:nvSpPr>
        <p:spPr>
          <a:xfrm>
            <a:off x="411480" y="457200"/>
            <a:ext cx="11155680" cy="868680"/>
          </a:xfrm>
          <a:prstGeom prst="rect">
            <a:avLst/>
          </a:prstGeom>
          <a:noFill/>
        </p:spPr>
        <p:txBody>
          <a:bodyPr wrap="square" anchor="t">
            <a:normAutofit/>
          </a:bodyPr>
          <a:lstStyle/>
          <a:p>
            <a:pPr algn="l"/>
            <a:r>
              <a:rPr sz="2300" b="1" i="0">
                <a:solidFill>
                  <a:srgbClr val="1C1C1C"/>
                </a:solidFill>
                <a:latin typeface="Arial"/>
              </a:rPr>
              <a:t>From today to Paris Proof: the story of the next few years,</a:t>
            </a:r>
          </a:p>
          <a:p>
            <a:pPr algn="l"/>
            <a:r>
              <a:rPr sz="2300" b="1" i="0">
                <a:solidFill>
                  <a:srgbClr val="1C1C1C"/>
                </a:solidFill>
                <a:latin typeface="Arial"/>
              </a:rPr>
              <a:t>on one line</a:t>
            </a:r>
          </a:p>
        </p:txBody>
      </p:sp>
      <p:sp>
        <p:nvSpPr>
          <p:cNvPr id="5" name="TextBox 4"/>
          <p:cNvSpPr txBox="1"/>
          <p:nvPr/>
        </p:nvSpPr>
        <p:spPr>
          <a:xfrm>
            <a:off x="411480" y="6446520"/>
            <a:ext cx="5486400" cy="274320"/>
          </a:xfrm>
          <a:prstGeom prst="rect">
            <a:avLst/>
          </a:prstGeom>
          <a:noFill/>
        </p:spPr>
        <p:txBody>
          <a:bodyPr wrap="square" anchor="t">
            <a:normAutofit/>
          </a:bodyPr>
          <a:lstStyle/>
          <a:p>
            <a:pPr algn="l"/>
            <a:r>
              <a:rPr sz="800" b="0" i="0">
                <a:solidFill>
                  <a:srgbClr val="7A7A7A"/>
                </a:solidFill>
                <a:latin typeface="Arial"/>
              </a:rPr>
              <a:t>CUSHMAN &amp; WAKEFIELD  |  CORUM A.M.  ·  WESTGATE I</a:t>
            </a:r>
          </a:p>
        </p:txBody>
      </p:sp>
      <p:sp>
        <p:nvSpPr>
          <p:cNvPr id="6" name="TextBox 5"/>
          <p:cNvSpPr txBox="1"/>
          <p:nvPr/>
        </p:nvSpPr>
        <p:spPr>
          <a:xfrm>
            <a:off x="11475720" y="6446520"/>
            <a:ext cx="502920" cy="274320"/>
          </a:xfrm>
          <a:prstGeom prst="rect">
            <a:avLst/>
          </a:prstGeom>
          <a:noFill/>
        </p:spPr>
        <p:txBody>
          <a:bodyPr wrap="square" anchor="t">
            <a:normAutofit/>
          </a:bodyPr>
          <a:lstStyle/>
          <a:p>
            <a:pPr algn="r"/>
            <a:r>
              <a:rPr sz="1000" b="0" i="0">
                <a:solidFill>
                  <a:srgbClr val="7A7A7A"/>
                </a:solidFill>
                <a:latin typeface="Arial"/>
              </a:rPr>
              <a:t>13</a:t>
            </a:r>
          </a:p>
        </p:txBody>
      </p:sp>
      <p:sp>
        <p:nvSpPr>
          <p:cNvPr id="7" name="Rounded Rectangle 6"/>
          <p:cNvSpPr/>
          <p:nvPr/>
        </p:nvSpPr>
        <p:spPr>
          <a:xfrm>
            <a:off x="7726679" y="6419088"/>
            <a:ext cx="3657600" cy="292608"/>
          </a:xfrm>
          <a:prstGeom prst="roundRect">
            <a:avLst/>
          </a:prstGeom>
          <a:solidFill>
            <a:srgbClr val="C3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26679" y="6455664"/>
            <a:ext cx="3657600" cy="237744"/>
          </a:xfrm>
          <a:prstGeom prst="rect">
            <a:avLst/>
          </a:prstGeom>
          <a:noFill/>
        </p:spPr>
        <p:txBody>
          <a:bodyPr wrap="square" anchor="t">
            <a:normAutofit/>
          </a:bodyPr>
          <a:lstStyle/>
          <a:p>
            <a:pPr algn="ctr"/>
            <a:r>
              <a:rPr sz="800" b="1" i="0">
                <a:solidFill>
                  <a:srgbClr val="FFFFFF"/>
                </a:solidFill>
                <a:latin typeface="Arial"/>
              </a:rPr>
              <a:t>CORUM DECIDES  ·  C&amp;W DELIVERS  ·  PwC ALIGNED</a:t>
            </a:r>
          </a:p>
        </p:txBody>
      </p:sp>
      <p:sp>
        <p:nvSpPr>
          <p:cNvPr id="9" name="Rectangle 8"/>
          <p:cNvSpPr/>
          <p:nvPr/>
        </p:nvSpPr>
        <p:spPr>
          <a:xfrm>
            <a:off x="548640" y="3063240"/>
            <a:ext cx="11064240" cy="54864"/>
          </a:xfrm>
          <a:prstGeom prst="rect">
            <a:avLst/>
          </a:prstGeom>
          <a:solidFill>
            <a:srgbClr val="C3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iamond 9"/>
          <p:cNvSpPr/>
          <p:nvPr/>
        </p:nvSpPr>
        <p:spPr>
          <a:xfrm>
            <a:off x="1324356" y="2944368"/>
            <a:ext cx="292608" cy="292608"/>
          </a:xfrm>
          <a:prstGeom prst="diamond">
            <a:avLst/>
          </a:prstGeom>
          <a:solidFill>
            <a:srgbClr val="C3002B"/>
          </a:solidFill>
          <a:ln>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1600200"/>
            <a:ext cx="1661160" cy="274320"/>
          </a:xfrm>
          <a:prstGeom prst="rect">
            <a:avLst/>
          </a:prstGeom>
          <a:noFill/>
        </p:spPr>
        <p:txBody>
          <a:bodyPr wrap="square" anchor="t">
            <a:normAutofit/>
          </a:bodyPr>
          <a:lstStyle/>
          <a:p>
            <a:pPr algn="ctr"/>
            <a:r>
              <a:rPr sz="1100" b="1" i="0">
                <a:solidFill>
                  <a:srgbClr val="C3002B"/>
                </a:solidFill>
                <a:latin typeface="Arial"/>
              </a:rPr>
              <a:t>TODAY</a:t>
            </a:r>
          </a:p>
        </p:txBody>
      </p:sp>
      <p:sp>
        <p:nvSpPr>
          <p:cNvPr id="12" name="TextBox 11"/>
          <p:cNvSpPr txBox="1"/>
          <p:nvPr/>
        </p:nvSpPr>
        <p:spPr>
          <a:xfrm>
            <a:off x="640080" y="1856232"/>
            <a:ext cx="1661160" cy="228600"/>
          </a:xfrm>
          <a:prstGeom prst="rect">
            <a:avLst/>
          </a:prstGeom>
          <a:noFill/>
        </p:spPr>
        <p:txBody>
          <a:bodyPr wrap="square" anchor="t">
            <a:normAutofit/>
          </a:bodyPr>
          <a:lstStyle/>
          <a:p>
            <a:pPr algn="ctr"/>
            <a:r>
              <a:rPr sz="900" b="1" i="0">
                <a:solidFill>
                  <a:srgbClr val="7A7A7A"/>
                </a:solidFill>
                <a:latin typeface="Arial"/>
              </a:rPr>
              <a:t>Jul 2026</a:t>
            </a:r>
          </a:p>
        </p:txBody>
      </p:sp>
      <p:sp>
        <p:nvSpPr>
          <p:cNvPr id="13" name="TextBox 12"/>
          <p:cNvSpPr txBox="1"/>
          <p:nvPr/>
        </p:nvSpPr>
        <p:spPr>
          <a:xfrm>
            <a:off x="640080" y="2103120"/>
            <a:ext cx="1661160" cy="1005840"/>
          </a:xfrm>
          <a:prstGeom prst="rect">
            <a:avLst/>
          </a:prstGeom>
          <a:noFill/>
        </p:spPr>
        <p:txBody>
          <a:bodyPr wrap="square" anchor="t">
            <a:normAutofit/>
          </a:bodyPr>
          <a:lstStyle/>
          <a:p>
            <a:pPr algn="ctr"/>
            <a:r>
              <a:rPr sz="900" b="0" i="0">
                <a:solidFill>
                  <a:srgbClr val="1C1C1C"/>
                </a:solidFill>
                <a:latin typeface="Arial"/>
              </a:rPr>
              <a:t>NDA signed, mandate confirmed. C&amp;W becomes Corum's single point of control.</a:t>
            </a:r>
          </a:p>
        </p:txBody>
      </p:sp>
      <p:sp>
        <p:nvSpPr>
          <p:cNvPr id="14" name="Diamond 13"/>
          <p:cNvSpPr/>
          <p:nvPr/>
        </p:nvSpPr>
        <p:spPr>
          <a:xfrm>
            <a:off x="3168396" y="2944368"/>
            <a:ext cx="292608" cy="292608"/>
          </a:xfrm>
          <a:prstGeom prst="diamond">
            <a:avLst/>
          </a:prstGeom>
          <a:solidFill>
            <a:srgbClr val="1C1C1C"/>
          </a:solidFill>
          <a:ln>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484120" y="3611880"/>
            <a:ext cx="1661160" cy="274320"/>
          </a:xfrm>
          <a:prstGeom prst="rect">
            <a:avLst/>
          </a:prstGeom>
          <a:noFill/>
        </p:spPr>
        <p:txBody>
          <a:bodyPr wrap="square" anchor="t">
            <a:normAutofit/>
          </a:bodyPr>
          <a:lstStyle/>
          <a:p>
            <a:pPr algn="ctr"/>
            <a:r>
              <a:rPr sz="1100" b="1" i="0">
                <a:solidFill>
                  <a:srgbClr val="C3002B"/>
                </a:solidFill>
                <a:latin typeface="Arial"/>
              </a:rPr>
              <a:t>MOBILISE</a:t>
            </a:r>
          </a:p>
        </p:txBody>
      </p:sp>
      <p:sp>
        <p:nvSpPr>
          <p:cNvPr id="16" name="TextBox 15"/>
          <p:cNvSpPr txBox="1"/>
          <p:nvPr/>
        </p:nvSpPr>
        <p:spPr>
          <a:xfrm>
            <a:off x="2484120" y="3867912"/>
            <a:ext cx="1661160" cy="228600"/>
          </a:xfrm>
          <a:prstGeom prst="rect">
            <a:avLst/>
          </a:prstGeom>
          <a:noFill/>
        </p:spPr>
        <p:txBody>
          <a:bodyPr wrap="square" anchor="t">
            <a:normAutofit/>
          </a:bodyPr>
          <a:lstStyle/>
          <a:p>
            <a:pPr algn="ctr"/>
            <a:r>
              <a:rPr sz="900" b="1" i="0">
                <a:solidFill>
                  <a:srgbClr val="7A7A7A"/>
                </a:solidFill>
                <a:latin typeface="Arial"/>
              </a:rPr>
              <a:t>Q3 2026</a:t>
            </a:r>
          </a:p>
        </p:txBody>
      </p:sp>
      <p:sp>
        <p:nvSpPr>
          <p:cNvPr id="17" name="TextBox 16"/>
          <p:cNvSpPr txBox="1"/>
          <p:nvPr/>
        </p:nvSpPr>
        <p:spPr>
          <a:xfrm>
            <a:off x="2484120" y="4114800"/>
            <a:ext cx="1661160" cy="1005840"/>
          </a:xfrm>
          <a:prstGeom prst="rect">
            <a:avLst/>
          </a:prstGeom>
          <a:noFill/>
        </p:spPr>
        <p:txBody>
          <a:bodyPr wrap="square" anchor="t">
            <a:normAutofit/>
          </a:bodyPr>
          <a:lstStyle/>
          <a:p>
            <a:pPr algn="ctr"/>
            <a:r>
              <a:rPr sz="900" b="0" i="0">
                <a:solidFill>
                  <a:srgbClr val="1C1C1C"/>
                </a:solidFill>
                <a:latin typeface="Arial"/>
              </a:rPr>
              <a:t>Preparatory phase: stakeholders mapped, PwC engaged, project organisation stood up.</a:t>
            </a:r>
          </a:p>
        </p:txBody>
      </p:sp>
      <p:sp>
        <p:nvSpPr>
          <p:cNvPr id="18" name="Diamond 17"/>
          <p:cNvSpPr/>
          <p:nvPr/>
        </p:nvSpPr>
        <p:spPr>
          <a:xfrm>
            <a:off x="5012436" y="2944368"/>
            <a:ext cx="292608" cy="292608"/>
          </a:xfrm>
          <a:prstGeom prst="diamond">
            <a:avLst/>
          </a:prstGeom>
          <a:solidFill>
            <a:srgbClr val="1C1C1C"/>
          </a:solidFill>
          <a:ln>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328160" y="1600200"/>
            <a:ext cx="1661160" cy="274320"/>
          </a:xfrm>
          <a:prstGeom prst="rect">
            <a:avLst/>
          </a:prstGeom>
          <a:noFill/>
        </p:spPr>
        <p:txBody>
          <a:bodyPr wrap="square" anchor="t">
            <a:normAutofit/>
          </a:bodyPr>
          <a:lstStyle/>
          <a:p>
            <a:pPr algn="ctr"/>
            <a:r>
              <a:rPr sz="1100" b="1" i="0">
                <a:solidFill>
                  <a:srgbClr val="C3002B"/>
                </a:solidFill>
                <a:latin typeface="Arial"/>
              </a:rPr>
              <a:t>DECIDE</a:t>
            </a:r>
          </a:p>
        </p:txBody>
      </p:sp>
      <p:sp>
        <p:nvSpPr>
          <p:cNvPr id="20" name="TextBox 19"/>
          <p:cNvSpPr txBox="1"/>
          <p:nvPr/>
        </p:nvSpPr>
        <p:spPr>
          <a:xfrm>
            <a:off x="4328160" y="1856232"/>
            <a:ext cx="1661160" cy="228600"/>
          </a:xfrm>
          <a:prstGeom prst="rect">
            <a:avLst/>
          </a:prstGeom>
          <a:noFill/>
        </p:spPr>
        <p:txBody>
          <a:bodyPr wrap="square" anchor="t">
            <a:normAutofit/>
          </a:bodyPr>
          <a:lstStyle/>
          <a:p>
            <a:pPr algn="ctr"/>
            <a:r>
              <a:rPr sz="900" b="1" i="0">
                <a:solidFill>
                  <a:srgbClr val="7A7A7A"/>
                </a:solidFill>
                <a:latin typeface="Arial"/>
              </a:rPr>
              <a:t>Q4 2026</a:t>
            </a:r>
          </a:p>
        </p:txBody>
      </p:sp>
      <p:sp>
        <p:nvSpPr>
          <p:cNvPr id="21" name="TextBox 20"/>
          <p:cNvSpPr txBox="1"/>
          <p:nvPr/>
        </p:nvSpPr>
        <p:spPr>
          <a:xfrm>
            <a:off x="4328160" y="2103120"/>
            <a:ext cx="1661160" cy="1005840"/>
          </a:xfrm>
          <a:prstGeom prst="rect">
            <a:avLst/>
          </a:prstGeom>
          <a:noFill/>
        </p:spPr>
        <p:txBody>
          <a:bodyPr wrap="square" anchor="t">
            <a:normAutofit/>
          </a:bodyPr>
          <a:lstStyle/>
          <a:p>
            <a:pPr algn="ctr"/>
            <a:r>
              <a:rPr sz="900" b="0" i="0">
                <a:solidFill>
                  <a:srgbClr val="1C1C1C"/>
                </a:solidFill>
                <a:latin typeface="Arial"/>
              </a:rPr>
              <a:t>M3E scenario chosen with C&amp;W's decision-ready recommendation; scope fixed.</a:t>
            </a:r>
          </a:p>
        </p:txBody>
      </p:sp>
      <p:sp>
        <p:nvSpPr>
          <p:cNvPr id="22" name="Diamond 21"/>
          <p:cNvSpPr/>
          <p:nvPr/>
        </p:nvSpPr>
        <p:spPr>
          <a:xfrm>
            <a:off x="6856476" y="2944368"/>
            <a:ext cx="292608" cy="292608"/>
          </a:xfrm>
          <a:prstGeom prst="diamond">
            <a:avLst/>
          </a:prstGeom>
          <a:solidFill>
            <a:srgbClr val="1C1C1C"/>
          </a:solidFill>
          <a:ln>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172200" y="3611880"/>
            <a:ext cx="1661160" cy="274320"/>
          </a:xfrm>
          <a:prstGeom prst="rect">
            <a:avLst/>
          </a:prstGeom>
          <a:noFill/>
        </p:spPr>
        <p:txBody>
          <a:bodyPr wrap="square" anchor="t">
            <a:normAutofit/>
          </a:bodyPr>
          <a:lstStyle/>
          <a:p>
            <a:pPr algn="ctr"/>
            <a:r>
              <a:rPr sz="1100" b="1" i="0">
                <a:solidFill>
                  <a:srgbClr val="C3002B"/>
                </a:solidFill>
                <a:latin typeface="Arial"/>
              </a:rPr>
              <a:t>TENDER</a:t>
            </a:r>
          </a:p>
        </p:txBody>
      </p:sp>
      <p:sp>
        <p:nvSpPr>
          <p:cNvPr id="24" name="TextBox 23"/>
          <p:cNvSpPr txBox="1"/>
          <p:nvPr/>
        </p:nvSpPr>
        <p:spPr>
          <a:xfrm>
            <a:off x="6172200" y="3867912"/>
            <a:ext cx="1661160" cy="228600"/>
          </a:xfrm>
          <a:prstGeom prst="rect">
            <a:avLst/>
          </a:prstGeom>
          <a:noFill/>
        </p:spPr>
        <p:txBody>
          <a:bodyPr wrap="square" anchor="t">
            <a:normAutofit/>
          </a:bodyPr>
          <a:lstStyle/>
          <a:p>
            <a:pPr algn="ctr"/>
            <a:r>
              <a:rPr sz="900" b="1" i="0">
                <a:solidFill>
                  <a:srgbClr val="7A7A7A"/>
                </a:solidFill>
                <a:latin typeface="Arial"/>
              </a:rPr>
              <a:t>Q1–Q2 2027</a:t>
            </a:r>
          </a:p>
        </p:txBody>
      </p:sp>
      <p:sp>
        <p:nvSpPr>
          <p:cNvPr id="25" name="TextBox 24"/>
          <p:cNvSpPr txBox="1"/>
          <p:nvPr/>
        </p:nvSpPr>
        <p:spPr>
          <a:xfrm>
            <a:off x="6172200" y="4114800"/>
            <a:ext cx="1661160" cy="1005840"/>
          </a:xfrm>
          <a:prstGeom prst="rect">
            <a:avLst/>
          </a:prstGeom>
          <a:noFill/>
        </p:spPr>
        <p:txBody>
          <a:bodyPr wrap="square" anchor="t">
            <a:normAutofit/>
          </a:bodyPr>
          <a:lstStyle/>
          <a:p>
            <a:pPr algn="ctr"/>
            <a:r>
              <a:rPr sz="900" b="0" i="0">
                <a:solidFill>
                  <a:srgbClr val="1C1C1C"/>
                </a:solidFill>
                <a:latin typeface="Arial"/>
              </a:rPr>
              <a:t>Contractor selected on price, quality and risk. Works contracted.</a:t>
            </a:r>
          </a:p>
        </p:txBody>
      </p:sp>
      <p:sp>
        <p:nvSpPr>
          <p:cNvPr id="26" name="Diamond 25"/>
          <p:cNvSpPr/>
          <p:nvPr/>
        </p:nvSpPr>
        <p:spPr>
          <a:xfrm>
            <a:off x="8700516" y="2944368"/>
            <a:ext cx="292608" cy="292608"/>
          </a:xfrm>
          <a:prstGeom prst="diamond">
            <a:avLst/>
          </a:prstGeom>
          <a:solidFill>
            <a:srgbClr val="1C1C1C"/>
          </a:solidFill>
          <a:ln>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016240" y="1600200"/>
            <a:ext cx="1661160" cy="274320"/>
          </a:xfrm>
          <a:prstGeom prst="rect">
            <a:avLst/>
          </a:prstGeom>
          <a:noFill/>
        </p:spPr>
        <p:txBody>
          <a:bodyPr wrap="square" anchor="t">
            <a:normAutofit/>
          </a:bodyPr>
          <a:lstStyle/>
          <a:p>
            <a:pPr algn="ctr"/>
            <a:r>
              <a:rPr sz="1100" b="1" i="0">
                <a:solidFill>
                  <a:srgbClr val="C3002B"/>
                </a:solidFill>
                <a:latin typeface="Arial"/>
              </a:rPr>
              <a:t>BUILD</a:t>
            </a:r>
          </a:p>
        </p:txBody>
      </p:sp>
      <p:sp>
        <p:nvSpPr>
          <p:cNvPr id="28" name="TextBox 27"/>
          <p:cNvSpPr txBox="1"/>
          <p:nvPr/>
        </p:nvSpPr>
        <p:spPr>
          <a:xfrm>
            <a:off x="8016240" y="1856232"/>
            <a:ext cx="1661160" cy="228600"/>
          </a:xfrm>
          <a:prstGeom prst="rect">
            <a:avLst/>
          </a:prstGeom>
          <a:noFill/>
        </p:spPr>
        <p:txBody>
          <a:bodyPr wrap="square" anchor="t">
            <a:normAutofit/>
          </a:bodyPr>
          <a:lstStyle/>
          <a:p>
            <a:pPr algn="ctr"/>
            <a:r>
              <a:rPr sz="900" b="1" i="0">
                <a:solidFill>
                  <a:srgbClr val="7A7A7A"/>
                </a:solidFill>
                <a:latin typeface="Arial"/>
              </a:rPr>
              <a:t>2027–2029</a:t>
            </a:r>
          </a:p>
        </p:txBody>
      </p:sp>
      <p:sp>
        <p:nvSpPr>
          <p:cNvPr id="29" name="TextBox 28"/>
          <p:cNvSpPr txBox="1"/>
          <p:nvPr/>
        </p:nvSpPr>
        <p:spPr>
          <a:xfrm>
            <a:off x="8016240" y="2103120"/>
            <a:ext cx="1661160" cy="1005840"/>
          </a:xfrm>
          <a:prstGeom prst="rect">
            <a:avLst/>
          </a:prstGeom>
          <a:noFill/>
        </p:spPr>
        <p:txBody>
          <a:bodyPr wrap="square" anchor="t">
            <a:normAutofit/>
          </a:bodyPr>
          <a:lstStyle/>
          <a:p>
            <a:pPr algn="ctr"/>
            <a:r>
              <a:rPr sz="900" b="0" i="0">
                <a:solidFill>
                  <a:srgbClr val="1C1C1C"/>
                </a:solidFill>
                <a:latin typeface="Arial"/>
              </a:rPr>
              <a:t>Floor-by-floor execution in the live building. PwC operational throughout.</a:t>
            </a:r>
          </a:p>
        </p:txBody>
      </p:sp>
      <p:sp>
        <p:nvSpPr>
          <p:cNvPr id="30" name="Diamond 29"/>
          <p:cNvSpPr/>
          <p:nvPr/>
        </p:nvSpPr>
        <p:spPr>
          <a:xfrm>
            <a:off x="10544556" y="2944368"/>
            <a:ext cx="292608" cy="292608"/>
          </a:xfrm>
          <a:prstGeom prst="diamond">
            <a:avLst/>
          </a:prstGeom>
          <a:solidFill>
            <a:srgbClr val="C3002B"/>
          </a:solidFill>
          <a:ln>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860280" y="3611880"/>
            <a:ext cx="1661160" cy="274320"/>
          </a:xfrm>
          <a:prstGeom prst="rect">
            <a:avLst/>
          </a:prstGeom>
          <a:noFill/>
        </p:spPr>
        <p:txBody>
          <a:bodyPr wrap="square" anchor="t">
            <a:normAutofit/>
          </a:bodyPr>
          <a:lstStyle/>
          <a:p>
            <a:pPr algn="ctr"/>
            <a:r>
              <a:rPr sz="1100" b="1" i="0">
                <a:solidFill>
                  <a:srgbClr val="C3002B"/>
                </a:solidFill>
                <a:latin typeface="Arial"/>
              </a:rPr>
              <a:t>PARIS PROOF</a:t>
            </a:r>
          </a:p>
        </p:txBody>
      </p:sp>
      <p:sp>
        <p:nvSpPr>
          <p:cNvPr id="32" name="TextBox 31"/>
          <p:cNvSpPr txBox="1"/>
          <p:nvPr/>
        </p:nvSpPr>
        <p:spPr>
          <a:xfrm>
            <a:off x="9860280" y="3867912"/>
            <a:ext cx="1661160" cy="228600"/>
          </a:xfrm>
          <a:prstGeom prst="rect">
            <a:avLst/>
          </a:prstGeom>
          <a:noFill/>
        </p:spPr>
        <p:txBody>
          <a:bodyPr wrap="square" anchor="t">
            <a:normAutofit/>
          </a:bodyPr>
          <a:lstStyle/>
          <a:p>
            <a:pPr algn="ctr"/>
            <a:r>
              <a:rPr sz="900" b="1" i="0">
                <a:solidFill>
                  <a:srgbClr val="7A7A7A"/>
                </a:solidFill>
                <a:latin typeface="Arial"/>
              </a:rPr>
              <a:t>target</a:t>
            </a:r>
          </a:p>
        </p:txBody>
      </p:sp>
      <p:sp>
        <p:nvSpPr>
          <p:cNvPr id="33" name="TextBox 32"/>
          <p:cNvSpPr txBox="1"/>
          <p:nvPr/>
        </p:nvSpPr>
        <p:spPr>
          <a:xfrm>
            <a:off x="9860280" y="4114800"/>
            <a:ext cx="1661160" cy="1005840"/>
          </a:xfrm>
          <a:prstGeom prst="rect">
            <a:avLst/>
          </a:prstGeom>
          <a:noFill/>
        </p:spPr>
        <p:txBody>
          <a:bodyPr wrap="square" anchor="t">
            <a:normAutofit/>
          </a:bodyPr>
          <a:lstStyle/>
          <a:p>
            <a:pPr algn="ctr"/>
            <a:r>
              <a:rPr sz="900" b="0" i="0">
                <a:solidFill>
                  <a:srgbClr val="1C1C1C"/>
                </a:solidFill>
                <a:latin typeface="Arial"/>
              </a:rPr>
              <a:t>Verified handover. Asset compliant, tenant retained, value protected.</a:t>
            </a:r>
          </a:p>
        </p:txBody>
      </p:sp>
      <p:sp>
        <p:nvSpPr>
          <p:cNvPr id="34" name="TextBox 33"/>
          <p:cNvSpPr txBox="1"/>
          <p:nvPr/>
        </p:nvSpPr>
        <p:spPr>
          <a:xfrm>
            <a:off x="411480" y="5989320"/>
            <a:ext cx="10058400" cy="274320"/>
          </a:xfrm>
          <a:prstGeom prst="rect">
            <a:avLst/>
          </a:prstGeom>
          <a:noFill/>
        </p:spPr>
        <p:txBody>
          <a:bodyPr wrap="square" anchor="t">
            <a:normAutofit/>
          </a:bodyPr>
          <a:lstStyle/>
          <a:p>
            <a:pPr algn="l"/>
            <a:r>
              <a:rPr sz="800" b="0" i="1">
                <a:solidFill>
                  <a:srgbClr val="7A7A7A"/>
                </a:solidFill>
                <a:latin typeface="Arial"/>
              </a:rPr>
              <a:t>tijdlijn indicatief — jaartallen te valideren met M3E-ontwerpplanning, Paris Proof-deadline en Corum–PwC afspraken</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4592" cy="6858000"/>
          </a:xfrm>
          <a:prstGeom prst="rect">
            <a:avLst/>
          </a:prstGeom>
          <a:solidFill>
            <a:srgbClr val="C3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219456"/>
            <a:ext cx="10058400" cy="274320"/>
          </a:xfrm>
          <a:prstGeom prst="rect">
            <a:avLst/>
          </a:prstGeom>
          <a:noFill/>
        </p:spPr>
        <p:txBody>
          <a:bodyPr wrap="square" anchor="t">
            <a:normAutofit/>
          </a:bodyPr>
          <a:lstStyle/>
          <a:p>
            <a:pPr algn="l"/>
            <a:r>
              <a:rPr sz="1000" b="1" i="0">
                <a:solidFill>
                  <a:srgbClr val="C3002B"/>
                </a:solidFill>
                <a:latin typeface="Arial"/>
              </a:rPr>
              <a:t>03 — THE JOURNEY  ·  ENGAGEMENT MODEL</a:t>
            </a:r>
          </a:p>
        </p:txBody>
      </p:sp>
      <p:sp>
        <p:nvSpPr>
          <p:cNvPr id="4" name="TextBox 3"/>
          <p:cNvSpPr txBox="1"/>
          <p:nvPr/>
        </p:nvSpPr>
        <p:spPr>
          <a:xfrm>
            <a:off x="411480" y="457200"/>
            <a:ext cx="11155680" cy="868680"/>
          </a:xfrm>
          <a:prstGeom prst="rect">
            <a:avLst/>
          </a:prstGeom>
          <a:noFill/>
        </p:spPr>
        <p:txBody>
          <a:bodyPr wrap="square" anchor="t">
            <a:normAutofit/>
          </a:bodyPr>
          <a:lstStyle/>
          <a:p>
            <a:pPr algn="l"/>
            <a:r>
              <a:rPr sz="2300" b="1" i="0">
                <a:solidFill>
                  <a:srgbClr val="1C1C1C"/>
                </a:solidFill>
                <a:latin typeface="Arial"/>
              </a:rPr>
              <a:t>You commit in steps: start small, scale with confidence</a:t>
            </a:r>
          </a:p>
        </p:txBody>
      </p:sp>
      <p:sp>
        <p:nvSpPr>
          <p:cNvPr id="5" name="TextBox 4"/>
          <p:cNvSpPr txBox="1"/>
          <p:nvPr/>
        </p:nvSpPr>
        <p:spPr>
          <a:xfrm>
            <a:off x="411480" y="6446520"/>
            <a:ext cx="5486400" cy="274320"/>
          </a:xfrm>
          <a:prstGeom prst="rect">
            <a:avLst/>
          </a:prstGeom>
          <a:noFill/>
        </p:spPr>
        <p:txBody>
          <a:bodyPr wrap="square" anchor="t">
            <a:normAutofit/>
          </a:bodyPr>
          <a:lstStyle/>
          <a:p>
            <a:pPr algn="l"/>
            <a:r>
              <a:rPr sz="800" b="0" i="0">
                <a:solidFill>
                  <a:srgbClr val="7A7A7A"/>
                </a:solidFill>
                <a:latin typeface="Arial"/>
              </a:rPr>
              <a:t>CUSHMAN &amp; WAKEFIELD  |  CORUM A.M.  ·  WESTGATE I</a:t>
            </a:r>
          </a:p>
        </p:txBody>
      </p:sp>
      <p:sp>
        <p:nvSpPr>
          <p:cNvPr id="6" name="TextBox 5"/>
          <p:cNvSpPr txBox="1"/>
          <p:nvPr/>
        </p:nvSpPr>
        <p:spPr>
          <a:xfrm>
            <a:off x="11475720" y="6446520"/>
            <a:ext cx="502920" cy="274320"/>
          </a:xfrm>
          <a:prstGeom prst="rect">
            <a:avLst/>
          </a:prstGeom>
          <a:noFill/>
        </p:spPr>
        <p:txBody>
          <a:bodyPr wrap="square" anchor="t">
            <a:normAutofit/>
          </a:bodyPr>
          <a:lstStyle/>
          <a:p>
            <a:pPr algn="r"/>
            <a:r>
              <a:rPr sz="1000" b="0" i="0">
                <a:solidFill>
                  <a:srgbClr val="7A7A7A"/>
                </a:solidFill>
                <a:latin typeface="Arial"/>
              </a:rPr>
              <a:t>14</a:t>
            </a:r>
          </a:p>
        </p:txBody>
      </p:sp>
      <p:sp>
        <p:nvSpPr>
          <p:cNvPr id="7" name="Rounded Rectangle 6"/>
          <p:cNvSpPr/>
          <p:nvPr/>
        </p:nvSpPr>
        <p:spPr>
          <a:xfrm>
            <a:off x="7726679" y="6419088"/>
            <a:ext cx="3657600" cy="292608"/>
          </a:xfrm>
          <a:prstGeom prst="roundRect">
            <a:avLst/>
          </a:prstGeom>
          <a:solidFill>
            <a:srgbClr val="C3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26679" y="6455664"/>
            <a:ext cx="3657600" cy="237744"/>
          </a:xfrm>
          <a:prstGeom prst="rect">
            <a:avLst/>
          </a:prstGeom>
          <a:noFill/>
        </p:spPr>
        <p:txBody>
          <a:bodyPr wrap="square" anchor="t">
            <a:normAutofit/>
          </a:bodyPr>
          <a:lstStyle/>
          <a:p>
            <a:pPr algn="ctr"/>
            <a:r>
              <a:rPr sz="800" b="1" i="0">
                <a:solidFill>
                  <a:srgbClr val="FFFFFF"/>
                </a:solidFill>
                <a:latin typeface="Arial"/>
              </a:rPr>
              <a:t>CORUM DECIDES  ·  C&amp;W DELIVERS  ·  PwC ALIGNED</a:t>
            </a:r>
          </a:p>
        </p:txBody>
      </p:sp>
      <p:sp>
        <p:nvSpPr>
          <p:cNvPr id="9" name="Rectangle 8"/>
          <p:cNvSpPr/>
          <p:nvPr/>
        </p:nvSpPr>
        <p:spPr>
          <a:xfrm>
            <a:off x="411480" y="1783080"/>
            <a:ext cx="2697480" cy="3246120"/>
          </a:xfrm>
          <a:prstGeom prst="rect">
            <a:avLst/>
          </a:prstGeom>
          <a:solidFill>
            <a:srgbClr val="FFFFFF"/>
          </a:solidFill>
          <a:ln w="6350">
            <a:solidFill>
              <a:srgbClr val="E2E2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11480" y="1783080"/>
            <a:ext cx="2697480" cy="731520"/>
          </a:xfrm>
          <a:prstGeom prst="rect">
            <a:avLst/>
          </a:prstGeom>
          <a:solidFill>
            <a:srgbClr val="C3002B"/>
          </a:solidFill>
          <a:ln w="6350">
            <a:solidFill>
              <a:srgbClr val="E2E2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21208" y="1856231"/>
            <a:ext cx="2514600" cy="274320"/>
          </a:xfrm>
          <a:prstGeom prst="rect">
            <a:avLst/>
          </a:prstGeom>
          <a:noFill/>
        </p:spPr>
        <p:txBody>
          <a:bodyPr wrap="square" anchor="t">
            <a:normAutofit/>
          </a:bodyPr>
          <a:lstStyle/>
          <a:p>
            <a:pPr algn="l"/>
            <a:r>
              <a:rPr sz="1000" b="1" i="0">
                <a:solidFill>
                  <a:srgbClr val="FFFFFF"/>
                </a:solidFill>
                <a:latin typeface="Arial"/>
              </a:rPr>
              <a:t>PHASE 0</a:t>
            </a:r>
          </a:p>
        </p:txBody>
      </p:sp>
      <p:sp>
        <p:nvSpPr>
          <p:cNvPr id="12" name="TextBox 11"/>
          <p:cNvSpPr txBox="1"/>
          <p:nvPr/>
        </p:nvSpPr>
        <p:spPr>
          <a:xfrm>
            <a:off x="521208" y="2103120"/>
            <a:ext cx="2514600" cy="411480"/>
          </a:xfrm>
          <a:prstGeom prst="rect">
            <a:avLst/>
          </a:prstGeom>
          <a:noFill/>
        </p:spPr>
        <p:txBody>
          <a:bodyPr wrap="square" anchor="t">
            <a:normAutofit/>
          </a:bodyPr>
          <a:lstStyle/>
          <a:p>
            <a:pPr algn="l"/>
            <a:r>
              <a:rPr sz="1100" b="1" i="0">
                <a:solidFill>
                  <a:srgbClr val="FFFFFF"/>
                </a:solidFill>
                <a:latin typeface="Arial"/>
              </a:rPr>
              <a:t>PREPARATORY ASSIGNMENT</a:t>
            </a:r>
          </a:p>
        </p:txBody>
      </p:sp>
      <p:sp>
        <p:nvSpPr>
          <p:cNvPr id="13" name="TextBox 12"/>
          <p:cNvSpPr txBox="1"/>
          <p:nvPr/>
        </p:nvSpPr>
        <p:spPr>
          <a:xfrm>
            <a:off x="548640" y="2697480"/>
            <a:ext cx="2423160" cy="2240280"/>
          </a:xfrm>
          <a:prstGeom prst="rect">
            <a:avLst/>
          </a:prstGeom>
          <a:noFill/>
        </p:spPr>
        <p:txBody>
          <a:bodyPr wrap="square" anchor="t">
            <a:normAutofit/>
          </a:bodyPr>
          <a:lstStyle/>
          <a:p>
            <a:pPr algn="l"/>
            <a:r>
              <a:rPr sz="1000" b="0" i="0">
                <a:solidFill>
                  <a:srgbClr val="1C1C1C"/>
                </a:solidFill>
                <a:latin typeface="Arial"/>
              </a:rPr>
              <a:t>A limited, low-commitment start: map all stakeholders, set up the project organisation, gather M3E's input, capture PwC's requirements. Deliverable: one integral project plan you can rely on.</a:t>
            </a:r>
          </a:p>
        </p:txBody>
      </p:sp>
      <p:sp>
        <p:nvSpPr>
          <p:cNvPr id="14" name="Right Arrow 13"/>
          <p:cNvSpPr/>
          <p:nvPr/>
        </p:nvSpPr>
        <p:spPr>
          <a:xfrm>
            <a:off x="3090672" y="3154680"/>
            <a:ext cx="237744" cy="274320"/>
          </a:xfrm>
          <a:prstGeom prst="rightArrow">
            <a:avLst/>
          </a:prstGeom>
          <a:solidFill>
            <a:srgbClr val="C3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246120" y="1783080"/>
            <a:ext cx="2697480" cy="3246120"/>
          </a:xfrm>
          <a:prstGeom prst="rect">
            <a:avLst/>
          </a:prstGeom>
          <a:solidFill>
            <a:srgbClr val="FFFFFF"/>
          </a:solidFill>
          <a:ln w="6350">
            <a:solidFill>
              <a:srgbClr val="E2E2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246120" y="1783080"/>
            <a:ext cx="2697480" cy="731520"/>
          </a:xfrm>
          <a:prstGeom prst="rect">
            <a:avLst/>
          </a:prstGeom>
          <a:solidFill>
            <a:srgbClr val="1C1C1C"/>
          </a:solidFill>
          <a:ln w="6350">
            <a:solidFill>
              <a:srgbClr val="E2E2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355848" y="1856231"/>
            <a:ext cx="2514600" cy="274320"/>
          </a:xfrm>
          <a:prstGeom prst="rect">
            <a:avLst/>
          </a:prstGeom>
          <a:noFill/>
        </p:spPr>
        <p:txBody>
          <a:bodyPr wrap="square" anchor="t">
            <a:normAutofit/>
          </a:bodyPr>
          <a:lstStyle/>
          <a:p>
            <a:pPr algn="l"/>
            <a:r>
              <a:rPr sz="1000" b="1" i="0">
                <a:solidFill>
                  <a:srgbClr val="FFFFFF"/>
                </a:solidFill>
                <a:latin typeface="Arial"/>
              </a:rPr>
              <a:t>PHASE 1</a:t>
            </a:r>
          </a:p>
        </p:txBody>
      </p:sp>
      <p:sp>
        <p:nvSpPr>
          <p:cNvPr id="18" name="TextBox 17"/>
          <p:cNvSpPr txBox="1"/>
          <p:nvPr/>
        </p:nvSpPr>
        <p:spPr>
          <a:xfrm>
            <a:off x="3355848" y="2103120"/>
            <a:ext cx="2514600" cy="411480"/>
          </a:xfrm>
          <a:prstGeom prst="rect">
            <a:avLst/>
          </a:prstGeom>
          <a:noFill/>
        </p:spPr>
        <p:txBody>
          <a:bodyPr wrap="square" anchor="t">
            <a:normAutofit/>
          </a:bodyPr>
          <a:lstStyle/>
          <a:p>
            <a:pPr algn="l"/>
            <a:r>
              <a:rPr sz="1100" b="1" i="0">
                <a:solidFill>
                  <a:srgbClr val="FFFFFF"/>
                </a:solidFill>
                <a:latin typeface="Arial"/>
              </a:rPr>
              <a:t>PM PREPARATION</a:t>
            </a:r>
          </a:p>
        </p:txBody>
      </p:sp>
      <p:sp>
        <p:nvSpPr>
          <p:cNvPr id="19" name="TextBox 18"/>
          <p:cNvSpPr txBox="1"/>
          <p:nvPr/>
        </p:nvSpPr>
        <p:spPr>
          <a:xfrm>
            <a:off x="3383280" y="2697480"/>
            <a:ext cx="2423160" cy="2240280"/>
          </a:xfrm>
          <a:prstGeom prst="rect">
            <a:avLst/>
          </a:prstGeom>
          <a:noFill/>
        </p:spPr>
        <p:txBody>
          <a:bodyPr wrap="square" anchor="t">
            <a:normAutofit/>
          </a:bodyPr>
          <a:lstStyle/>
          <a:p>
            <a:pPr algn="l"/>
            <a:r>
              <a:rPr sz="1000" b="0" i="0">
                <a:solidFill>
                  <a:srgbClr val="1C1C1C"/>
                </a:solidFill>
                <a:latin typeface="Arial"/>
              </a:rPr>
              <a:t>Guide the technical design to a fixed scope, prepare the tender documents, run the tender and select the contractor.</a:t>
            </a:r>
          </a:p>
        </p:txBody>
      </p:sp>
      <p:sp>
        <p:nvSpPr>
          <p:cNvPr id="20" name="Right Arrow 19"/>
          <p:cNvSpPr/>
          <p:nvPr/>
        </p:nvSpPr>
        <p:spPr>
          <a:xfrm>
            <a:off x="5925312" y="3154680"/>
            <a:ext cx="237744" cy="274320"/>
          </a:xfrm>
          <a:prstGeom prst="rightArrow">
            <a:avLst/>
          </a:prstGeom>
          <a:solidFill>
            <a:srgbClr val="C3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080760" y="1783080"/>
            <a:ext cx="2697480" cy="3246120"/>
          </a:xfrm>
          <a:prstGeom prst="rect">
            <a:avLst/>
          </a:prstGeom>
          <a:solidFill>
            <a:srgbClr val="FFFFFF"/>
          </a:solidFill>
          <a:ln w="6350">
            <a:solidFill>
              <a:srgbClr val="E2E2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080760" y="1783080"/>
            <a:ext cx="2697480" cy="731520"/>
          </a:xfrm>
          <a:prstGeom prst="rect">
            <a:avLst/>
          </a:prstGeom>
          <a:solidFill>
            <a:srgbClr val="1C1C1C"/>
          </a:solidFill>
          <a:ln w="6350">
            <a:solidFill>
              <a:srgbClr val="E2E2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190488" y="1856231"/>
            <a:ext cx="2514600" cy="274320"/>
          </a:xfrm>
          <a:prstGeom prst="rect">
            <a:avLst/>
          </a:prstGeom>
          <a:noFill/>
        </p:spPr>
        <p:txBody>
          <a:bodyPr wrap="square" anchor="t">
            <a:normAutofit/>
          </a:bodyPr>
          <a:lstStyle/>
          <a:p>
            <a:pPr algn="l"/>
            <a:r>
              <a:rPr sz="1000" b="1" i="0">
                <a:solidFill>
                  <a:srgbClr val="FFFFFF"/>
                </a:solidFill>
                <a:latin typeface="Arial"/>
              </a:rPr>
              <a:t>PHASE 2</a:t>
            </a:r>
          </a:p>
        </p:txBody>
      </p:sp>
      <p:sp>
        <p:nvSpPr>
          <p:cNvPr id="24" name="TextBox 23"/>
          <p:cNvSpPr txBox="1"/>
          <p:nvPr/>
        </p:nvSpPr>
        <p:spPr>
          <a:xfrm>
            <a:off x="6190488" y="2103120"/>
            <a:ext cx="2514600" cy="411480"/>
          </a:xfrm>
          <a:prstGeom prst="rect">
            <a:avLst/>
          </a:prstGeom>
          <a:noFill/>
        </p:spPr>
        <p:txBody>
          <a:bodyPr wrap="square" anchor="t">
            <a:normAutofit/>
          </a:bodyPr>
          <a:lstStyle/>
          <a:p>
            <a:pPr algn="l"/>
            <a:r>
              <a:rPr sz="1100" b="1" i="0">
                <a:solidFill>
                  <a:srgbClr val="FFFFFF"/>
                </a:solidFill>
                <a:latin typeface="Arial"/>
              </a:rPr>
              <a:t>PM EXECUTION</a:t>
            </a:r>
          </a:p>
        </p:txBody>
      </p:sp>
      <p:sp>
        <p:nvSpPr>
          <p:cNvPr id="25" name="TextBox 24"/>
          <p:cNvSpPr txBox="1"/>
          <p:nvPr/>
        </p:nvSpPr>
        <p:spPr>
          <a:xfrm>
            <a:off x="6217920" y="2697480"/>
            <a:ext cx="2423160" cy="2240280"/>
          </a:xfrm>
          <a:prstGeom prst="rect">
            <a:avLst/>
          </a:prstGeom>
          <a:noFill/>
        </p:spPr>
        <p:txBody>
          <a:bodyPr wrap="square" anchor="t">
            <a:normAutofit/>
          </a:bodyPr>
          <a:lstStyle/>
          <a:p>
            <a:pPr algn="l"/>
            <a:r>
              <a:rPr sz="1000" b="0" i="0">
                <a:solidFill>
                  <a:srgbClr val="1C1C1C"/>
                </a:solidFill>
                <a:latin typeface="Arial"/>
              </a:rPr>
              <a:t>Direct and supervise the works: floor-by-floor phasing, tenant communication, and control of budget, quality, planning and risk.</a:t>
            </a:r>
          </a:p>
        </p:txBody>
      </p:sp>
      <p:sp>
        <p:nvSpPr>
          <p:cNvPr id="26" name="Right Arrow 25"/>
          <p:cNvSpPr/>
          <p:nvPr/>
        </p:nvSpPr>
        <p:spPr>
          <a:xfrm>
            <a:off x="8759952" y="3154680"/>
            <a:ext cx="237744" cy="274320"/>
          </a:xfrm>
          <a:prstGeom prst="rightArrow">
            <a:avLst/>
          </a:prstGeom>
          <a:solidFill>
            <a:srgbClr val="C3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8915400" y="1783080"/>
            <a:ext cx="2697480" cy="3246120"/>
          </a:xfrm>
          <a:prstGeom prst="rect">
            <a:avLst/>
          </a:prstGeom>
          <a:solidFill>
            <a:srgbClr val="FFFFFF"/>
          </a:solidFill>
          <a:ln w="6350">
            <a:solidFill>
              <a:srgbClr val="E2E2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8915400" y="1783080"/>
            <a:ext cx="2697480" cy="731520"/>
          </a:xfrm>
          <a:prstGeom prst="rect">
            <a:avLst/>
          </a:prstGeom>
          <a:solidFill>
            <a:srgbClr val="1C1C1C"/>
          </a:solidFill>
          <a:ln w="6350">
            <a:solidFill>
              <a:srgbClr val="E2E2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025128" y="1856231"/>
            <a:ext cx="2514600" cy="274320"/>
          </a:xfrm>
          <a:prstGeom prst="rect">
            <a:avLst/>
          </a:prstGeom>
          <a:noFill/>
        </p:spPr>
        <p:txBody>
          <a:bodyPr wrap="square" anchor="t">
            <a:normAutofit/>
          </a:bodyPr>
          <a:lstStyle/>
          <a:p>
            <a:pPr algn="l"/>
            <a:r>
              <a:rPr sz="1000" b="1" i="0">
                <a:solidFill>
                  <a:srgbClr val="FFFFFF"/>
                </a:solidFill>
                <a:latin typeface="Arial"/>
              </a:rPr>
              <a:t>PHASE 3</a:t>
            </a:r>
          </a:p>
        </p:txBody>
      </p:sp>
      <p:sp>
        <p:nvSpPr>
          <p:cNvPr id="30" name="TextBox 29"/>
          <p:cNvSpPr txBox="1"/>
          <p:nvPr/>
        </p:nvSpPr>
        <p:spPr>
          <a:xfrm>
            <a:off x="9025128" y="2103120"/>
            <a:ext cx="2514600" cy="411480"/>
          </a:xfrm>
          <a:prstGeom prst="rect">
            <a:avLst/>
          </a:prstGeom>
          <a:noFill/>
        </p:spPr>
        <p:txBody>
          <a:bodyPr wrap="square" anchor="t">
            <a:normAutofit/>
          </a:bodyPr>
          <a:lstStyle/>
          <a:p>
            <a:pPr algn="l"/>
            <a:r>
              <a:rPr sz="1100" b="1" i="0">
                <a:solidFill>
                  <a:srgbClr val="FFFFFF"/>
                </a:solidFill>
                <a:latin typeface="Arial"/>
              </a:rPr>
              <a:t>BUILDING CONSULTANCY</a:t>
            </a:r>
          </a:p>
        </p:txBody>
      </p:sp>
      <p:sp>
        <p:nvSpPr>
          <p:cNvPr id="31" name="TextBox 30"/>
          <p:cNvSpPr txBox="1"/>
          <p:nvPr/>
        </p:nvSpPr>
        <p:spPr>
          <a:xfrm>
            <a:off x="9052560" y="2697480"/>
            <a:ext cx="2423160" cy="2240280"/>
          </a:xfrm>
          <a:prstGeom prst="rect">
            <a:avLst/>
          </a:prstGeom>
          <a:noFill/>
        </p:spPr>
        <p:txBody>
          <a:bodyPr wrap="square" anchor="t">
            <a:normAutofit/>
          </a:bodyPr>
          <a:lstStyle/>
          <a:p>
            <a:pPr algn="l"/>
            <a:r>
              <a:rPr sz="1000" b="0" i="0">
                <a:solidFill>
                  <a:srgbClr val="1C1C1C"/>
                </a:solidFill>
                <a:latin typeface="Arial"/>
              </a:rPr>
              <a:t>Independent quality inspections during construction — an extra pair of expert eyes protecting Corum's interest on site.</a:t>
            </a:r>
          </a:p>
        </p:txBody>
      </p:sp>
      <p:sp>
        <p:nvSpPr>
          <p:cNvPr id="32" name="Rectangle 31"/>
          <p:cNvSpPr/>
          <p:nvPr/>
        </p:nvSpPr>
        <p:spPr>
          <a:xfrm>
            <a:off x="411480" y="5257800"/>
            <a:ext cx="11338560" cy="914400"/>
          </a:xfrm>
          <a:prstGeom prst="rect">
            <a:avLst/>
          </a:prstGeom>
          <a:solidFill>
            <a:srgbClr val="F3F3F3"/>
          </a:solidFill>
          <a:ln w="6350">
            <a:solidFill>
              <a:srgbClr val="E2E2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594360" y="5394960"/>
            <a:ext cx="10972800" cy="685800"/>
          </a:xfrm>
          <a:prstGeom prst="rect">
            <a:avLst/>
          </a:prstGeom>
          <a:noFill/>
        </p:spPr>
        <p:txBody>
          <a:bodyPr wrap="square" anchor="t">
            <a:normAutofit/>
          </a:bodyPr>
          <a:lstStyle/>
          <a:p>
            <a:pPr algn="l"/>
            <a:r>
              <a:rPr sz="1150" b="1" i="0">
                <a:solidFill>
                  <a:srgbClr val="1C1C1C"/>
                </a:solidFill>
                <a:latin typeface="Arial"/>
              </a:rPr>
              <a:t>Each phase is a separate assignment with its own scope, deliverables and fee. You are never asked to commit to the whole programme up front — you decide, phase by phase, on the strength of what we have delivered.</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4592" cy="6858000"/>
          </a:xfrm>
          <a:prstGeom prst="rect">
            <a:avLst/>
          </a:prstGeom>
          <a:solidFill>
            <a:srgbClr val="C3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219456"/>
            <a:ext cx="10058400" cy="274320"/>
          </a:xfrm>
          <a:prstGeom prst="rect">
            <a:avLst/>
          </a:prstGeom>
          <a:noFill/>
        </p:spPr>
        <p:txBody>
          <a:bodyPr wrap="square" anchor="t">
            <a:normAutofit/>
          </a:bodyPr>
          <a:lstStyle/>
          <a:p>
            <a:pPr algn="l"/>
            <a:r>
              <a:rPr sz="1000" b="1" i="0">
                <a:solidFill>
                  <a:srgbClr val="C3002B"/>
                </a:solidFill>
                <a:latin typeface="Arial"/>
              </a:rPr>
              <a:t>03 — THE JOURNEY  ·  PLANNING</a:t>
            </a:r>
          </a:p>
        </p:txBody>
      </p:sp>
      <p:sp>
        <p:nvSpPr>
          <p:cNvPr id="4" name="TextBox 3"/>
          <p:cNvSpPr txBox="1"/>
          <p:nvPr/>
        </p:nvSpPr>
        <p:spPr>
          <a:xfrm>
            <a:off x="411480" y="457200"/>
            <a:ext cx="11155680" cy="868680"/>
          </a:xfrm>
          <a:prstGeom prst="rect">
            <a:avLst/>
          </a:prstGeom>
          <a:noFill/>
        </p:spPr>
        <p:txBody>
          <a:bodyPr wrap="square" anchor="t">
            <a:normAutofit/>
          </a:bodyPr>
          <a:lstStyle/>
          <a:p>
            <a:pPr algn="l"/>
            <a:r>
              <a:rPr sz="2300" b="1" i="0">
                <a:solidFill>
                  <a:srgbClr val="1C1C1C"/>
                </a:solidFill>
                <a:latin typeface="Arial"/>
              </a:rPr>
              <a:t>The programme on a page — indicative, and ours to defend</a:t>
            </a:r>
          </a:p>
        </p:txBody>
      </p:sp>
      <p:sp>
        <p:nvSpPr>
          <p:cNvPr id="5" name="TextBox 4"/>
          <p:cNvSpPr txBox="1"/>
          <p:nvPr/>
        </p:nvSpPr>
        <p:spPr>
          <a:xfrm>
            <a:off x="411480" y="6446520"/>
            <a:ext cx="5486400" cy="274320"/>
          </a:xfrm>
          <a:prstGeom prst="rect">
            <a:avLst/>
          </a:prstGeom>
          <a:noFill/>
        </p:spPr>
        <p:txBody>
          <a:bodyPr wrap="square" anchor="t">
            <a:normAutofit/>
          </a:bodyPr>
          <a:lstStyle/>
          <a:p>
            <a:pPr algn="l"/>
            <a:r>
              <a:rPr sz="800" b="0" i="0">
                <a:solidFill>
                  <a:srgbClr val="7A7A7A"/>
                </a:solidFill>
                <a:latin typeface="Arial"/>
              </a:rPr>
              <a:t>CUSHMAN &amp; WAKEFIELD  |  CORUM A.M.  ·  WESTGATE I</a:t>
            </a:r>
          </a:p>
        </p:txBody>
      </p:sp>
      <p:sp>
        <p:nvSpPr>
          <p:cNvPr id="6" name="TextBox 5"/>
          <p:cNvSpPr txBox="1"/>
          <p:nvPr/>
        </p:nvSpPr>
        <p:spPr>
          <a:xfrm>
            <a:off x="11475720" y="6446520"/>
            <a:ext cx="502920" cy="274320"/>
          </a:xfrm>
          <a:prstGeom prst="rect">
            <a:avLst/>
          </a:prstGeom>
          <a:noFill/>
        </p:spPr>
        <p:txBody>
          <a:bodyPr wrap="square" anchor="t">
            <a:normAutofit/>
          </a:bodyPr>
          <a:lstStyle/>
          <a:p>
            <a:pPr algn="r"/>
            <a:r>
              <a:rPr sz="1000" b="0" i="0">
                <a:solidFill>
                  <a:srgbClr val="7A7A7A"/>
                </a:solidFill>
                <a:latin typeface="Arial"/>
              </a:rPr>
              <a:t>15</a:t>
            </a:r>
          </a:p>
        </p:txBody>
      </p:sp>
      <p:sp>
        <p:nvSpPr>
          <p:cNvPr id="7" name="Rounded Rectangle 6"/>
          <p:cNvSpPr/>
          <p:nvPr/>
        </p:nvSpPr>
        <p:spPr>
          <a:xfrm>
            <a:off x="7726679" y="6419088"/>
            <a:ext cx="3657600" cy="292608"/>
          </a:xfrm>
          <a:prstGeom prst="roundRect">
            <a:avLst/>
          </a:prstGeom>
          <a:solidFill>
            <a:srgbClr val="C3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26679" y="6455664"/>
            <a:ext cx="3657600" cy="237744"/>
          </a:xfrm>
          <a:prstGeom prst="rect">
            <a:avLst/>
          </a:prstGeom>
          <a:noFill/>
        </p:spPr>
        <p:txBody>
          <a:bodyPr wrap="square" anchor="t">
            <a:normAutofit/>
          </a:bodyPr>
          <a:lstStyle/>
          <a:p>
            <a:pPr algn="ctr"/>
            <a:r>
              <a:rPr sz="800" b="1" i="0">
                <a:solidFill>
                  <a:srgbClr val="FFFFFF"/>
                </a:solidFill>
                <a:latin typeface="Arial"/>
              </a:rPr>
              <a:t>CORUM DECIDES  ·  C&amp;W DELIVERS  ·  PwC ALIGNED</a:t>
            </a:r>
          </a:p>
        </p:txBody>
      </p:sp>
      <p:sp>
        <p:nvSpPr>
          <p:cNvPr id="9" name="TextBox 8"/>
          <p:cNvSpPr txBox="1"/>
          <p:nvPr/>
        </p:nvSpPr>
        <p:spPr>
          <a:xfrm>
            <a:off x="3200400" y="1645920"/>
            <a:ext cx="1062990" cy="274320"/>
          </a:xfrm>
          <a:prstGeom prst="rect">
            <a:avLst/>
          </a:prstGeom>
          <a:noFill/>
        </p:spPr>
        <p:txBody>
          <a:bodyPr wrap="square" anchor="t">
            <a:normAutofit/>
          </a:bodyPr>
          <a:lstStyle/>
          <a:p>
            <a:pPr algn="ctr"/>
            <a:r>
              <a:rPr sz="850" b="0" i="0">
                <a:solidFill>
                  <a:srgbClr val="7A7A7A"/>
                </a:solidFill>
                <a:latin typeface="Arial"/>
              </a:rPr>
              <a:t>Q3 2026</a:t>
            </a:r>
          </a:p>
        </p:txBody>
      </p:sp>
      <p:sp>
        <p:nvSpPr>
          <p:cNvPr id="10" name="TextBox 9"/>
          <p:cNvSpPr txBox="1"/>
          <p:nvPr/>
        </p:nvSpPr>
        <p:spPr>
          <a:xfrm>
            <a:off x="4263390" y="1645920"/>
            <a:ext cx="1062990" cy="274320"/>
          </a:xfrm>
          <a:prstGeom prst="rect">
            <a:avLst/>
          </a:prstGeom>
          <a:noFill/>
        </p:spPr>
        <p:txBody>
          <a:bodyPr wrap="square" anchor="t">
            <a:normAutofit/>
          </a:bodyPr>
          <a:lstStyle/>
          <a:p>
            <a:pPr algn="ctr"/>
            <a:r>
              <a:rPr sz="850" b="0" i="0">
                <a:solidFill>
                  <a:srgbClr val="7A7A7A"/>
                </a:solidFill>
                <a:latin typeface="Arial"/>
              </a:rPr>
              <a:t>Q4 2026</a:t>
            </a:r>
          </a:p>
        </p:txBody>
      </p:sp>
      <p:sp>
        <p:nvSpPr>
          <p:cNvPr id="11" name="TextBox 10"/>
          <p:cNvSpPr txBox="1"/>
          <p:nvPr/>
        </p:nvSpPr>
        <p:spPr>
          <a:xfrm>
            <a:off x="5326380" y="1645920"/>
            <a:ext cx="1062990" cy="274320"/>
          </a:xfrm>
          <a:prstGeom prst="rect">
            <a:avLst/>
          </a:prstGeom>
          <a:noFill/>
        </p:spPr>
        <p:txBody>
          <a:bodyPr wrap="square" anchor="t">
            <a:normAutofit/>
          </a:bodyPr>
          <a:lstStyle/>
          <a:p>
            <a:pPr algn="ctr"/>
            <a:r>
              <a:rPr sz="850" b="0" i="0">
                <a:solidFill>
                  <a:srgbClr val="7A7A7A"/>
                </a:solidFill>
                <a:latin typeface="Arial"/>
              </a:rPr>
              <a:t>Q1 2027</a:t>
            </a:r>
          </a:p>
        </p:txBody>
      </p:sp>
      <p:sp>
        <p:nvSpPr>
          <p:cNvPr id="12" name="TextBox 11"/>
          <p:cNvSpPr txBox="1"/>
          <p:nvPr/>
        </p:nvSpPr>
        <p:spPr>
          <a:xfrm>
            <a:off x="6389370" y="1645920"/>
            <a:ext cx="1062990" cy="274320"/>
          </a:xfrm>
          <a:prstGeom prst="rect">
            <a:avLst/>
          </a:prstGeom>
          <a:noFill/>
        </p:spPr>
        <p:txBody>
          <a:bodyPr wrap="square" anchor="t">
            <a:normAutofit/>
          </a:bodyPr>
          <a:lstStyle/>
          <a:p>
            <a:pPr algn="ctr"/>
            <a:r>
              <a:rPr sz="850" b="0" i="0">
                <a:solidFill>
                  <a:srgbClr val="7A7A7A"/>
                </a:solidFill>
                <a:latin typeface="Arial"/>
              </a:rPr>
              <a:t>Q2 2027</a:t>
            </a:r>
          </a:p>
        </p:txBody>
      </p:sp>
      <p:sp>
        <p:nvSpPr>
          <p:cNvPr id="13" name="TextBox 12"/>
          <p:cNvSpPr txBox="1"/>
          <p:nvPr/>
        </p:nvSpPr>
        <p:spPr>
          <a:xfrm>
            <a:off x="7452360" y="1645920"/>
            <a:ext cx="1062990" cy="274320"/>
          </a:xfrm>
          <a:prstGeom prst="rect">
            <a:avLst/>
          </a:prstGeom>
          <a:noFill/>
        </p:spPr>
        <p:txBody>
          <a:bodyPr wrap="square" anchor="t">
            <a:normAutofit/>
          </a:bodyPr>
          <a:lstStyle/>
          <a:p>
            <a:pPr algn="ctr"/>
            <a:r>
              <a:rPr sz="850" b="0" i="0">
                <a:solidFill>
                  <a:srgbClr val="7A7A7A"/>
                </a:solidFill>
                <a:latin typeface="Arial"/>
              </a:rPr>
              <a:t>Q3 2027</a:t>
            </a:r>
          </a:p>
        </p:txBody>
      </p:sp>
      <p:sp>
        <p:nvSpPr>
          <p:cNvPr id="14" name="TextBox 13"/>
          <p:cNvSpPr txBox="1"/>
          <p:nvPr/>
        </p:nvSpPr>
        <p:spPr>
          <a:xfrm>
            <a:off x="8515350" y="1645920"/>
            <a:ext cx="1062990" cy="274320"/>
          </a:xfrm>
          <a:prstGeom prst="rect">
            <a:avLst/>
          </a:prstGeom>
          <a:noFill/>
        </p:spPr>
        <p:txBody>
          <a:bodyPr wrap="square" anchor="t">
            <a:normAutofit/>
          </a:bodyPr>
          <a:lstStyle/>
          <a:p>
            <a:pPr algn="ctr"/>
            <a:r>
              <a:rPr sz="850" b="0" i="0">
                <a:solidFill>
                  <a:srgbClr val="7A7A7A"/>
                </a:solidFill>
                <a:latin typeface="Arial"/>
              </a:rPr>
              <a:t>Q4 2027</a:t>
            </a:r>
          </a:p>
        </p:txBody>
      </p:sp>
      <p:sp>
        <p:nvSpPr>
          <p:cNvPr id="15" name="TextBox 14"/>
          <p:cNvSpPr txBox="1"/>
          <p:nvPr/>
        </p:nvSpPr>
        <p:spPr>
          <a:xfrm>
            <a:off x="9578340" y="1645920"/>
            <a:ext cx="1062990" cy="274320"/>
          </a:xfrm>
          <a:prstGeom prst="rect">
            <a:avLst/>
          </a:prstGeom>
          <a:noFill/>
        </p:spPr>
        <p:txBody>
          <a:bodyPr wrap="square" anchor="t">
            <a:normAutofit/>
          </a:bodyPr>
          <a:lstStyle/>
          <a:p>
            <a:pPr algn="ctr"/>
            <a:r>
              <a:rPr sz="850" b="0" i="0">
                <a:solidFill>
                  <a:srgbClr val="7A7A7A"/>
                </a:solidFill>
                <a:latin typeface="Arial"/>
              </a:rPr>
              <a:t>2028</a:t>
            </a:r>
          </a:p>
        </p:txBody>
      </p:sp>
      <p:sp>
        <p:nvSpPr>
          <p:cNvPr id="16" name="TextBox 15"/>
          <p:cNvSpPr txBox="1"/>
          <p:nvPr/>
        </p:nvSpPr>
        <p:spPr>
          <a:xfrm>
            <a:off x="10641330" y="1645920"/>
            <a:ext cx="1062990" cy="274320"/>
          </a:xfrm>
          <a:prstGeom prst="rect">
            <a:avLst/>
          </a:prstGeom>
          <a:noFill/>
        </p:spPr>
        <p:txBody>
          <a:bodyPr wrap="square" anchor="t">
            <a:normAutofit/>
          </a:bodyPr>
          <a:lstStyle/>
          <a:p>
            <a:pPr algn="ctr"/>
            <a:r>
              <a:rPr sz="850" b="0" i="0">
                <a:solidFill>
                  <a:srgbClr val="7A7A7A"/>
                </a:solidFill>
                <a:latin typeface="Arial"/>
              </a:rPr>
              <a:t>2029</a:t>
            </a:r>
          </a:p>
        </p:txBody>
      </p:sp>
      <p:sp>
        <p:nvSpPr>
          <p:cNvPr id="17" name="TextBox 16"/>
          <p:cNvSpPr txBox="1"/>
          <p:nvPr/>
        </p:nvSpPr>
        <p:spPr>
          <a:xfrm>
            <a:off x="411480" y="2011680"/>
            <a:ext cx="2743200" cy="411480"/>
          </a:xfrm>
          <a:prstGeom prst="rect">
            <a:avLst/>
          </a:prstGeom>
          <a:noFill/>
        </p:spPr>
        <p:txBody>
          <a:bodyPr wrap="square" anchor="t">
            <a:normAutofit/>
          </a:bodyPr>
          <a:lstStyle/>
          <a:p>
            <a:pPr algn="l"/>
            <a:r>
              <a:rPr sz="900" b="0" i="0">
                <a:solidFill>
                  <a:srgbClr val="1C1C1C"/>
                </a:solidFill>
                <a:latin typeface="Arial"/>
              </a:rPr>
              <a:t>NDA · mandate · award Phase 0</a:t>
            </a:r>
          </a:p>
        </p:txBody>
      </p:sp>
      <p:sp>
        <p:nvSpPr>
          <p:cNvPr id="18" name="Rounded Rectangle 17"/>
          <p:cNvSpPr/>
          <p:nvPr/>
        </p:nvSpPr>
        <p:spPr>
          <a:xfrm>
            <a:off x="3200400" y="2039112"/>
            <a:ext cx="637794" cy="274320"/>
          </a:xfrm>
          <a:prstGeom prst="roundRect">
            <a:avLst/>
          </a:prstGeom>
          <a:solidFill>
            <a:srgbClr val="C3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11480" y="2468880"/>
            <a:ext cx="2743200" cy="411480"/>
          </a:xfrm>
          <a:prstGeom prst="rect">
            <a:avLst/>
          </a:prstGeom>
          <a:noFill/>
        </p:spPr>
        <p:txBody>
          <a:bodyPr wrap="square" anchor="t">
            <a:normAutofit/>
          </a:bodyPr>
          <a:lstStyle/>
          <a:p>
            <a:pPr algn="l"/>
            <a:r>
              <a:rPr sz="900" b="0" i="0">
                <a:solidFill>
                  <a:srgbClr val="1C1C1C"/>
                </a:solidFill>
                <a:latin typeface="Arial"/>
              </a:rPr>
              <a:t>Phase 0 — preparatory → project plan</a:t>
            </a:r>
          </a:p>
        </p:txBody>
      </p:sp>
      <p:sp>
        <p:nvSpPr>
          <p:cNvPr id="20" name="Rounded Rectangle 19"/>
          <p:cNvSpPr/>
          <p:nvPr/>
        </p:nvSpPr>
        <p:spPr>
          <a:xfrm>
            <a:off x="3466147" y="2496312"/>
            <a:ext cx="1062990" cy="274320"/>
          </a:xfrm>
          <a:prstGeom prst="round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11480" y="2926080"/>
            <a:ext cx="2743200" cy="411480"/>
          </a:xfrm>
          <a:prstGeom prst="rect">
            <a:avLst/>
          </a:prstGeom>
          <a:noFill/>
        </p:spPr>
        <p:txBody>
          <a:bodyPr wrap="square" anchor="t">
            <a:normAutofit/>
          </a:bodyPr>
          <a:lstStyle/>
          <a:p>
            <a:pPr algn="l"/>
            <a:r>
              <a:rPr sz="900" b="0" i="0">
                <a:solidFill>
                  <a:srgbClr val="1C1C1C"/>
                </a:solidFill>
                <a:latin typeface="Arial"/>
              </a:rPr>
              <a:t>Scenario decision (M3E + C&amp;W)</a:t>
            </a:r>
          </a:p>
        </p:txBody>
      </p:sp>
      <p:sp>
        <p:nvSpPr>
          <p:cNvPr id="22" name="Rounded Rectangle 21"/>
          <p:cNvSpPr/>
          <p:nvPr/>
        </p:nvSpPr>
        <p:spPr>
          <a:xfrm>
            <a:off x="4688586" y="2953512"/>
            <a:ext cx="425196" cy="274320"/>
          </a:xfrm>
          <a:prstGeom prst="roundRect">
            <a:avLst/>
          </a:prstGeom>
          <a:solidFill>
            <a:srgbClr val="C3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11480" y="3383280"/>
            <a:ext cx="2743200" cy="411480"/>
          </a:xfrm>
          <a:prstGeom prst="rect">
            <a:avLst/>
          </a:prstGeom>
          <a:noFill/>
        </p:spPr>
        <p:txBody>
          <a:bodyPr wrap="square" anchor="t">
            <a:normAutofit/>
          </a:bodyPr>
          <a:lstStyle/>
          <a:p>
            <a:pPr algn="l"/>
            <a:r>
              <a:rPr sz="900" b="0" i="0">
                <a:solidFill>
                  <a:srgbClr val="1C1C1C"/>
                </a:solidFill>
                <a:latin typeface="Arial"/>
              </a:rPr>
              <a:t>Technical design guided to fixed scope</a:t>
            </a:r>
          </a:p>
        </p:txBody>
      </p:sp>
      <p:sp>
        <p:nvSpPr>
          <p:cNvPr id="24" name="Rounded Rectangle 23"/>
          <p:cNvSpPr/>
          <p:nvPr/>
        </p:nvSpPr>
        <p:spPr>
          <a:xfrm>
            <a:off x="4263390" y="3410712"/>
            <a:ext cx="1700784" cy="274320"/>
          </a:xfrm>
          <a:prstGeom prst="round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11480" y="3840480"/>
            <a:ext cx="2743200" cy="411480"/>
          </a:xfrm>
          <a:prstGeom prst="rect">
            <a:avLst/>
          </a:prstGeom>
          <a:noFill/>
        </p:spPr>
        <p:txBody>
          <a:bodyPr wrap="square" anchor="t">
            <a:normAutofit/>
          </a:bodyPr>
          <a:lstStyle/>
          <a:p>
            <a:pPr algn="l"/>
            <a:r>
              <a:rPr sz="900" b="0" i="0">
                <a:solidFill>
                  <a:srgbClr val="1C1C1C"/>
                </a:solidFill>
                <a:latin typeface="Arial"/>
              </a:rPr>
              <a:t>Tender &amp; contractor selection</a:t>
            </a:r>
          </a:p>
        </p:txBody>
      </p:sp>
      <p:sp>
        <p:nvSpPr>
          <p:cNvPr id="26" name="Rounded Rectangle 25"/>
          <p:cNvSpPr/>
          <p:nvPr/>
        </p:nvSpPr>
        <p:spPr>
          <a:xfrm>
            <a:off x="5538978" y="3867912"/>
            <a:ext cx="1700784" cy="274320"/>
          </a:xfrm>
          <a:prstGeom prst="round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11480" y="4297680"/>
            <a:ext cx="2743200" cy="411480"/>
          </a:xfrm>
          <a:prstGeom prst="rect">
            <a:avLst/>
          </a:prstGeom>
          <a:noFill/>
        </p:spPr>
        <p:txBody>
          <a:bodyPr wrap="square" anchor="t">
            <a:normAutofit/>
          </a:bodyPr>
          <a:lstStyle/>
          <a:p>
            <a:pPr algn="l"/>
            <a:r>
              <a:rPr sz="900" b="0" i="0">
                <a:solidFill>
                  <a:srgbClr val="1C1C1C"/>
                </a:solidFill>
                <a:latin typeface="Arial"/>
              </a:rPr>
              <a:t>Contracting</a:t>
            </a:r>
          </a:p>
        </p:txBody>
      </p:sp>
      <p:sp>
        <p:nvSpPr>
          <p:cNvPr id="28" name="Rounded Rectangle 27"/>
          <p:cNvSpPr/>
          <p:nvPr/>
        </p:nvSpPr>
        <p:spPr>
          <a:xfrm>
            <a:off x="7027164" y="4325112"/>
            <a:ext cx="425196" cy="274320"/>
          </a:xfrm>
          <a:prstGeom prst="roundRect">
            <a:avLst/>
          </a:prstGeom>
          <a:solidFill>
            <a:srgbClr val="C3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11480" y="4754880"/>
            <a:ext cx="2743200" cy="411480"/>
          </a:xfrm>
          <a:prstGeom prst="rect">
            <a:avLst/>
          </a:prstGeom>
          <a:noFill/>
        </p:spPr>
        <p:txBody>
          <a:bodyPr wrap="square" anchor="t">
            <a:normAutofit/>
          </a:bodyPr>
          <a:lstStyle/>
          <a:p>
            <a:pPr algn="l"/>
            <a:r>
              <a:rPr sz="900" b="0" i="0">
                <a:solidFill>
                  <a:srgbClr val="1C1C1C"/>
                </a:solidFill>
                <a:latin typeface="Arial"/>
              </a:rPr>
              <a:t>Execution — floor-by-floor (PM + inspections)</a:t>
            </a:r>
          </a:p>
        </p:txBody>
      </p:sp>
      <p:sp>
        <p:nvSpPr>
          <p:cNvPr id="30" name="Rounded Rectangle 29"/>
          <p:cNvSpPr/>
          <p:nvPr/>
        </p:nvSpPr>
        <p:spPr>
          <a:xfrm>
            <a:off x="7346061" y="4782312"/>
            <a:ext cx="3614166" cy="274320"/>
          </a:xfrm>
          <a:prstGeom prst="round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11480" y="5212080"/>
            <a:ext cx="2743200" cy="411480"/>
          </a:xfrm>
          <a:prstGeom prst="rect">
            <a:avLst/>
          </a:prstGeom>
          <a:noFill/>
        </p:spPr>
        <p:txBody>
          <a:bodyPr wrap="square" anchor="t">
            <a:normAutofit/>
          </a:bodyPr>
          <a:lstStyle/>
          <a:p>
            <a:pPr algn="l"/>
            <a:r>
              <a:rPr sz="900" b="0" i="0">
                <a:solidFill>
                  <a:srgbClr val="1C1C1C"/>
                </a:solidFill>
                <a:latin typeface="Arial"/>
              </a:rPr>
              <a:t>Commissioning &amp; Paris Proof handover</a:t>
            </a:r>
          </a:p>
        </p:txBody>
      </p:sp>
      <p:sp>
        <p:nvSpPr>
          <p:cNvPr id="32" name="Rounded Rectangle 31"/>
          <p:cNvSpPr/>
          <p:nvPr/>
        </p:nvSpPr>
        <p:spPr>
          <a:xfrm>
            <a:off x="10747629" y="5239512"/>
            <a:ext cx="744093" cy="274320"/>
          </a:xfrm>
          <a:prstGeom prst="roundRect">
            <a:avLst/>
          </a:prstGeom>
          <a:solidFill>
            <a:srgbClr val="C3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11480" y="5669280"/>
            <a:ext cx="2743200" cy="411480"/>
          </a:xfrm>
          <a:prstGeom prst="rect">
            <a:avLst/>
          </a:prstGeom>
          <a:noFill/>
        </p:spPr>
        <p:txBody>
          <a:bodyPr wrap="square" anchor="t">
            <a:normAutofit/>
          </a:bodyPr>
          <a:lstStyle/>
          <a:p>
            <a:pPr algn="l"/>
            <a:r>
              <a:rPr sz="900" b="0" i="0">
                <a:solidFill>
                  <a:srgbClr val="1C1C1C"/>
                </a:solidFill>
                <a:latin typeface="Arial"/>
              </a:rPr>
              <a:t>Aftercare &amp; fine-tuning</a:t>
            </a:r>
          </a:p>
        </p:txBody>
      </p:sp>
      <p:sp>
        <p:nvSpPr>
          <p:cNvPr id="34" name="Rounded Rectangle 33"/>
          <p:cNvSpPr/>
          <p:nvPr/>
        </p:nvSpPr>
        <p:spPr>
          <a:xfrm>
            <a:off x="11279124" y="5696712"/>
            <a:ext cx="425196" cy="274320"/>
          </a:xfrm>
          <a:prstGeom prst="round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411480" y="5989320"/>
            <a:ext cx="4114800" cy="411480"/>
          </a:xfrm>
          <a:prstGeom prst="rect">
            <a:avLst/>
          </a:prstGeom>
          <a:solidFill>
            <a:srgbClr val="F3F3F3"/>
          </a:solidFill>
          <a:ln w="6350">
            <a:solidFill>
              <a:srgbClr val="E2E2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502920" y="6053328"/>
            <a:ext cx="3931920" cy="320040"/>
          </a:xfrm>
          <a:prstGeom prst="rect">
            <a:avLst/>
          </a:prstGeom>
          <a:noFill/>
        </p:spPr>
        <p:txBody>
          <a:bodyPr wrap="square" anchor="t">
            <a:normAutofit/>
          </a:bodyPr>
          <a:lstStyle/>
          <a:p>
            <a:pPr algn="l"/>
            <a:r>
              <a:rPr sz="900" b="0" i="0">
                <a:solidFill>
                  <a:srgbClr val="1C1C1C"/>
                </a:solidFill>
                <a:latin typeface="Arial"/>
              </a:rPr>
              <a:t>■ red = decision / milestone owned by C&amp;W</a:t>
            </a:r>
          </a:p>
        </p:txBody>
      </p:sp>
      <p:sp>
        <p:nvSpPr>
          <p:cNvPr id="37" name="TextBox 36"/>
          <p:cNvSpPr txBox="1"/>
          <p:nvPr/>
        </p:nvSpPr>
        <p:spPr>
          <a:xfrm>
            <a:off x="4754880" y="6053328"/>
            <a:ext cx="6858000" cy="274320"/>
          </a:xfrm>
          <a:prstGeom prst="rect">
            <a:avLst/>
          </a:prstGeom>
          <a:noFill/>
        </p:spPr>
        <p:txBody>
          <a:bodyPr wrap="square" anchor="t">
            <a:normAutofit/>
          </a:bodyPr>
          <a:lstStyle/>
          <a:p>
            <a:pPr algn="l"/>
            <a:r>
              <a:rPr sz="800" b="0" i="1">
                <a:solidFill>
                  <a:srgbClr val="7A7A7A"/>
                </a:solidFill>
                <a:latin typeface="Arial"/>
              </a:rPr>
              <a:t>indicatief — te valideren met M3E-ontwerpplanning, Paris Proof-deadline en Corum–PwC afspraken</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4592" cy="6858000"/>
          </a:xfrm>
          <a:prstGeom prst="rect">
            <a:avLst/>
          </a:prstGeom>
          <a:solidFill>
            <a:srgbClr val="C3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219456"/>
            <a:ext cx="10058400" cy="274320"/>
          </a:xfrm>
          <a:prstGeom prst="rect">
            <a:avLst/>
          </a:prstGeom>
          <a:noFill/>
        </p:spPr>
        <p:txBody>
          <a:bodyPr wrap="square" anchor="t">
            <a:normAutofit/>
          </a:bodyPr>
          <a:lstStyle/>
          <a:p>
            <a:pPr algn="l"/>
            <a:r>
              <a:rPr sz="1000" b="1" i="0">
                <a:solidFill>
                  <a:srgbClr val="C3002B"/>
                </a:solidFill>
                <a:latin typeface="Arial"/>
              </a:rPr>
              <a:t>04 — HOW WE STAY IN CONTROL  ·  ORGANISATION</a:t>
            </a:r>
          </a:p>
        </p:txBody>
      </p:sp>
      <p:sp>
        <p:nvSpPr>
          <p:cNvPr id="4" name="TextBox 3"/>
          <p:cNvSpPr txBox="1"/>
          <p:nvPr/>
        </p:nvSpPr>
        <p:spPr>
          <a:xfrm>
            <a:off x="411480" y="457200"/>
            <a:ext cx="11155680" cy="868680"/>
          </a:xfrm>
          <a:prstGeom prst="rect">
            <a:avLst/>
          </a:prstGeom>
          <a:noFill/>
        </p:spPr>
        <p:txBody>
          <a:bodyPr wrap="square" anchor="t">
            <a:normAutofit/>
          </a:bodyPr>
          <a:lstStyle/>
          <a:p>
            <a:pPr algn="l"/>
            <a:r>
              <a:rPr sz="2300" b="1" i="0">
                <a:solidFill>
                  <a:srgbClr val="1C1C1C"/>
                </a:solidFill>
                <a:latin typeface="Arial"/>
              </a:rPr>
              <a:t>Two project managers cover both sides of this project:</a:t>
            </a:r>
          </a:p>
          <a:p>
            <a:pPr algn="l"/>
            <a:r>
              <a:rPr sz="2300" b="1" i="0">
                <a:solidFill>
                  <a:srgbClr val="1C1C1C"/>
                </a:solidFill>
                <a:latin typeface="Arial"/>
              </a:rPr>
              <a:t>the diplomatic and the technical</a:t>
            </a:r>
          </a:p>
        </p:txBody>
      </p:sp>
      <p:sp>
        <p:nvSpPr>
          <p:cNvPr id="5" name="TextBox 4"/>
          <p:cNvSpPr txBox="1"/>
          <p:nvPr/>
        </p:nvSpPr>
        <p:spPr>
          <a:xfrm>
            <a:off x="411480" y="6446520"/>
            <a:ext cx="5486400" cy="274320"/>
          </a:xfrm>
          <a:prstGeom prst="rect">
            <a:avLst/>
          </a:prstGeom>
          <a:noFill/>
        </p:spPr>
        <p:txBody>
          <a:bodyPr wrap="square" anchor="t">
            <a:normAutofit/>
          </a:bodyPr>
          <a:lstStyle/>
          <a:p>
            <a:pPr algn="l"/>
            <a:r>
              <a:rPr sz="800" b="0" i="0">
                <a:solidFill>
                  <a:srgbClr val="7A7A7A"/>
                </a:solidFill>
                <a:latin typeface="Arial"/>
              </a:rPr>
              <a:t>CUSHMAN &amp; WAKEFIELD  |  CORUM A.M.  ·  WESTGATE I</a:t>
            </a:r>
          </a:p>
        </p:txBody>
      </p:sp>
      <p:sp>
        <p:nvSpPr>
          <p:cNvPr id="6" name="TextBox 5"/>
          <p:cNvSpPr txBox="1"/>
          <p:nvPr/>
        </p:nvSpPr>
        <p:spPr>
          <a:xfrm>
            <a:off x="11475720" y="6446520"/>
            <a:ext cx="502920" cy="274320"/>
          </a:xfrm>
          <a:prstGeom prst="rect">
            <a:avLst/>
          </a:prstGeom>
          <a:noFill/>
        </p:spPr>
        <p:txBody>
          <a:bodyPr wrap="square" anchor="t">
            <a:normAutofit/>
          </a:bodyPr>
          <a:lstStyle/>
          <a:p>
            <a:pPr algn="r"/>
            <a:r>
              <a:rPr sz="1000" b="0" i="0">
                <a:solidFill>
                  <a:srgbClr val="7A7A7A"/>
                </a:solidFill>
                <a:latin typeface="Arial"/>
              </a:rPr>
              <a:t>16</a:t>
            </a:r>
          </a:p>
        </p:txBody>
      </p:sp>
      <p:sp>
        <p:nvSpPr>
          <p:cNvPr id="7" name="Rounded Rectangle 6"/>
          <p:cNvSpPr/>
          <p:nvPr/>
        </p:nvSpPr>
        <p:spPr>
          <a:xfrm>
            <a:off x="7726679" y="6419088"/>
            <a:ext cx="3657600" cy="292608"/>
          </a:xfrm>
          <a:prstGeom prst="roundRect">
            <a:avLst/>
          </a:prstGeom>
          <a:solidFill>
            <a:srgbClr val="C3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26679" y="6455664"/>
            <a:ext cx="3657600" cy="237744"/>
          </a:xfrm>
          <a:prstGeom prst="rect">
            <a:avLst/>
          </a:prstGeom>
          <a:noFill/>
        </p:spPr>
        <p:txBody>
          <a:bodyPr wrap="square" anchor="t">
            <a:normAutofit/>
          </a:bodyPr>
          <a:lstStyle/>
          <a:p>
            <a:pPr algn="ctr"/>
            <a:r>
              <a:rPr sz="800" b="1" i="0">
                <a:solidFill>
                  <a:srgbClr val="FFFFFF"/>
                </a:solidFill>
                <a:latin typeface="Arial"/>
              </a:rPr>
              <a:t>CORUM DECIDES  ·  C&amp;W DELIVERS  ·  PwC ALIGNED</a:t>
            </a:r>
          </a:p>
        </p:txBody>
      </p:sp>
      <p:sp>
        <p:nvSpPr>
          <p:cNvPr id="9" name="Rectangle 8"/>
          <p:cNvSpPr/>
          <p:nvPr/>
        </p:nvSpPr>
        <p:spPr>
          <a:xfrm>
            <a:off x="4754880" y="1691640"/>
            <a:ext cx="2651760" cy="640080"/>
          </a:xfrm>
          <a:prstGeom prst="rect">
            <a:avLst/>
          </a:prstGeom>
          <a:solidFill>
            <a:srgbClr val="FFFFFF"/>
          </a:solidFill>
          <a:ln w="9525">
            <a:solidFill>
              <a:srgbClr val="7A7A7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754880" y="1783080"/>
            <a:ext cx="2651760" cy="502920"/>
          </a:xfrm>
          <a:prstGeom prst="rect">
            <a:avLst/>
          </a:prstGeom>
          <a:noFill/>
        </p:spPr>
        <p:txBody>
          <a:bodyPr wrap="square" anchor="ctr">
            <a:normAutofit/>
          </a:bodyPr>
          <a:lstStyle/>
          <a:p>
            <a:pPr algn="ctr"/>
            <a:r>
              <a:rPr sz="1000" b="1" i="0">
                <a:solidFill>
                  <a:srgbClr val="1C1C1C"/>
                </a:solidFill>
                <a:latin typeface="Arial"/>
              </a:rPr>
              <a:t>CORUM A.M.</a:t>
            </a:r>
          </a:p>
          <a:p>
            <a:pPr algn="ctr"/>
            <a:r>
              <a:rPr sz="1000" b="1" i="0">
                <a:solidFill>
                  <a:srgbClr val="1C1C1C"/>
                </a:solidFill>
                <a:latin typeface="Arial"/>
              </a:rPr>
              <a:t>Client / Owner — decides</a:t>
            </a:r>
          </a:p>
        </p:txBody>
      </p:sp>
      <p:sp>
        <p:nvSpPr>
          <p:cNvPr id="11" name="Rectangle 10"/>
          <p:cNvSpPr/>
          <p:nvPr/>
        </p:nvSpPr>
        <p:spPr>
          <a:xfrm>
            <a:off x="8595360" y="1691640"/>
            <a:ext cx="2743200" cy="640080"/>
          </a:xfrm>
          <a:prstGeom prst="rect">
            <a:avLst/>
          </a:prstGeom>
          <a:solidFill>
            <a:srgbClr val="FFFFFF"/>
          </a:solidFill>
          <a:ln w="9525">
            <a:solidFill>
              <a:srgbClr val="7A7A7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595360" y="1783080"/>
            <a:ext cx="2743200" cy="502920"/>
          </a:xfrm>
          <a:prstGeom prst="rect">
            <a:avLst/>
          </a:prstGeom>
          <a:noFill/>
        </p:spPr>
        <p:txBody>
          <a:bodyPr wrap="square" anchor="ctr">
            <a:normAutofit/>
          </a:bodyPr>
          <a:lstStyle/>
          <a:p>
            <a:pPr algn="ctr"/>
            <a:r>
              <a:rPr sz="1000" b="1" i="0">
                <a:solidFill>
                  <a:srgbClr val="1C1C1C"/>
                </a:solidFill>
                <a:latin typeface="Arial"/>
              </a:rPr>
              <a:t>PwC</a:t>
            </a:r>
          </a:p>
          <a:p>
            <a:pPr algn="ctr"/>
            <a:r>
              <a:rPr sz="1000" b="1" i="0">
                <a:solidFill>
                  <a:srgbClr val="1C1C1C"/>
                </a:solidFill>
                <a:latin typeface="Arial"/>
              </a:rPr>
              <a:t>Tenant — kept operational &amp; involved</a:t>
            </a:r>
          </a:p>
        </p:txBody>
      </p:sp>
      <p:sp>
        <p:nvSpPr>
          <p:cNvPr id="13" name="Rectangle 12"/>
          <p:cNvSpPr/>
          <p:nvPr/>
        </p:nvSpPr>
        <p:spPr>
          <a:xfrm>
            <a:off x="3063240" y="2743200"/>
            <a:ext cx="2834640" cy="1005840"/>
          </a:xfrm>
          <a:prstGeom prst="rect">
            <a:avLst/>
          </a:prstGeom>
          <a:solidFill>
            <a:srgbClr val="C3002B"/>
          </a:solidFill>
          <a:ln w="9525">
            <a:solidFill>
              <a:srgbClr val="C300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063240" y="2834640"/>
            <a:ext cx="2834640" cy="868680"/>
          </a:xfrm>
          <a:prstGeom prst="rect">
            <a:avLst/>
          </a:prstGeom>
          <a:noFill/>
        </p:spPr>
        <p:txBody>
          <a:bodyPr wrap="square" anchor="ctr">
            <a:normAutofit/>
          </a:bodyPr>
          <a:lstStyle/>
          <a:p>
            <a:pPr algn="ctr"/>
            <a:r>
              <a:rPr sz="1000" b="1" i="0">
                <a:solidFill>
                  <a:srgbClr val="FFFFFF"/>
                </a:solidFill>
                <a:latin typeface="Arial"/>
              </a:rPr>
              <a:t>STAKEHOLDER MANAGEMENT PM</a:t>
            </a:r>
          </a:p>
          <a:p>
            <a:pPr algn="ctr"/>
            <a:r>
              <a:rPr sz="1000" b="1" i="0">
                <a:solidFill>
                  <a:srgbClr val="FFFFFF"/>
                </a:solidFill>
                <a:latin typeface="Arial"/>
              </a:rPr>
              <a:t>Owns the PwC relationship:</a:t>
            </a:r>
          </a:p>
          <a:p>
            <a:pPr algn="ctr"/>
            <a:r>
              <a:rPr sz="1000" b="1" i="0">
                <a:solidFill>
                  <a:srgbClr val="FFFFFF"/>
                </a:solidFill>
                <a:latin typeface="Arial"/>
              </a:rPr>
              <a:t>communication · expectations · decisions</a:t>
            </a:r>
          </a:p>
        </p:txBody>
      </p:sp>
      <p:sp>
        <p:nvSpPr>
          <p:cNvPr id="15" name="Rectangle 14"/>
          <p:cNvSpPr/>
          <p:nvPr/>
        </p:nvSpPr>
        <p:spPr>
          <a:xfrm>
            <a:off x="6263640" y="2743200"/>
            <a:ext cx="2834640" cy="1005840"/>
          </a:xfrm>
          <a:prstGeom prst="rect">
            <a:avLst/>
          </a:prstGeom>
          <a:solidFill>
            <a:srgbClr val="C3002B"/>
          </a:solidFill>
          <a:ln w="9525">
            <a:solidFill>
              <a:srgbClr val="C300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63640" y="2834640"/>
            <a:ext cx="2834640" cy="868680"/>
          </a:xfrm>
          <a:prstGeom prst="rect">
            <a:avLst/>
          </a:prstGeom>
          <a:noFill/>
        </p:spPr>
        <p:txBody>
          <a:bodyPr wrap="square" anchor="ctr">
            <a:normAutofit/>
          </a:bodyPr>
          <a:lstStyle/>
          <a:p>
            <a:pPr algn="ctr"/>
            <a:r>
              <a:rPr sz="1000" b="1" i="0">
                <a:solidFill>
                  <a:srgbClr val="FFFFFF"/>
                </a:solidFill>
                <a:latin typeface="Arial"/>
              </a:rPr>
              <a:t>TECHNICAL PM</a:t>
            </a:r>
          </a:p>
          <a:p>
            <a:pPr algn="ctr"/>
            <a:r>
              <a:rPr sz="1000" b="1" i="0">
                <a:solidFill>
                  <a:srgbClr val="FFFFFF"/>
                </a:solidFill>
                <a:latin typeface="Arial"/>
              </a:rPr>
              <a:t>Owns the works:</a:t>
            </a:r>
          </a:p>
          <a:p>
            <a:pPr algn="ctr"/>
            <a:r>
              <a:rPr sz="1000" b="1" i="0">
                <a:solidFill>
                  <a:srgbClr val="FFFFFF"/>
                </a:solidFill>
                <a:latin typeface="Arial"/>
              </a:rPr>
              <a:t>technical coordination · site management ·</a:t>
            </a:r>
          </a:p>
          <a:p>
            <a:pPr algn="ctr"/>
            <a:r>
              <a:rPr sz="1000" b="1" i="0">
                <a:solidFill>
                  <a:srgbClr val="FFFFFF"/>
                </a:solidFill>
                <a:latin typeface="Arial"/>
              </a:rPr>
              <a:t>M3E alignment · tender &amp; execution</a:t>
            </a:r>
          </a:p>
        </p:txBody>
      </p:sp>
      <p:sp>
        <p:nvSpPr>
          <p:cNvPr id="17" name="Rectangle 16"/>
          <p:cNvSpPr/>
          <p:nvPr/>
        </p:nvSpPr>
        <p:spPr>
          <a:xfrm>
            <a:off x="3063240" y="4297680"/>
            <a:ext cx="2834640" cy="731520"/>
          </a:xfrm>
          <a:prstGeom prst="rect">
            <a:avLst/>
          </a:prstGeom>
          <a:solidFill>
            <a:srgbClr val="FFFFFF"/>
          </a:solidFill>
          <a:ln w="9525">
            <a:solidFill>
              <a:srgbClr val="7A7A7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063240" y="4389120"/>
            <a:ext cx="2834640" cy="594360"/>
          </a:xfrm>
          <a:prstGeom prst="rect">
            <a:avLst/>
          </a:prstGeom>
          <a:noFill/>
        </p:spPr>
        <p:txBody>
          <a:bodyPr wrap="square" anchor="ctr">
            <a:normAutofit/>
          </a:bodyPr>
          <a:lstStyle/>
          <a:p>
            <a:pPr algn="ctr"/>
            <a:r>
              <a:rPr sz="1000" b="1" i="0">
                <a:solidFill>
                  <a:srgbClr val="1C1C1C"/>
                </a:solidFill>
                <a:latin typeface="Arial"/>
              </a:rPr>
              <a:t>M3E</a:t>
            </a:r>
          </a:p>
          <a:p>
            <a:pPr algn="ctr"/>
            <a:r>
              <a:rPr sz="1000" b="1" i="0">
                <a:solidFill>
                  <a:srgbClr val="1C1C1C"/>
                </a:solidFill>
                <a:latin typeface="Arial"/>
              </a:rPr>
              <a:t>Technical advisor / installation design</a:t>
            </a:r>
          </a:p>
        </p:txBody>
      </p:sp>
      <p:sp>
        <p:nvSpPr>
          <p:cNvPr id="19" name="Rectangle 18"/>
          <p:cNvSpPr/>
          <p:nvPr/>
        </p:nvSpPr>
        <p:spPr>
          <a:xfrm>
            <a:off x="6263640" y="4297680"/>
            <a:ext cx="2834640" cy="731520"/>
          </a:xfrm>
          <a:prstGeom prst="rect">
            <a:avLst/>
          </a:prstGeom>
          <a:solidFill>
            <a:srgbClr val="FFFFFF"/>
          </a:solidFill>
          <a:ln w="9525">
            <a:solidFill>
              <a:srgbClr val="7A7A7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63640" y="4389120"/>
            <a:ext cx="2834640" cy="594360"/>
          </a:xfrm>
          <a:prstGeom prst="rect">
            <a:avLst/>
          </a:prstGeom>
          <a:noFill/>
        </p:spPr>
        <p:txBody>
          <a:bodyPr wrap="square" anchor="ctr">
            <a:normAutofit/>
          </a:bodyPr>
          <a:lstStyle/>
          <a:p>
            <a:pPr algn="ctr"/>
            <a:r>
              <a:rPr sz="1000" b="1" i="0">
                <a:solidFill>
                  <a:srgbClr val="1C1C1C"/>
                </a:solidFill>
                <a:latin typeface="Arial"/>
              </a:rPr>
              <a:t>CONTRACTOR</a:t>
            </a:r>
          </a:p>
          <a:p>
            <a:pPr algn="ctr"/>
            <a:r>
              <a:rPr sz="1000" b="1" i="0">
                <a:solidFill>
                  <a:srgbClr val="1C1C1C"/>
                </a:solidFill>
                <a:latin typeface="Arial"/>
              </a:rPr>
              <a:t>Selected &amp; managed via tender</a:t>
            </a:r>
          </a:p>
        </p:txBody>
      </p:sp>
      <p:sp>
        <p:nvSpPr>
          <p:cNvPr id="21" name="Rectangle 20"/>
          <p:cNvSpPr/>
          <p:nvPr/>
        </p:nvSpPr>
        <p:spPr>
          <a:xfrm>
            <a:off x="411480" y="5532120"/>
            <a:ext cx="11338560" cy="822960"/>
          </a:xfrm>
          <a:prstGeom prst="rect">
            <a:avLst/>
          </a:prstGeom>
          <a:solidFill>
            <a:srgbClr val="F3F3F3"/>
          </a:solidFill>
          <a:ln w="6350">
            <a:solidFill>
              <a:srgbClr val="E2E2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94360" y="5650992"/>
            <a:ext cx="10972800" cy="640080"/>
          </a:xfrm>
          <a:prstGeom prst="rect">
            <a:avLst/>
          </a:prstGeom>
          <a:noFill/>
        </p:spPr>
        <p:txBody>
          <a:bodyPr wrap="square" anchor="t">
            <a:normAutofit/>
          </a:bodyPr>
          <a:lstStyle/>
          <a:p>
            <a:pPr algn="l"/>
            <a:r>
              <a:rPr sz="1150" b="1" i="0">
                <a:solidFill>
                  <a:srgbClr val="1C1C1C"/>
                </a:solidFill>
                <a:latin typeface="Arial"/>
              </a:rPr>
              <a:t>One PM guards the relationship and the tenant experience; one guards the technique and the site. Together they are your single point of control — nothing falls between the diplomatic and the technical.</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4592" cy="6858000"/>
          </a:xfrm>
          <a:prstGeom prst="rect">
            <a:avLst/>
          </a:prstGeom>
          <a:solidFill>
            <a:srgbClr val="C3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219456"/>
            <a:ext cx="10058400" cy="274320"/>
          </a:xfrm>
          <a:prstGeom prst="rect">
            <a:avLst/>
          </a:prstGeom>
          <a:noFill/>
        </p:spPr>
        <p:txBody>
          <a:bodyPr wrap="square" anchor="t">
            <a:normAutofit/>
          </a:bodyPr>
          <a:lstStyle/>
          <a:p>
            <a:pPr algn="l"/>
            <a:r>
              <a:rPr sz="1000" b="1" i="0">
                <a:solidFill>
                  <a:srgbClr val="C3002B"/>
                </a:solidFill>
                <a:latin typeface="Arial"/>
              </a:rPr>
              <a:t>04 — HOW WE STAY IN CONTROL  ·  GOVERNANCE</a:t>
            </a:r>
          </a:p>
        </p:txBody>
      </p:sp>
      <p:sp>
        <p:nvSpPr>
          <p:cNvPr id="4" name="TextBox 3"/>
          <p:cNvSpPr txBox="1"/>
          <p:nvPr/>
        </p:nvSpPr>
        <p:spPr>
          <a:xfrm>
            <a:off x="411480" y="457200"/>
            <a:ext cx="11155680" cy="868680"/>
          </a:xfrm>
          <a:prstGeom prst="rect">
            <a:avLst/>
          </a:prstGeom>
          <a:noFill/>
        </p:spPr>
        <p:txBody>
          <a:bodyPr wrap="square" anchor="t">
            <a:normAutofit/>
          </a:bodyPr>
          <a:lstStyle/>
          <a:p>
            <a:pPr algn="l"/>
            <a:r>
              <a:rPr sz="2300" b="1" i="0">
                <a:solidFill>
                  <a:srgbClr val="1C1C1C"/>
                </a:solidFill>
                <a:latin typeface="Arial"/>
              </a:rPr>
              <a:t>Clear decision rights: you decide the big calls, we run</a:t>
            </a:r>
          </a:p>
          <a:p>
            <a:pPr algn="l"/>
            <a:r>
              <a:rPr sz="2300" b="1" i="0">
                <a:solidFill>
                  <a:srgbClr val="1C1C1C"/>
                </a:solidFill>
                <a:latin typeface="Arial"/>
              </a:rPr>
              <a:t>everything around them</a:t>
            </a:r>
          </a:p>
        </p:txBody>
      </p:sp>
      <p:sp>
        <p:nvSpPr>
          <p:cNvPr id="5" name="TextBox 4"/>
          <p:cNvSpPr txBox="1"/>
          <p:nvPr/>
        </p:nvSpPr>
        <p:spPr>
          <a:xfrm>
            <a:off x="411480" y="6446520"/>
            <a:ext cx="5486400" cy="274320"/>
          </a:xfrm>
          <a:prstGeom prst="rect">
            <a:avLst/>
          </a:prstGeom>
          <a:noFill/>
        </p:spPr>
        <p:txBody>
          <a:bodyPr wrap="square" anchor="t">
            <a:normAutofit/>
          </a:bodyPr>
          <a:lstStyle/>
          <a:p>
            <a:pPr algn="l"/>
            <a:r>
              <a:rPr sz="800" b="0" i="0">
                <a:solidFill>
                  <a:srgbClr val="7A7A7A"/>
                </a:solidFill>
                <a:latin typeface="Arial"/>
              </a:rPr>
              <a:t>CUSHMAN &amp; WAKEFIELD  |  CORUM A.M.  ·  WESTGATE I</a:t>
            </a:r>
          </a:p>
        </p:txBody>
      </p:sp>
      <p:sp>
        <p:nvSpPr>
          <p:cNvPr id="6" name="TextBox 5"/>
          <p:cNvSpPr txBox="1"/>
          <p:nvPr/>
        </p:nvSpPr>
        <p:spPr>
          <a:xfrm>
            <a:off x="11475720" y="6446520"/>
            <a:ext cx="502920" cy="274320"/>
          </a:xfrm>
          <a:prstGeom prst="rect">
            <a:avLst/>
          </a:prstGeom>
          <a:noFill/>
        </p:spPr>
        <p:txBody>
          <a:bodyPr wrap="square" anchor="t">
            <a:normAutofit/>
          </a:bodyPr>
          <a:lstStyle/>
          <a:p>
            <a:pPr algn="r"/>
            <a:r>
              <a:rPr sz="1000" b="0" i="0">
                <a:solidFill>
                  <a:srgbClr val="7A7A7A"/>
                </a:solidFill>
                <a:latin typeface="Arial"/>
              </a:rPr>
              <a:t>17</a:t>
            </a:r>
          </a:p>
        </p:txBody>
      </p:sp>
      <p:sp>
        <p:nvSpPr>
          <p:cNvPr id="7" name="Rounded Rectangle 6"/>
          <p:cNvSpPr/>
          <p:nvPr/>
        </p:nvSpPr>
        <p:spPr>
          <a:xfrm>
            <a:off x="7726679" y="6419088"/>
            <a:ext cx="3657600" cy="292608"/>
          </a:xfrm>
          <a:prstGeom prst="roundRect">
            <a:avLst/>
          </a:prstGeom>
          <a:solidFill>
            <a:srgbClr val="C3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26679" y="6455664"/>
            <a:ext cx="3657600" cy="237744"/>
          </a:xfrm>
          <a:prstGeom prst="rect">
            <a:avLst/>
          </a:prstGeom>
          <a:noFill/>
        </p:spPr>
        <p:txBody>
          <a:bodyPr wrap="square" anchor="t">
            <a:normAutofit/>
          </a:bodyPr>
          <a:lstStyle/>
          <a:p>
            <a:pPr algn="ctr"/>
            <a:r>
              <a:rPr sz="800" b="1" i="0">
                <a:solidFill>
                  <a:srgbClr val="FFFFFF"/>
                </a:solidFill>
                <a:latin typeface="Arial"/>
              </a:rPr>
              <a:t>CORUM DECIDES  ·  C&amp;W DELIVERS  ·  PwC ALIGNED</a:t>
            </a:r>
          </a:p>
        </p:txBody>
      </p:sp>
      <p:sp>
        <p:nvSpPr>
          <p:cNvPr id="9" name="Rectangle 8"/>
          <p:cNvSpPr/>
          <p:nvPr/>
        </p:nvSpPr>
        <p:spPr>
          <a:xfrm>
            <a:off x="411480" y="1783080"/>
            <a:ext cx="3657600" cy="411480"/>
          </a:xfrm>
          <a:prstGeom prst="rect">
            <a:avLst/>
          </a:prstGeom>
          <a:solidFill>
            <a:srgbClr val="1C1C1C"/>
          </a:solidFill>
          <a:ln w="6350">
            <a:solidFill>
              <a:srgbClr val="E2E2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84632" y="1847088"/>
            <a:ext cx="3520440" cy="320040"/>
          </a:xfrm>
          <a:prstGeom prst="rect">
            <a:avLst/>
          </a:prstGeom>
          <a:noFill/>
        </p:spPr>
        <p:txBody>
          <a:bodyPr wrap="square" anchor="t">
            <a:normAutofit/>
          </a:bodyPr>
          <a:lstStyle/>
          <a:p>
            <a:pPr algn="l"/>
            <a:r>
              <a:rPr sz="950" b="1" i="0">
                <a:solidFill>
                  <a:srgbClr val="FFFFFF"/>
                </a:solidFill>
                <a:latin typeface="Arial"/>
              </a:rPr>
              <a:t>DECISION AREA</a:t>
            </a:r>
          </a:p>
        </p:txBody>
      </p:sp>
      <p:sp>
        <p:nvSpPr>
          <p:cNvPr id="11" name="Rectangle 10"/>
          <p:cNvSpPr/>
          <p:nvPr/>
        </p:nvSpPr>
        <p:spPr>
          <a:xfrm>
            <a:off x="4069080" y="1783080"/>
            <a:ext cx="2011680" cy="411480"/>
          </a:xfrm>
          <a:prstGeom prst="rect">
            <a:avLst/>
          </a:prstGeom>
          <a:solidFill>
            <a:srgbClr val="1C1C1C"/>
          </a:solidFill>
          <a:ln w="6350">
            <a:solidFill>
              <a:srgbClr val="E2E2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142232" y="1847088"/>
            <a:ext cx="1874520" cy="320040"/>
          </a:xfrm>
          <a:prstGeom prst="rect">
            <a:avLst/>
          </a:prstGeom>
          <a:noFill/>
        </p:spPr>
        <p:txBody>
          <a:bodyPr wrap="square" anchor="t">
            <a:normAutofit/>
          </a:bodyPr>
          <a:lstStyle/>
          <a:p>
            <a:pPr algn="l"/>
            <a:r>
              <a:rPr sz="950" b="1" i="0">
                <a:solidFill>
                  <a:srgbClr val="FFFFFF"/>
                </a:solidFill>
                <a:latin typeface="Arial"/>
              </a:rPr>
              <a:t>CORUM</a:t>
            </a:r>
          </a:p>
        </p:txBody>
      </p:sp>
      <p:sp>
        <p:nvSpPr>
          <p:cNvPr id="13" name="Rectangle 12"/>
          <p:cNvSpPr/>
          <p:nvPr/>
        </p:nvSpPr>
        <p:spPr>
          <a:xfrm>
            <a:off x="6080760" y="1783080"/>
            <a:ext cx="2651760" cy="411480"/>
          </a:xfrm>
          <a:prstGeom prst="rect">
            <a:avLst/>
          </a:prstGeom>
          <a:solidFill>
            <a:srgbClr val="1C1C1C"/>
          </a:solidFill>
          <a:ln w="6350">
            <a:solidFill>
              <a:srgbClr val="E2E2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153912" y="1847088"/>
            <a:ext cx="2514600" cy="320040"/>
          </a:xfrm>
          <a:prstGeom prst="rect">
            <a:avLst/>
          </a:prstGeom>
          <a:noFill/>
        </p:spPr>
        <p:txBody>
          <a:bodyPr wrap="square" anchor="t">
            <a:normAutofit/>
          </a:bodyPr>
          <a:lstStyle/>
          <a:p>
            <a:pPr algn="l"/>
            <a:r>
              <a:rPr sz="950" b="1" i="0">
                <a:solidFill>
                  <a:srgbClr val="FFFFFF"/>
                </a:solidFill>
                <a:latin typeface="Arial"/>
              </a:rPr>
              <a:t>C&amp;W</a:t>
            </a:r>
          </a:p>
        </p:txBody>
      </p:sp>
      <p:sp>
        <p:nvSpPr>
          <p:cNvPr id="15" name="Rectangle 14"/>
          <p:cNvSpPr/>
          <p:nvPr/>
        </p:nvSpPr>
        <p:spPr>
          <a:xfrm>
            <a:off x="8732520" y="1783080"/>
            <a:ext cx="1828800" cy="411480"/>
          </a:xfrm>
          <a:prstGeom prst="rect">
            <a:avLst/>
          </a:prstGeom>
          <a:solidFill>
            <a:srgbClr val="1C1C1C"/>
          </a:solidFill>
          <a:ln w="6350">
            <a:solidFill>
              <a:srgbClr val="E2E2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805672" y="1847088"/>
            <a:ext cx="1691640" cy="320040"/>
          </a:xfrm>
          <a:prstGeom prst="rect">
            <a:avLst/>
          </a:prstGeom>
          <a:noFill/>
        </p:spPr>
        <p:txBody>
          <a:bodyPr wrap="square" anchor="t">
            <a:normAutofit/>
          </a:bodyPr>
          <a:lstStyle/>
          <a:p>
            <a:pPr algn="l"/>
            <a:r>
              <a:rPr sz="950" b="1" i="0">
                <a:solidFill>
                  <a:srgbClr val="FFFFFF"/>
                </a:solidFill>
                <a:latin typeface="Arial"/>
              </a:rPr>
              <a:t>PwC / M3E</a:t>
            </a:r>
          </a:p>
        </p:txBody>
      </p:sp>
      <p:sp>
        <p:nvSpPr>
          <p:cNvPr id="17" name="Rectangle 16"/>
          <p:cNvSpPr/>
          <p:nvPr/>
        </p:nvSpPr>
        <p:spPr>
          <a:xfrm>
            <a:off x="10561320" y="1783080"/>
            <a:ext cx="1280160" cy="411480"/>
          </a:xfrm>
          <a:prstGeom prst="rect">
            <a:avLst/>
          </a:prstGeom>
          <a:solidFill>
            <a:srgbClr val="1C1C1C"/>
          </a:solidFill>
          <a:ln w="6350">
            <a:solidFill>
              <a:srgbClr val="E2E2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634472" y="1847088"/>
            <a:ext cx="1143000" cy="320040"/>
          </a:xfrm>
          <a:prstGeom prst="rect">
            <a:avLst/>
          </a:prstGeom>
          <a:noFill/>
        </p:spPr>
        <p:txBody>
          <a:bodyPr wrap="square" anchor="t">
            <a:normAutofit/>
          </a:bodyPr>
          <a:lstStyle/>
          <a:p>
            <a:pPr algn="l"/>
            <a:r>
              <a:rPr sz="950" b="1" i="0">
                <a:solidFill>
                  <a:srgbClr val="FFFFFF"/>
                </a:solidFill>
                <a:latin typeface="Arial"/>
              </a:rPr>
              <a:t>SITS WITH</a:t>
            </a:r>
          </a:p>
        </p:txBody>
      </p:sp>
      <p:sp>
        <p:nvSpPr>
          <p:cNvPr id="19" name="Rectangle 18"/>
          <p:cNvSpPr/>
          <p:nvPr/>
        </p:nvSpPr>
        <p:spPr>
          <a:xfrm>
            <a:off x="411480" y="2194560"/>
            <a:ext cx="3657600" cy="548640"/>
          </a:xfrm>
          <a:prstGeom prst="rect">
            <a:avLst/>
          </a:prstGeom>
          <a:solidFill>
            <a:srgbClr val="FFFFFF"/>
          </a:solidFill>
          <a:ln w="6350">
            <a:solidFill>
              <a:srgbClr val="E2E2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84632" y="2249424"/>
            <a:ext cx="3520440" cy="457200"/>
          </a:xfrm>
          <a:prstGeom prst="rect">
            <a:avLst/>
          </a:prstGeom>
          <a:noFill/>
        </p:spPr>
        <p:txBody>
          <a:bodyPr wrap="square" anchor="ctr">
            <a:normAutofit/>
          </a:bodyPr>
          <a:lstStyle/>
          <a:p>
            <a:pPr algn="l"/>
            <a:r>
              <a:rPr sz="900" b="0" i="0">
                <a:solidFill>
                  <a:srgbClr val="1C1C1C"/>
                </a:solidFill>
                <a:latin typeface="Arial"/>
              </a:rPr>
              <a:t>Strategic &amp; budget decisions</a:t>
            </a:r>
          </a:p>
        </p:txBody>
      </p:sp>
      <p:sp>
        <p:nvSpPr>
          <p:cNvPr id="21" name="Rectangle 20"/>
          <p:cNvSpPr/>
          <p:nvPr/>
        </p:nvSpPr>
        <p:spPr>
          <a:xfrm>
            <a:off x="4069080" y="2194560"/>
            <a:ext cx="2011680" cy="548640"/>
          </a:xfrm>
          <a:prstGeom prst="rect">
            <a:avLst/>
          </a:prstGeom>
          <a:solidFill>
            <a:srgbClr val="FFFFFF"/>
          </a:solidFill>
          <a:ln w="6350">
            <a:solidFill>
              <a:srgbClr val="E2E2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142232" y="2249424"/>
            <a:ext cx="1874520" cy="457200"/>
          </a:xfrm>
          <a:prstGeom prst="rect">
            <a:avLst/>
          </a:prstGeom>
          <a:noFill/>
        </p:spPr>
        <p:txBody>
          <a:bodyPr wrap="square" anchor="ctr">
            <a:normAutofit/>
          </a:bodyPr>
          <a:lstStyle/>
          <a:p>
            <a:pPr algn="l"/>
            <a:r>
              <a:rPr sz="900" b="1" i="0">
                <a:solidFill>
                  <a:srgbClr val="C3002B"/>
                </a:solidFill>
                <a:latin typeface="Arial"/>
              </a:rPr>
              <a:t>DECIDE</a:t>
            </a:r>
          </a:p>
        </p:txBody>
      </p:sp>
      <p:sp>
        <p:nvSpPr>
          <p:cNvPr id="23" name="Rectangle 22"/>
          <p:cNvSpPr/>
          <p:nvPr/>
        </p:nvSpPr>
        <p:spPr>
          <a:xfrm>
            <a:off x="6080760" y="2194560"/>
            <a:ext cx="2651760" cy="548640"/>
          </a:xfrm>
          <a:prstGeom prst="rect">
            <a:avLst/>
          </a:prstGeom>
          <a:solidFill>
            <a:srgbClr val="FFFFFF"/>
          </a:solidFill>
          <a:ln w="6350">
            <a:solidFill>
              <a:srgbClr val="E2E2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153912" y="2249424"/>
            <a:ext cx="2514600" cy="457200"/>
          </a:xfrm>
          <a:prstGeom prst="rect">
            <a:avLst/>
          </a:prstGeom>
          <a:noFill/>
        </p:spPr>
        <p:txBody>
          <a:bodyPr wrap="square" anchor="ctr">
            <a:normAutofit/>
          </a:bodyPr>
          <a:lstStyle/>
          <a:p>
            <a:pPr algn="l"/>
            <a:r>
              <a:rPr sz="900" b="0" i="0">
                <a:solidFill>
                  <a:srgbClr val="1C1C1C"/>
                </a:solidFill>
                <a:latin typeface="Arial"/>
              </a:rPr>
              <a:t>recommend</a:t>
            </a:r>
          </a:p>
        </p:txBody>
      </p:sp>
      <p:sp>
        <p:nvSpPr>
          <p:cNvPr id="25" name="Rectangle 24"/>
          <p:cNvSpPr/>
          <p:nvPr/>
        </p:nvSpPr>
        <p:spPr>
          <a:xfrm>
            <a:off x="8732520" y="2194560"/>
            <a:ext cx="1828800" cy="548640"/>
          </a:xfrm>
          <a:prstGeom prst="rect">
            <a:avLst/>
          </a:prstGeom>
          <a:solidFill>
            <a:srgbClr val="FFFFFF"/>
          </a:solidFill>
          <a:ln w="6350">
            <a:solidFill>
              <a:srgbClr val="E2E2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805672" y="2249424"/>
            <a:ext cx="1691640" cy="457200"/>
          </a:xfrm>
          <a:prstGeom prst="rect">
            <a:avLst/>
          </a:prstGeom>
          <a:noFill/>
        </p:spPr>
        <p:txBody>
          <a:bodyPr wrap="square" anchor="ctr">
            <a:normAutofit/>
          </a:bodyPr>
          <a:lstStyle/>
          <a:p>
            <a:pPr algn="l"/>
            <a:r>
              <a:rPr sz="900" b="0" i="0">
                <a:solidFill>
                  <a:srgbClr val="1C1C1C"/>
                </a:solidFill>
                <a:latin typeface="Arial"/>
              </a:rPr>
              <a:t>consult</a:t>
            </a:r>
          </a:p>
        </p:txBody>
      </p:sp>
      <p:sp>
        <p:nvSpPr>
          <p:cNvPr id="27" name="Rectangle 26"/>
          <p:cNvSpPr/>
          <p:nvPr/>
        </p:nvSpPr>
        <p:spPr>
          <a:xfrm>
            <a:off x="10561320" y="2194560"/>
            <a:ext cx="1280160" cy="548640"/>
          </a:xfrm>
          <a:prstGeom prst="rect">
            <a:avLst/>
          </a:prstGeom>
          <a:solidFill>
            <a:srgbClr val="FFFFFF"/>
          </a:solidFill>
          <a:ln w="6350">
            <a:solidFill>
              <a:srgbClr val="E2E2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634472" y="2249424"/>
            <a:ext cx="1143000" cy="457200"/>
          </a:xfrm>
          <a:prstGeom prst="rect">
            <a:avLst/>
          </a:prstGeom>
          <a:noFill/>
        </p:spPr>
        <p:txBody>
          <a:bodyPr wrap="square" anchor="ctr">
            <a:normAutofit/>
          </a:bodyPr>
          <a:lstStyle/>
          <a:p>
            <a:pPr algn="l"/>
            <a:r>
              <a:rPr sz="900" b="1" i="0">
                <a:solidFill>
                  <a:srgbClr val="1C1C1C"/>
                </a:solidFill>
                <a:latin typeface="Arial"/>
              </a:rPr>
              <a:t>CORUM</a:t>
            </a:r>
          </a:p>
        </p:txBody>
      </p:sp>
      <p:sp>
        <p:nvSpPr>
          <p:cNvPr id="29" name="Rectangle 28"/>
          <p:cNvSpPr/>
          <p:nvPr/>
        </p:nvSpPr>
        <p:spPr>
          <a:xfrm>
            <a:off x="411480" y="2743200"/>
            <a:ext cx="3657600" cy="548640"/>
          </a:xfrm>
          <a:prstGeom prst="rect">
            <a:avLst/>
          </a:prstGeom>
          <a:solidFill>
            <a:srgbClr val="F3F3F3"/>
          </a:solidFill>
          <a:ln w="6350">
            <a:solidFill>
              <a:srgbClr val="E2E2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84632" y="2798064"/>
            <a:ext cx="3520440" cy="457200"/>
          </a:xfrm>
          <a:prstGeom prst="rect">
            <a:avLst/>
          </a:prstGeom>
          <a:noFill/>
        </p:spPr>
        <p:txBody>
          <a:bodyPr wrap="square" anchor="ctr">
            <a:normAutofit/>
          </a:bodyPr>
          <a:lstStyle/>
          <a:p>
            <a:pPr algn="l"/>
            <a:r>
              <a:rPr sz="900" b="0" i="0">
                <a:solidFill>
                  <a:srgbClr val="1C1C1C"/>
                </a:solidFill>
                <a:latin typeface="Arial"/>
              </a:rPr>
              <a:t>Scenario / design choice</a:t>
            </a:r>
          </a:p>
        </p:txBody>
      </p:sp>
      <p:sp>
        <p:nvSpPr>
          <p:cNvPr id="31" name="Rectangle 30"/>
          <p:cNvSpPr/>
          <p:nvPr/>
        </p:nvSpPr>
        <p:spPr>
          <a:xfrm>
            <a:off x="4069080" y="2743200"/>
            <a:ext cx="2011680" cy="548640"/>
          </a:xfrm>
          <a:prstGeom prst="rect">
            <a:avLst/>
          </a:prstGeom>
          <a:solidFill>
            <a:srgbClr val="F3F3F3"/>
          </a:solidFill>
          <a:ln w="6350">
            <a:solidFill>
              <a:srgbClr val="E2E2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142232" y="2798064"/>
            <a:ext cx="1874520" cy="457200"/>
          </a:xfrm>
          <a:prstGeom prst="rect">
            <a:avLst/>
          </a:prstGeom>
          <a:noFill/>
        </p:spPr>
        <p:txBody>
          <a:bodyPr wrap="square" anchor="ctr">
            <a:normAutofit/>
          </a:bodyPr>
          <a:lstStyle/>
          <a:p>
            <a:pPr algn="l"/>
            <a:r>
              <a:rPr sz="900" b="1" i="0">
                <a:solidFill>
                  <a:srgbClr val="C3002B"/>
                </a:solidFill>
                <a:latin typeface="Arial"/>
              </a:rPr>
              <a:t>DECIDE</a:t>
            </a:r>
          </a:p>
        </p:txBody>
      </p:sp>
      <p:sp>
        <p:nvSpPr>
          <p:cNvPr id="33" name="Rectangle 32"/>
          <p:cNvSpPr/>
          <p:nvPr/>
        </p:nvSpPr>
        <p:spPr>
          <a:xfrm>
            <a:off x="6080760" y="2743200"/>
            <a:ext cx="2651760" cy="548640"/>
          </a:xfrm>
          <a:prstGeom prst="rect">
            <a:avLst/>
          </a:prstGeom>
          <a:solidFill>
            <a:srgbClr val="F3F3F3"/>
          </a:solidFill>
          <a:ln w="6350">
            <a:solidFill>
              <a:srgbClr val="E2E2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153912" y="2798064"/>
            <a:ext cx="2514600" cy="457200"/>
          </a:xfrm>
          <a:prstGeom prst="rect">
            <a:avLst/>
          </a:prstGeom>
          <a:noFill/>
        </p:spPr>
        <p:txBody>
          <a:bodyPr wrap="square" anchor="ctr">
            <a:normAutofit/>
          </a:bodyPr>
          <a:lstStyle/>
          <a:p>
            <a:pPr algn="l"/>
            <a:r>
              <a:rPr sz="900" b="0" i="0">
                <a:solidFill>
                  <a:srgbClr val="1C1C1C"/>
                </a:solidFill>
                <a:latin typeface="Arial"/>
              </a:rPr>
              <a:t>recommend &amp; prepare</a:t>
            </a:r>
          </a:p>
        </p:txBody>
      </p:sp>
      <p:sp>
        <p:nvSpPr>
          <p:cNvPr id="35" name="Rectangle 34"/>
          <p:cNvSpPr/>
          <p:nvPr/>
        </p:nvSpPr>
        <p:spPr>
          <a:xfrm>
            <a:off x="8732520" y="2743200"/>
            <a:ext cx="1828800" cy="548640"/>
          </a:xfrm>
          <a:prstGeom prst="rect">
            <a:avLst/>
          </a:prstGeom>
          <a:solidFill>
            <a:srgbClr val="F3F3F3"/>
          </a:solidFill>
          <a:ln w="6350">
            <a:solidFill>
              <a:srgbClr val="E2E2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805672" y="2798064"/>
            <a:ext cx="1691640" cy="457200"/>
          </a:xfrm>
          <a:prstGeom prst="rect">
            <a:avLst/>
          </a:prstGeom>
          <a:noFill/>
        </p:spPr>
        <p:txBody>
          <a:bodyPr wrap="square" anchor="ctr">
            <a:normAutofit/>
          </a:bodyPr>
          <a:lstStyle/>
          <a:p>
            <a:pPr algn="l"/>
            <a:r>
              <a:rPr sz="900" b="0" i="0">
                <a:solidFill>
                  <a:srgbClr val="1C1C1C"/>
                </a:solidFill>
                <a:latin typeface="Arial"/>
              </a:rPr>
              <a:t>input</a:t>
            </a:r>
          </a:p>
        </p:txBody>
      </p:sp>
      <p:sp>
        <p:nvSpPr>
          <p:cNvPr id="37" name="Rectangle 36"/>
          <p:cNvSpPr/>
          <p:nvPr/>
        </p:nvSpPr>
        <p:spPr>
          <a:xfrm>
            <a:off x="10561320" y="2743200"/>
            <a:ext cx="1280160" cy="548640"/>
          </a:xfrm>
          <a:prstGeom prst="rect">
            <a:avLst/>
          </a:prstGeom>
          <a:solidFill>
            <a:srgbClr val="F3F3F3"/>
          </a:solidFill>
          <a:ln w="6350">
            <a:solidFill>
              <a:srgbClr val="E2E2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634472" y="2798064"/>
            <a:ext cx="1143000" cy="457200"/>
          </a:xfrm>
          <a:prstGeom prst="rect">
            <a:avLst/>
          </a:prstGeom>
          <a:noFill/>
        </p:spPr>
        <p:txBody>
          <a:bodyPr wrap="square" anchor="ctr">
            <a:normAutofit/>
          </a:bodyPr>
          <a:lstStyle/>
          <a:p>
            <a:pPr algn="l"/>
            <a:r>
              <a:rPr sz="900" b="1" i="0">
                <a:solidFill>
                  <a:srgbClr val="1C1C1C"/>
                </a:solidFill>
                <a:latin typeface="Arial"/>
              </a:rPr>
              <a:t>CORUM</a:t>
            </a:r>
          </a:p>
        </p:txBody>
      </p:sp>
      <p:sp>
        <p:nvSpPr>
          <p:cNvPr id="39" name="Rectangle 38"/>
          <p:cNvSpPr/>
          <p:nvPr/>
        </p:nvSpPr>
        <p:spPr>
          <a:xfrm>
            <a:off x="411480" y="3291840"/>
            <a:ext cx="3657600" cy="548640"/>
          </a:xfrm>
          <a:prstGeom prst="rect">
            <a:avLst/>
          </a:prstGeom>
          <a:solidFill>
            <a:srgbClr val="FFFFFF"/>
          </a:solidFill>
          <a:ln w="6350">
            <a:solidFill>
              <a:srgbClr val="E2E2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484632" y="3346704"/>
            <a:ext cx="3520440" cy="457200"/>
          </a:xfrm>
          <a:prstGeom prst="rect">
            <a:avLst/>
          </a:prstGeom>
          <a:noFill/>
        </p:spPr>
        <p:txBody>
          <a:bodyPr wrap="square" anchor="ctr">
            <a:normAutofit/>
          </a:bodyPr>
          <a:lstStyle/>
          <a:p>
            <a:pPr algn="l"/>
            <a:r>
              <a:rPr sz="900" b="0" i="0">
                <a:solidFill>
                  <a:srgbClr val="1C1C1C"/>
                </a:solidFill>
                <a:latin typeface="Arial"/>
              </a:rPr>
              <a:t>Tenant communication &amp; impact</a:t>
            </a:r>
          </a:p>
        </p:txBody>
      </p:sp>
      <p:sp>
        <p:nvSpPr>
          <p:cNvPr id="41" name="Rectangle 40"/>
          <p:cNvSpPr/>
          <p:nvPr/>
        </p:nvSpPr>
        <p:spPr>
          <a:xfrm>
            <a:off x="4069080" y="3291840"/>
            <a:ext cx="2011680" cy="548640"/>
          </a:xfrm>
          <a:prstGeom prst="rect">
            <a:avLst/>
          </a:prstGeom>
          <a:solidFill>
            <a:srgbClr val="FFFFFF"/>
          </a:solidFill>
          <a:ln w="6350">
            <a:solidFill>
              <a:srgbClr val="E2E2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4142232" y="3346704"/>
            <a:ext cx="1874520" cy="457200"/>
          </a:xfrm>
          <a:prstGeom prst="rect">
            <a:avLst/>
          </a:prstGeom>
          <a:noFill/>
        </p:spPr>
        <p:txBody>
          <a:bodyPr wrap="square" anchor="ctr">
            <a:normAutofit/>
          </a:bodyPr>
          <a:lstStyle/>
          <a:p>
            <a:pPr algn="l"/>
            <a:r>
              <a:rPr sz="900" b="0" i="0">
                <a:solidFill>
                  <a:srgbClr val="1C1C1C"/>
                </a:solidFill>
                <a:latin typeface="Arial"/>
              </a:rPr>
              <a:t>informed</a:t>
            </a:r>
          </a:p>
        </p:txBody>
      </p:sp>
      <p:sp>
        <p:nvSpPr>
          <p:cNvPr id="43" name="Rectangle 42"/>
          <p:cNvSpPr/>
          <p:nvPr/>
        </p:nvSpPr>
        <p:spPr>
          <a:xfrm>
            <a:off x="6080760" y="3291840"/>
            <a:ext cx="2651760" cy="548640"/>
          </a:xfrm>
          <a:prstGeom prst="rect">
            <a:avLst/>
          </a:prstGeom>
          <a:solidFill>
            <a:srgbClr val="FFFFFF"/>
          </a:solidFill>
          <a:ln w="6350">
            <a:solidFill>
              <a:srgbClr val="E2E2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153912" y="3346704"/>
            <a:ext cx="2514600" cy="457200"/>
          </a:xfrm>
          <a:prstGeom prst="rect">
            <a:avLst/>
          </a:prstGeom>
          <a:noFill/>
        </p:spPr>
        <p:txBody>
          <a:bodyPr wrap="square" anchor="ctr">
            <a:normAutofit/>
          </a:bodyPr>
          <a:lstStyle/>
          <a:p>
            <a:pPr algn="l"/>
            <a:r>
              <a:rPr sz="900" b="1" i="0">
                <a:solidFill>
                  <a:srgbClr val="C3002B"/>
                </a:solidFill>
                <a:latin typeface="Arial"/>
              </a:rPr>
              <a:t>MANAGE</a:t>
            </a:r>
          </a:p>
        </p:txBody>
      </p:sp>
      <p:sp>
        <p:nvSpPr>
          <p:cNvPr id="45" name="Rectangle 44"/>
          <p:cNvSpPr/>
          <p:nvPr/>
        </p:nvSpPr>
        <p:spPr>
          <a:xfrm>
            <a:off x="8732520" y="3291840"/>
            <a:ext cx="1828800" cy="548640"/>
          </a:xfrm>
          <a:prstGeom prst="rect">
            <a:avLst/>
          </a:prstGeom>
          <a:solidFill>
            <a:srgbClr val="FFFFFF"/>
          </a:solidFill>
          <a:ln w="6350">
            <a:solidFill>
              <a:srgbClr val="E2E2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8805672" y="3346704"/>
            <a:ext cx="1691640" cy="457200"/>
          </a:xfrm>
          <a:prstGeom prst="rect">
            <a:avLst/>
          </a:prstGeom>
          <a:noFill/>
        </p:spPr>
        <p:txBody>
          <a:bodyPr wrap="square" anchor="ctr">
            <a:normAutofit/>
          </a:bodyPr>
          <a:lstStyle/>
          <a:p>
            <a:pPr algn="l"/>
            <a:r>
              <a:rPr sz="900" b="0" i="0">
                <a:solidFill>
                  <a:srgbClr val="1C1C1C"/>
                </a:solidFill>
                <a:latin typeface="Arial"/>
              </a:rPr>
              <a:t>involved</a:t>
            </a:r>
          </a:p>
        </p:txBody>
      </p:sp>
      <p:sp>
        <p:nvSpPr>
          <p:cNvPr id="47" name="Rectangle 46"/>
          <p:cNvSpPr/>
          <p:nvPr/>
        </p:nvSpPr>
        <p:spPr>
          <a:xfrm>
            <a:off x="10561320" y="3291840"/>
            <a:ext cx="1280160" cy="548640"/>
          </a:xfrm>
          <a:prstGeom prst="rect">
            <a:avLst/>
          </a:prstGeom>
          <a:solidFill>
            <a:srgbClr val="FFFFFF"/>
          </a:solidFill>
          <a:ln w="6350">
            <a:solidFill>
              <a:srgbClr val="E2E2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10634472" y="3346704"/>
            <a:ext cx="1143000" cy="457200"/>
          </a:xfrm>
          <a:prstGeom prst="rect">
            <a:avLst/>
          </a:prstGeom>
          <a:noFill/>
        </p:spPr>
        <p:txBody>
          <a:bodyPr wrap="square" anchor="ctr">
            <a:normAutofit/>
          </a:bodyPr>
          <a:lstStyle/>
          <a:p>
            <a:pPr algn="l"/>
            <a:r>
              <a:rPr sz="900" b="1" i="0">
                <a:solidFill>
                  <a:srgbClr val="1C1C1C"/>
                </a:solidFill>
                <a:latin typeface="Arial"/>
              </a:rPr>
              <a:t>C&amp;W</a:t>
            </a:r>
          </a:p>
        </p:txBody>
      </p:sp>
      <p:sp>
        <p:nvSpPr>
          <p:cNvPr id="49" name="Rectangle 48"/>
          <p:cNvSpPr/>
          <p:nvPr/>
        </p:nvSpPr>
        <p:spPr>
          <a:xfrm>
            <a:off x="411480" y="3840480"/>
            <a:ext cx="3657600" cy="548640"/>
          </a:xfrm>
          <a:prstGeom prst="rect">
            <a:avLst/>
          </a:prstGeom>
          <a:solidFill>
            <a:srgbClr val="F3F3F3"/>
          </a:solidFill>
          <a:ln w="6350">
            <a:solidFill>
              <a:srgbClr val="E2E2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484632" y="3895344"/>
            <a:ext cx="3520440" cy="457200"/>
          </a:xfrm>
          <a:prstGeom prst="rect">
            <a:avLst/>
          </a:prstGeom>
          <a:noFill/>
        </p:spPr>
        <p:txBody>
          <a:bodyPr wrap="square" anchor="ctr">
            <a:normAutofit/>
          </a:bodyPr>
          <a:lstStyle/>
          <a:p>
            <a:pPr algn="l"/>
            <a:r>
              <a:rPr sz="900" b="0" i="0">
                <a:solidFill>
                  <a:srgbClr val="1C1C1C"/>
                </a:solidFill>
                <a:latin typeface="Arial"/>
              </a:rPr>
              <a:t>Contractor selection</a:t>
            </a:r>
          </a:p>
        </p:txBody>
      </p:sp>
      <p:sp>
        <p:nvSpPr>
          <p:cNvPr id="51" name="Rectangle 50"/>
          <p:cNvSpPr/>
          <p:nvPr/>
        </p:nvSpPr>
        <p:spPr>
          <a:xfrm>
            <a:off x="4069080" y="3840480"/>
            <a:ext cx="2011680" cy="548640"/>
          </a:xfrm>
          <a:prstGeom prst="rect">
            <a:avLst/>
          </a:prstGeom>
          <a:solidFill>
            <a:srgbClr val="F3F3F3"/>
          </a:solidFill>
          <a:ln w="6350">
            <a:solidFill>
              <a:srgbClr val="E2E2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4142232" y="3895344"/>
            <a:ext cx="1874520" cy="457200"/>
          </a:xfrm>
          <a:prstGeom prst="rect">
            <a:avLst/>
          </a:prstGeom>
          <a:noFill/>
        </p:spPr>
        <p:txBody>
          <a:bodyPr wrap="square" anchor="ctr">
            <a:normAutofit/>
          </a:bodyPr>
          <a:lstStyle/>
          <a:p>
            <a:pPr algn="l"/>
            <a:r>
              <a:rPr sz="900" b="0" i="0">
                <a:solidFill>
                  <a:srgbClr val="1C1C1C"/>
                </a:solidFill>
                <a:latin typeface="Arial"/>
              </a:rPr>
              <a:t>approve</a:t>
            </a:r>
          </a:p>
        </p:txBody>
      </p:sp>
      <p:sp>
        <p:nvSpPr>
          <p:cNvPr id="53" name="Rectangle 52"/>
          <p:cNvSpPr/>
          <p:nvPr/>
        </p:nvSpPr>
        <p:spPr>
          <a:xfrm>
            <a:off x="6080760" y="3840480"/>
            <a:ext cx="2651760" cy="548640"/>
          </a:xfrm>
          <a:prstGeom prst="rect">
            <a:avLst/>
          </a:prstGeom>
          <a:solidFill>
            <a:srgbClr val="F3F3F3"/>
          </a:solidFill>
          <a:ln w="6350">
            <a:solidFill>
              <a:srgbClr val="E2E2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6153912" y="3895344"/>
            <a:ext cx="2514600" cy="457200"/>
          </a:xfrm>
          <a:prstGeom prst="rect">
            <a:avLst/>
          </a:prstGeom>
          <a:noFill/>
        </p:spPr>
        <p:txBody>
          <a:bodyPr wrap="square" anchor="ctr">
            <a:normAutofit/>
          </a:bodyPr>
          <a:lstStyle/>
          <a:p>
            <a:pPr algn="l"/>
            <a:r>
              <a:rPr sz="900" b="0" i="0">
                <a:solidFill>
                  <a:srgbClr val="1C1C1C"/>
                </a:solidFill>
                <a:latin typeface="Arial"/>
              </a:rPr>
              <a:t>run &amp; recommend</a:t>
            </a:r>
          </a:p>
        </p:txBody>
      </p:sp>
      <p:sp>
        <p:nvSpPr>
          <p:cNvPr id="55" name="Rectangle 54"/>
          <p:cNvSpPr/>
          <p:nvPr/>
        </p:nvSpPr>
        <p:spPr>
          <a:xfrm>
            <a:off x="8732520" y="3840480"/>
            <a:ext cx="1828800" cy="548640"/>
          </a:xfrm>
          <a:prstGeom prst="rect">
            <a:avLst/>
          </a:prstGeom>
          <a:solidFill>
            <a:srgbClr val="F3F3F3"/>
          </a:solidFill>
          <a:ln w="6350">
            <a:solidFill>
              <a:srgbClr val="E2E2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8805672" y="3895344"/>
            <a:ext cx="1691640" cy="457200"/>
          </a:xfrm>
          <a:prstGeom prst="rect">
            <a:avLst/>
          </a:prstGeom>
          <a:noFill/>
        </p:spPr>
        <p:txBody>
          <a:bodyPr wrap="square" anchor="ctr">
            <a:normAutofit/>
          </a:bodyPr>
          <a:lstStyle/>
          <a:p>
            <a:pPr algn="l"/>
            <a:r>
              <a:rPr sz="900" b="0" i="0">
                <a:solidFill>
                  <a:srgbClr val="1C1C1C"/>
                </a:solidFill>
                <a:latin typeface="Arial"/>
              </a:rPr>
              <a:t>—</a:t>
            </a:r>
          </a:p>
        </p:txBody>
      </p:sp>
      <p:sp>
        <p:nvSpPr>
          <p:cNvPr id="57" name="Rectangle 56"/>
          <p:cNvSpPr/>
          <p:nvPr/>
        </p:nvSpPr>
        <p:spPr>
          <a:xfrm>
            <a:off x="10561320" y="3840480"/>
            <a:ext cx="1280160" cy="548640"/>
          </a:xfrm>
          <a:prstGeom prst="rect">
            <a:avLst/>
          </a:prstGeom>
          <a:solidFill>
            <a:srgbClr val="F3F3F3"/>
          </a:solidFill>
          <a:ln w="6350">
            <a:solidFill>
              <a:srgbClr val="E2E2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10634472" y="3895344"/>
            <a:ext cx="1143000" cy="457200"/>
          </a:xfrm>
          <a:prstGeom prst="rect">
            <a:avLst/>
          </a:prstGeom>
          <a:noFill/>
        </p:spPr>
        <p:txBody>
          <a:bodyPr wrap="square" anchor="ctr">
            <a:normAutofit/>
          </a:bodyPr>
          <a:lstStyle/>
          <a:p>
            <a:pPr algn="l"/>
            <a:r>
              <a:rPr sz="900" b="0" i="0">
                <a:solidFill>
                  <a:srgbClr val="1C1C1C"/>
                </a:solidFill>
                <a:latin typeface="Arial"/>
              </a:rPr>
              <a:t>C&amp;W→Corum</a:t>
            </a:r>
          </a:p>
        </p:txBody>
      </p:sp>
      <p:sp>
        <p:nvSpPr>
          <p:cNvPr id="59" name="Rectangle 58"/>
          <p:cNvSpPr/>
          <p:nvPr/>
        </p:nvSpPr>
        <p:spPr>
          <a:xfrm>
            <a:off x="411480" y="4389120"/>
            <a:ext cx="3657600" cy="548640"/>
          </a:xfrm>
          <a:prstGeom prst="rect">
            <a:avLst/>
          </a:prstGeom>
          <a:solidFill>
            <a:srgbClr val="FFFFFF"/>
          </a:solidFill>
          <a:ln w="6350">
            <a:solidFill>
              <a:srgbClr val="E2E2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484632" y="4443984"/>
            <a:ext cx="3520440" cy="457200"/>
          </a:xfrm>
          <a:prstGeom prst="rect">
            <a:avLst/>
          </a:prstGeom>
          <a:noFill/>
        </p:spPr>
        <p:txBody>
          <a:bodyPr wrap="square" anchor="ctr">
            <a:normAutofit/>
          </a:bodyPr>
          <a:lstStyle/>
          <a:p>
            <a:pPr algn="l"/>
            <a:r>
              <a:rPr sz="900" b="0" i="0">
                <a:solidFill>
                  <a:srgbClr val="1C1C1C"/>
                </a:solidFill>
                <a:latin typeface="Arial"/>
              </a:rPr>
              <a:t>Day-to-day site &amp; works</a:t>
            </a:r>
          </a:p>
        </p:txBody>
      </p:sp>
      <p:sp>
        <p:nvSpPr>
          <p:cNvPr id="61" name="Rectangle 60"/>
          <p:cNvSpPr/>
          <p:nvPr/>
        </p:nvSpPr>
        <p:spPr>
          <a:xfrm>
            <a:off x="4069080" y="4389120"/>
            <a:ext cx="2011680" cy="548640"/>
          </a:xfrm>
          <a:prstGeom prst="rect">
            <a:avLst/>
          </a:prstGeom>
          <a:solidFill>
            <a:srgbClr val="FFFFFF"/>
          </a:solidFill>
          <a:ln w="6350">
            <a:solidFill>
              <a:srgbClr val="E2E2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4142232" y="4443984"/>
            <a:ext cx="1874520" cy="457200"/>
          </a:xfrm>
          <a:prstGeom prst="rect">
            <a:avLst/>
          </a:prstGeom>
          <a:noFill/>
        </p:spPr>
        <p:txBody>
          <a:bodyPr wrap="square" anchor="ctr">
            <a:normAutofit/>
          </a:bodyPr>
          <a:lstStyle/>
          <a:p>
            <a:pPr algn="l"/>
            <a:r>
              <a:rPr sz="900" b="0" i="0">
                <a:solidFill>
                  <a:srgbClr val="1C1C1C"/>
                </a:solidFill>
                <a:latin typeface="Arial"/>
              </a:rPr>
              <a:t>informed</a:t>
            </a:r>
          </a:p>
        </p:txBody>
      </p:sp>
      <p:sp>
        <p:nvSpPr>
          <p:cNvPr id="63" name="Rectangle 62"/>
          <p:cNvSpPr/>
          <p:nvPr/>
        </p:nvSpPr>
        <p:spPr>
          <a:xfrm>
            <a:off x="6080760" y="4389120"/>
            <a:ext cx="2651760" cy="548640"/>
          </a:xfrm>
          <a:prstGeom prst="rect">
            <a:avLst/>
          </a:prstGeom>
          <a:solidFill>
            <a:srgbClr val="FFFFFF"/>
          </a:solidFill>
          <a:ln w="6350">
            <a:solidFill>
              <a:srgbClr val="E2E2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6153912" y="4443984"/>
            <a:ext cx="2514600" cy="457200"/>
          </a:xfrm>
          <a:prstGeom prst="rect">
            <a:avLst/>
          </a:prstGeom>
          <a:noFill/>
        </p:spPr>
        <p:txBody>
          <a:bodyPr wrap="square" anchor="ctr">
            <a:normAutofit/>
          </a:bodyPr>
          <a:lstStyle/>
          <a:p>
            <a:pPr algn="l"/>
            <a:r>
              <a:rPr sz="900" b="1" i="0">
                <a:solidFill>
                  <a:srgbClr val="C3002B"/>
                </a:solidFill>
                <a:latin typeface="Arial"/>
              </a:rPr>
              <a:t>DIRECT</a:t>
            </a:r>
          </a:p>
        </p:txBody>
      </p:sp>
      <p:sp>
        <p:nvSpPr>
          <p:cNvPr id="65" name="Rectangle 64"/>
          <p:cNvSpPr/>
          <p:nvPr/>
        </p:nvSpPr>
        <p:spPr>
          <a:xfrm>
            <a:off x="8732520" y="4389120"/>
            <a:ext cx="1828800" cy="548640"/>
          </a:xfrm>
          <a:prstGeom prst="rect">
            <a:avLst/>
          </a:prstGeom>
          <a:solidFill>
            <a:srgbClr val="FFFFFF"/>
          </a:solidFill>
          <a:ln w="6350">
            <a:solidFill>
              <a:srgbClr val="E2E2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8805672" y="4443984"/>
            <a:ext cx="1691640" cy="457200"/>
          </a:xfrm>
          <a:prstGeom prst="rect">
            <a:avLst/>
          </a:prstGeom>
          <a:noFill/>
        </p:spPr>
        <p:txBody>
          <a:bodyPr wrap="square" anchor="ctr">
            <a:normAutofit/>
          </a:bodyPr>
          <a:lstStyle/>
          <a:p>
            <a:pPr algn="l"/>
            <a:r>
              <a:rPr sz="900" b="0" i="0">
                <a:solidFill>
                  <a:srgbClr val="1C1C1C"/>
                </a:solidFill>
                <a:latin typeface="Arial"/>
              </a:rPr>
              <a:t>execute</a:t>
            </a:r>
          </a:p>
        </p:txBody>
      </p:sp>
      <p:sp>
        <p:nvSpPr>
          <p:cNvPr id="67" name="Rectangle 66"/>
          <p:cNvSpPr/>
          <p:nvPr/>
        </p:nvSpPr>
        <p:spPr>
          <a:xfrm>
            <a:off x="10561320" y="4389120"/>
            <a:ext cx="1280160" cy="548640"/>
          </a:xfrm>
          <a:prstGeom prst="rect">
            <a:avLst/>
          </a:prstGeom>
          <a:solidFill>
            <a:srgbClr val="FFFFFF"/>
          </a:solidFill>
          <a:ln w="6350">
            <a:solidFill>
              <a:srgbClr val="E2E2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10634472" y="4443984"/>
            <a:ext cx="1143000" cy="457200"/>
          </a:xfrm>
          <a:prstGeom prst="rect">
            <a:avLst/>
          </a:prstGeom>
          <a:noFill/>
        </p:spPr>
        <p:txBody>
          <a:bodyPr wrap="square" anchor="ctr">
            <a:normAutofit/>
          </a:bodyPr>
          <a:lstStyle/>
          <a:p>
            <a:pPr algn="l"/>
            <a:r>
              <a:rPr sz="900" b="1" i="0">
                <a:solidFill>
                  <a:srgbClr val="1C1C1C"/>
                </a:solidFill>
                <a:latin typeface="Arial"/>
              </a:rPr>
              <a:t>C&amp;W</a:t>
            </a:r>
          </a:p>
        </p:txBody>
      </p:sp>
      <p:sp>
        <p:nvSpPr>
          <p:cNvPr id="69" name="Rectangle 68"/>
          <p:cNvSpPr/>
          <p:nvPr/>
        </p:nvSpPr>
        <p:spPr>
          <a:xfrm>
            <a:off x="411480" y="4937760"/>
            <a:ext cx="3657600" cy="548640"/>
          </a:xfrm>
          <a:prstGeom prst="rect">
            <a:avLst/>
          </a:prstGeom>
          <a:solidFill>
            <a:srgbClr val="F3F3F3"/>
          </a:solidFill>
          <a:ln w="6350">
            <a:solidFill>
              <a:srgbClr val="E2E2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484632" y="4992624"/>
            <a:ext cx="3520440" cy="457200"/>
          </a:xfrm>
          <a:prstGeom prst="rect">
            <a:avLst/>
          </a:prstGeom>
          <a:noFill/>
        </p:spPr>
        <p:txBody>
          <a:bodyPr wrap="square" anchor="ctr">
            <a:normAutofit/>
          </a:bodyPr>
          <a:lstStyle/>
          <a:p>
            <a:pPr algn="l"/>
            <a:r>
              <a:rPr sz="900" b="0" i="0">
                <a:solidFill>
                  <a:srgbClr val="1C1C1C"/>
                </a:solidFill>
                <a:latin typeface="Arial"/>
              </a:rPr>
              <a:t>Risk &amp; escalation</a:t>
            </a:r>
          </a:p>
        </p:txBody>
      </p:sp>
      <p:sp>
        <p:nvSpPr>
          <p:cNvPr id="71" name="Rectangle 70"/>
          <p:cNvSpPr/>
          <p:nvPr/>
        </p:nvSpPr>
        <p:spPr>
          <a:xfrm>
            <a:off x="4069080" y="4937760"/>
            <a:ext cx="2011680" cy="548640"/>
          </a:xfrm>
          <a:prstGeom prst="rect">
            <a:avLst/>
          </a:prstGeom>
          <a:solidFill>
            <a:srgbClr val="F3F3F3"/>
          </a:solidFill>
          <a:ln w="6350">
            <a:solidFill>
              <a:srgbClr val="E2E2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4142232" y="4992624"/>
            <a:ext cx="1874520" cy="457200"/>
          </a:xfrm>
          <a:prstGeom prst="rect">
            <a:avLst/>
          </a:prstGeom>
          <a:noFill/>
        </p:spPr>
        <p:txBody>
          <a:bodyPr wrap="square" anchor="ctr">
            <a:normAutofit/>
          </a:bodyPr>
          <a:lstStyle/>
          <a:p>
            <a:pPr algn="l"/>
            <a:r>
              <a:rPr sz="900" b="0" i="0">
                <a:solidFill>
                  <a:srgbClr val="1C1C1C"/>
                </a:solidFill>
                <a:latin typeface="Arial"/>
              </a:rPr>
              <a:t>escalation point</a:t>
            </a:r>
          </a:p>
        </p:txBody>
      </p:sp>
      <p:sp>
        <p:nvSpPr>
          <p:cNvPr id="73" name="Rectangle 72"/>
          <p:cNvSpPr/>
          <p:nvPr/>
        </p:nvSpPr>
        <p:spPr>
          <a:xfrm>
            <a:off x="6080760" y="4937760"/>
            <a:ext cx="2651760" cy="548640"/>
          </a:xfrm>
          <a:prstGeom prst="rect">
            <a:avLst/>
          </a:prstGeom>
          <a:solidFill>
            <a:srgbClr val="F3F3F3"/>
          </a:solidFill>
          <a:ln w="6350">
            <a:solidFill>
              <a:srgbClr val="E2E2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6153912" y="4992624"/>
            <a:ext cx="2514600" cy="457200"/>
          </a:xfrm>
          <a:prstGeom prst="rect">
            <a:avLst/>
          </a:prstGeom>
          <a:noFill/>
        </p:spPr>
        <p:txBody>
          <a:bodyPr wrap="square" anchor="ctr">
            <a:normAutofit/>
          </a:bodyPr>
          <a:lstStyle/>
          <a:p>
            <a:pPr algn="l"/>
            <a:r>
              <a:rPr sz="900" b="0" i="0">
                <a:solidFill>
                  <a:srgbClr val="1C1C1C"/>
                </a:solidFill>
                <a:latin typeface="Arial"/>
              </a:rPr>
              <a:t>OWN &amp; flag early</a:t>
            </a:r>
          </a:p>
        </p:txBody>
      </p:sp>
      <p:sp>
        <p:nvSpPr>
          <p:cNvPr id="75" name="Rectangle 74"/>
          <p:cNvSpPr/>
          <p:nvPr/>
        </p:nvSpPr>
        <p:spPr>
          <a:xfrm>
            <a:off x="8732520" y="4937760"/>
            <a:ext cx="1828800" cy="548640"/>
          </a:xfrm>
          <a:prstGeom prst="rect">
            <a:avLst/>
          </a:prstGeom>
          <a:solidFill>
            <a:srgbClr val="F3F3F3"/>
          </a:solidFill>
          <a:ln w="6350">
            <a:solidFill>
              <a:srgbClr val="E2E2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8805672" y="4992624"/>
            <a:ext cx="1691640" cy="457200"/>
          </a:xfrm>
          <a:prstGeom prst="rect">
            <a:avLst/>
          </a:prstGeom>
          <a:noFill/>
        </p:spPr>
        <p:txBody>
          <a:bodyPr wrap="square" anchor="ctr">
            <a:normAutofit/>
          </a:bodyPr>
          <a:lstStyle/>
          <a:p>
            <a:pPr algn="l"/>
            <a:r>
              <a:rPr sz="900" b="0" i="0">
                <a:solidFill>
                  <a:srgbClr val="1C1C1C"/>
                </a:solidFill>
                <a:latin typeface="Arial"/>
              </a:rPr>
              <a:t>—</a:t>
            </a:r>
          </a:p>
        </p:txBody>
      </p:sp>
      <p:sp>
        <p:nvSpPr>
          <p:cNvPr id="77" name="Rectangle 76"/>
          <p:cNvSpPr/>
          <p:nvPr/>
        </p:nvSpPr>
        <p:spPr>
          <a:xfrm>
            <a:off x="10561320" y="4937760"/>
            <a:ext cx="1280160" cy="548640"/>
          </a:xfrm>
          <a:prstGeom prst="rect">
            <a:avLst/>
          </a:prstGeom>
          <a:solidFill>
            <a:srgbClr val="F3F3F3"/>
          </a:solidFill>
          <a:ln w="6350">
            <a:solidFill>
              <a:srgbClr val="E2E2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10634472" y="4992624"/>
            <a:ext cx="1143000" cy="457200"/>
          </a:xfrm>
          <a:prstGeom prst="rect">
            <a:avLst/>
          </a:prstGeom>
          <a:noFill/>
        </p:spPr>
        <p:txBody>
          <a:bodyPr wrap="square" anchor="ctr">
            <a:normAutofit/>
          </a:bodyPr>
          <a:lstStyle/>
          <a:p>
            <a:pPr algn="l"/>
            <a:r>
              <a:rPr sz="900" b="0" i="0">
                <a:solidFill>
                  <a:srgbClr val="1C1C1C"/>
                </a:solidFill>
                <a:latin typeface="Arial"/>
              </a:rPr>
              <a:t>C&amp;W→Corum</a:t>
            </a:r>
          </a:p>
        </p:txBody>
      </p:sp>
      <p:sp>
        <p:nvSpPr>
          <p:cNvPr id="79" name="TextBox 78"/>
          <p:cNvSpPr txBox="1"/>
          <p:nvPr/>
        </p:nvSpPr>
        <p:spPr>
          <a:xfrm>
            <a:off x="411480" y="5257800"/>
            <a:ext cx="10972800" cy="457200"/>
          </a:xfrm>
          <a:prstGeom prst="rect">
            <a:avLst/>
          </a:prstGeom>
          <a:noFill/>
        </p:spPr>
        <p:txBody>
          <a:bodyPr wrap="square" anchor="t">
            <a:normAutofit/>
          </a:bodyPr>
          <a:lstStyle/>
          <a:p>
            <a:pPr algn="l"/>
            <a:r>
              <a:rPr sz="1050" b="0" i="1">
                <a:solidFill>
                  <a:srgbClr val="1C1C1C"/>
                </a:solidFill>
                <a:latin typeface="Arial"/>
              </a:rPr>
              <a:t>The full project team is personally introduced to all parties at the outset — so every name has a face from day one.</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4592" cy="6858000"/>
          </a:xfrm>
          <a:prstGeom prst="rect">
            <a:avLst/>
          </a:prstGeom>
          <a:solidFill>
            <a:srgbClr val="C3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219456"/>
            <a:ext cx="10058400" cy="274320"/>
          </a:xfrm>
          <a:prstGeom prst="rect">
            <a:avLst/>
          </a:prstGeom>
          <a:noFill/>
        </p:spPr>
        <p:txBody>
          <a:bodyPr wrap="square" anchor="t">
            <a:normAutofit/>
          </a:bodyPr>
          <a:lstStyle/>
          <a:p>
            <a:pPr algn="l"/>
            <a:r>
              <a:rPr sz="1000" b="1" i="0">
                <a:solidFill>
                  <a:srgbClr val="C3002B"/>
                </a:solidFill>
                <a:latin typeface="Arial"/>
              </a:rPr>
              <a:t>04 — HOW WE STAY IN CONTROL  ·  REPORTING</a:t>
            </a:r>
          </a:p>
        </p:txBody>
      </p:sp>
      <p:sp>
        <p:nvSpPr>
          <p:cNvPr id="4" name="TextBox 3"/>
          <p:cNvSpPr txBox="1"/>
          <p:nvPr/>
        </p:nvSpPr>
        <p:spPr>
          <a:xfrm>
            <a:off x="411480" y="457200"/>
            <a:ext cx="11155680" cy="868680"/>
          </a:xfrm>
          <a:prstGeom prst="rect">
            <a:avLst/>
          </a:prstGeom>
          <a:noFill/>
        </p:spPr>
        <p:txBody>
          <a:bodyPr wrap="square" anchor="t">
            <a:normAutofit/>
          </a:bodyPr>
          <a:lstStyle/>
          <a:p>
            <a:pPr algn="l"/>
            <a:r>
              <a:rPr sz="2300" b="1" i="0">
                <a:solidFill>
                  <a:srgbClr val="1C1C1C"/>
                </a:solidFill>
                <a:latin typeface="Arial"/>
              </a:rPr>
              <a:t>You stay fully in control from Paris — on one page a month</a:t>
            </a:r>
          </a:p>
        </p:txBody>
      </p:sp>
      <p:sp>
        <p:nvSpPr>
          <p:cNvPr id="5" name="TextBox 4"/>
          <p:cNvSpPr txBox="1"/>
          <p:nvPr/>
        </p:nvSpPr>
        <p:spPr>
          <a:xfrm>
            <a:off x="411480" y="6446520"/>
            <a:ext cx="5486400" cy="274320"/>
          </a:xfrm>
          <a:prstGeom prst="rect">
            <a:avLst/>
          </a:prstGeom>
          <a:noFill/>
        </p:spPr>
        <p:txBody>
          <a:bodyPr wrap="square" anchor="t">
            <a:normAutofit/>
          </a:bodyPr>
          <a:lstStyle/>
          <a:p>
            <a:pPr algn="l"/>
            <a:r>
              <a:rPr sz="800" b="0" i="0">
                <a:solidFill>
                  <a:srgbClr val="7A7A7A"/>
                </a:solidFill>
                <a:latin typeface="Arial"/>
              </a:rPr>
              <a:t>CUSHMAN &amp; WAKEFIELD  |  CORUM A.M.  ·  WESTGATE I</a:t>
            </a:r>
          </a:p>
        </p:txBody>
      </p:sp>
      <p:sp>
        <p:nvSpPr>
          <p:cNvPr id="6" name="TextBox 5"/>
          <p:cNvSpPr txBox="1"/>
          <p:nvPr/>
        </p:nvSpPr>
        <p:spPr>
          <a:xfrm>
            <a:off x="11475720" y="6446520"/>
            <a:ext cx="502920" cy="274320"/>
          </a:xfrm>
          <a:prstGeom prst="rect">
            <a:avLst/>
          </a:prstGeom>
          <a:noFill/>
        </p:spPr>
        <p:txBody>
          <a:bodyPr wrap="square" anchor="t">
            <a:normAutofit/>
          </a:bodyPr>
          <a:lstStyle/>
          <a:p>
            <a:pPr algn="r"/>
            <a:r>
              <a:rPr sz="1000" b="0" i="0">
                <a:solidFill>
                  <a:srgbClr val="7A7A7A"/>
                </a:solidFill>
                <a:latin typeface="Arial"/>
              </a:rPr>
              <a:t>18</a:t>
            </a:r>
          </a:p>
        </p:txBody>
      </p:sp>
      <p:sp>
        <p:nvSpPr>
          <p:cNvPr id="7" name="Rounded Rectangle 6"/>
          <p:cNvSpPr/>
          <p:nvPr/>
        </p:nvSpPr>
        <p:spPr>
          <a:xfrm>
            <a:off x="7726679" y="6419088"/>
            <a:ext cx="3657600" cy="292608"/>
          </a:xfrm>
          <a:prstGeom prst="roundRect">
            <a:avLst/>
          </a:prstGeom>
          <a:solidFill>
            <a:srgbClr val="C3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26679" y="6455664"/>
            <a:ext cx="3657600" cy="237744"/>
          </a:xfrm>
          <a:prstGeom prst="rect">
            <a:avLst/>
          </a:prstGeom>
          <a:noFill/>
        </p:spPr>
        <p:txBody>
          <a:bodyPr wrap="square" anchor="t">
            <a:normAutofit/>
          </a:bodyPr>
          <a:lstStyle/>
          <a:p>
            <a:pPr algn="ctr"/>
            <a:r>
              <a:rPr sz="800" b="1" i="0">
                <a:solidFill>
                  <a:srgbClr val="FFFFFF"/>
                </a:solidFill>
                <a:latin typeface="Arial"/>
              </a:rPr>
              <a:t>CORUM DECIDES  ·  C&amp;W DELIVERS  ·  PwC ALIGNED</a:t>
            </a:r>
          </a:p>
        </p:txBody>
      </p:sp>
      <p:sp>
        <p:nvSpPr>
          <p:cNvPr id="9" name="TextBox 8"/>
          <p:cNvSpPr txBox="1"/>
          <p:nvPr/>
        </p:nvSpPr>
        <p:spPr>
          <a:xfrm>
            <a:off x="411480" y="1737360"/>
            <a:ext cx="4937760" cy="4023360"/>
          </a:xfrm>
          <a:prstGeom prst="rect">
            <a:avLst/>
          </a:prstGeom>
          <a:noFill/>
        </p:spPr>
        <p:txBody>
          <a:bodyPr wrap="square" anchor="t">
            <a:normAutofit/>
          </a:bodyPr>
          <a:lstStyle/>
          <a:p>
            <a:pPr algn="l">
              <a:spcAft>
                <a:spcPts val="300"/>
              </a:spcAft>
            </a:pPr>
            <a:r>
              <a:rPr sz="1150" b="0" i="0">
                <a:solidFill>
                  <a:srgbClr val="1C1C1C"/>
                </a:solidFill>
                <a:latin typeface="Arial"/>
              </a:rPr>
              <a:t>Corum steers the asset from a distance. Our reporting is built for exactly that: one concise monthly report that tells you everything you need — and nothing you don't.</a:t>
            </a:r>
          </a:p>
          <a:p>
            <a:pPr algn="l">
              <a:spcAft>
                <a:spcPts val="300"/>
              </a:spcAft>
            </a:pPr>
            <a:r>
              <a:rPr sz="1150" b="0" i="0">
                <a:solidFill>
                  <a:srgbClr val="1C1C1C"/>
                </a:solidFill>
                <a:latin typeface="Arial"/>
              </a:rPr>
              <a:t/>
            </a:r>
          </a:p>
          <a:p>
            <a:pPr algn="l">
              <a:spcAft>
                <a:spcPts val="300"/>
              </a:spcAft>
            </a:pPr>
            <a:r>
              <a:rPr sz="1150" b="0" i="0">
                <a:solidFill>
                  <a:srgbClr val="1C1C1C"/>
                </a:solidFill>
                <a:latin typeface="Arial"/>
              </a:rPr>
              <a:t>Every report answers four questions:</a:t>
            </a:r>
          </a:p>
          <a:p>
            <a:pPr algn="l">
              <a:spcAft>
                <a:spcPts val="300"/>
              </a:spcAft>
            </a:pPr>
            <a:r>
              <a:rPr sz="1150" b="0" i="0">
                <a:solidFill>
                  <a:srgbClr val="1C1C1C"/>
                </a:solidFill>
                <a:latin typeface="Arial"/>
              </a:rPr>
              <a:t/>
            </a:r>
          </a:p>
          <a:p>
            <a:pPr algn="l">
              <a:spcAft>
                <a:spcPts val="300"/>
              </a:spcAft>
            </a:pPr>
            <a:r>
              <a:rPr sz="1150" b="0" i="0">
                <a:solidFill>
                  <a:srgbClr val="1C1C1C"/>
                </a:solidFill>
                <a:latin typeface="Arial"/>
              </a:rPr>
              <a:t>•  Are we on schedule?</a:t>
            </a:r>
          </a:p>
          <a:p>
            <a:pPr algn="l">
              <a:spcAft>
                <a:spcPts val="300"/>
              </a:spcAft>
            </a:pPr>
            <a:r>
              <a:rPr sz="1150" b="0" i="0">
                <a:solidFill>
                  <a:srgbClr val="1C1C1C"/>
                </a:solidFill>
                <a:latin typeface="Arial"/>
              </a:rPr>
              <a:t>•  Are we on budget?</a:t>
            </a:r>
          </a:p>
          <a:p>
            <a:pPr algn="l">
              <a:spcAft>
                <a:spcPts val="300"/>
              </a:spcAft>
            </a:pPr>
            <a:r>
              <a:rPr sz="1150" b="0" i="0">
                <a:solidFill>
                  <a:srgbClr val="1C1C1C"/>
                </a:solidFill>
                <a:latin typeface="Arial"/>
              </a:rPr>
              <a:t>•  Is PwC satisfied?</a:t>
            </a:r>
          </a:p>
          <a:p>
            <a:pPr algn="l">
              <a:spcAft>
                <a:spcPts val="300"/>
              </a:spcAft>
            </a:pPr>
            <a:r>
              <a:rPr sz="1150" b="0" i="0">
                <a:solidFill>
                  <a:srgbClr val="1C1C1C"/>
                </a:solidFill>
                <a:latin typeface="Arial"/>
              </a:rPr>
              <a:t>•  What decisions do you need to make next?</a:t>
            </a:r>
          </a:p>
          <a:p>
            <a:pPr algn="l">
              <a:spcAft>
                <a:spcPts val="300"/>
              </a:spcAft>
            </a:pPr>
            <a:r>
              <a:rPr sz="1150" b="0" i="0">
                <a:solidFill>
                  <a:srgbClr val="1C1C1C"/>
                </a:solidFill>
                <a:latin typeface="Arial"/>
              </a:rPr>
              <a:t/>
            </a:r>
          </a:p>
          <a:p>
            <a:pPr algn="l">
              <a:spcAft>
                <a:spcPts val="300"/>
              </a:spcAft>
            </a:pPr>
            <a:r>
              <a:rPr sz="1150" b="0" i="0">
                <a:solidFill>
                  <a:srgbClr val="1C1C1C"/>
                </a:solidFill>
                <a:latin typeface="Arial"/>
              </a:rPr>
              <a:t>Detail sits in the appendix. Decisions come to you already prepared, with a recommendation.</a:t>
            </a:r>
          </a:p>
        </p:txBody>
      </p:sp>
      <p:sp>
        <p:nvSpPr>
          <p:cNvPr id="10" name="Rectangle 9"/>
          <p:cNvSpPr/>
          <p:nvPr/>
        </p:nvSpPr>
        <p:spPr>
          <a:xfrm>
            <a:off x="5577840" y="1737360"/>
            <a:ext cx="6172200" cy="4114800"/>
          </a:xfrm>
          <a:prstGeom prst="rect">
            <a:avLst/>
          </a:prstGeom>
          <a:solidFill>
            <a:srgbClr val="FFFFFF"/>
          </a:solidFill>
          <a:ln w="6350">
            <a:solidFill>
              <a:srgbClr val="E2E2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760720" y="1874519"/>
            <a:ext cx="5852160" cy="365760"/>
          </a:xfrm>
          <a:prstGeom prst="rect">
            <a:avLst/>
          </a:prstGeom>
          <a:noFill/>
        </p:spPr>
        <p:txBody>
          <a:bodyPr wrap="square" anchor="t">
            <a:normAutofit/>
          </a:bodyPr>
          <a:lstStyle/>
          <a:p>
            <a:pPr algn="l"/>
            <a:r>
              <a:rPr sz="1100" b="1" i="0">
                <a:solidFill>
                  <a:srgbClr val="C3002B"/>
                </a:solidFill>
                <a:latin typeface="Arial"/>
              </a:rPr>
              <a:t>MONTHLY ONE-PAGE REPORT  [ dashboard mock-up ]</a:t>
            </a:r>
          </a:p>
        </p:txBody>
      </p:sp>
      <p:sp>
        <p:nvSpPr>
          <p:cNvPr id="12" name="Rectangle 11"/>
          <p:cNvSpPr/>
          <p:nvPr/>
        </p:nvSpPr>
        <p:spPr>
          <a:xfrm>
            <a:off x="5760720" y="2377440"/>
            <a:ext cx="1828800" cy="1371600"/>
          </a:xfrm>
          <a:prstGeom prst="rect">
            <a:avLst/>
          </a:prstGeom>
          <a:solidFill>
            <a:srgbClr val="F3F3F3"/>
          </a:solidFill>
          <a:ln w="6350">
            <a:solidFill>
              <a:srgbClr val="E2E2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870448" y="2487168"/>
            <a:ext cx="1645920" cy="365760"/>
          </a:xfrm>
          <a:prstGeom prst="rect">
            <a:avLst/>
          </a:prstGeom>
          <a:noFill/>
        </p:spPr>
        <p:txBody>
          <a:bodyPr wrap="square" anchor="t">
            <a:normAutofit/>
          </a:bodyPr>
          <a:lstStyle/>
          <a:p>
            <a:pPr algn="l"/>
            <a:r>
              <a:rPr sz="1000" b="1" i="0">
                <a:solidFill>
                  <a:srgbClr val="1C1C1C"/>
                </a:solidFill>
                <a:latin typeface="Arial"/>
              </a:rPr>
              <a:t>SCHEDULE</a:t>
            </a:r>
          </a:p>
        </p:txBody>
      </p:sp>
      <p:sp>
        <p:nvSpPr>
          <p:cNvPr id="14" name="TextBox 13"/>
          <p:cNvSpPr txBox="1"/>
          <p:nvPr/>
        </p:nvSpPr>
        <p:spPr>
          <a:xfrm>
            <a:off x="5870448" y="2880360"/>
            <a:ext cx="1645920" cy="457200"/>
          </a:xfrm>
          <a:prstGeom prst="rect">
            <a:avLst/>
          </a:prstGeom>
          <a:noFill/>
        </p:spPr>
        <p:txBody>
          <a:bodyPr wrap="square" anchor="t">
            <a:normAutofit/>
          </a:bodyPr>
          <a:lstStyle/>
          <a:p>
            <a:pPr algn="l"/>
            <a:r>
              <a:rPr sz="900" b="0" i="0">
                <a:solidFill>
                  <a:srgbClr val="7A7A7A"/>
                </a:solidFill>
                <a:latin typeface="Arial"/>
              </a:rPr>
              <a:t>on track / at risk</a:t>
            </a:r>
          </a:p>
        </p:txBody>
      </p:sp>
      <p:sp>
        <p:nvSpPr>
          <p:cNvPr id="15" name="TextBox 14"/>
          <p:cNvSpPr txBox="1"/>
          <p:nvPr/>
        </p:nvSpPr>
        <p:spPr>
          <a:xfrm>
            <a:off x="5870448" y="3337560"/>
            <a:ext cx="1645920" cy="320040"/>
          </a:xfrm>
          <a:prstGeom prst="rect">
            <a:avLst/>
          </a:prstGeom>
          <a:noFill/>
        </p:spPr>
        <p:txBody>
          <a:bodyPr wrap="square" anchor="t">
            <a:normAutofit/>
          </a:bodyPr>
          <a:lstStyle/>
          <a:p>
            <a:pPr algn="l"/>
            <a:r>
              <a:rPr sz="1200" b="1" i="0">
                <a:solidFill>
                  <a:srgbClr val="C3002B"/>
                </a:solidFill>
                <a:latin typeface="Arial"/>
              </a:rPr>
              <a:t>[ ● ]</a:t>
            </a:r>
          </a:p>
        </p:txBody>
      </p:sp>
      <p:sp>
        <p:nvSpPr>
          <p:cNvPr id="16" name="Rectangle 15"/>
          <p:cNvSpPr/>
          <p:nvPr/>
        </p:nvSpPr>
        <p:spPr>
          <a:xfrm>
            <a:off x="7726680" y="2377440"/>
            <a:ext cx="1828800" cy="1371600"/>
          </a:xfrm>
          <a:prstGeom prst="rect">
            <a:avLst/>
          </a:prstGeom>
          <a:solidFill>
            <a:srgbClr val="F3F3F3"/>
          </a:solidFill>
          <a:ln w="6350">
            <a:solidFill>
              <a:srgbClr val="E2E2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836408" y="2487168"/>
            <a:ext cx="1645920" cy="365760"/>
          </a:xfrm>
          <a:prstGeom prst="rect">
            <a:avLst/>
          </a:prstGeom>
          <a:noFill/>
        </p:spPr>
        <p:txBody>
          <a:bodyPr wrap="square" anchor="t">
            <a:normAutofit/>
          </a:bodyPr>
          <a:lstStyle/>
          <a:p>
            <a:pPr algn="l"/>
            <a:r>
              <a:rPr sz="1000" b="1" i="0">
                <a:solidFill>
                  <a:srgbClr val="1C1C1C"/>
                </a:solidFill>
                <a:latin typeface="Arial"/>
              </a:rPr>
              <a:t>BUDGET</a:t>
            </a:r>
          </a:p>
        </p:txBody>
      </p:sp>
      <p:sp>
        <p:nvSpPr>
          <p:cNvPr id="18" name="TextBox 17"/>
          <p:cNvSpPr txBox="1"/>
          <p:nvPr/>
        </p:nvSpPr>
        <p:spPr>
          <a:xfrm>
            <a:off x="7836408" y="2880360"/>
            <a:ext cx="1645920" cy="457200"/>
          </a:xfrm>
          <a:prstGeom prst="rect">
            <a:avLst/>
          </a:prstGeom>
          <a:noFill/>
        </p:spPr>
        <p:txBody>
          <a:bodyPr wrap="square" anchor="t">
            <a:normAutofit/>
          </a:bodyPr>
          <a:lstStyle/>
          <a:p>
            <a:pPr algn="l"/>
            <a:r>
              <a:rPr sz="900" b="0" i="0">
                <a:solidFill>
                  <a:srgbClr val="7A7A7A"/>
                </a:solidFill>
                <a:latin typeface="Arial"/>
              </a:rPr>
              <a:t>forecast vs. fixed</a:t>
            </a:r>
          </a:p>
        </p:txBody>
      </p:sp>
      <p:sp>
        <p:nvSpPr>
          <p:cNvPr id="19" name="TextBox 18"/>
          <p:cNvSpPr txBox="1"/>
          <p:nvPr/>
        </p:nvSpPr>
        <p:spPr>
          <a:xfrm>
            <a:off x="7836408" y="3337560"/>
            <a:ext cx="1645920" cy="320040"/>
          </a:xfrm>
          <a:prstGeom prst="rect">
            <a:avLst/>
          </a:prstGeom>
          <a:noFill/>
        </p:spPr>
        <p:txBody>
          <a:bodyPr wrap="square" anchor="t">
            <a:normAutofit/>
          </a:bodyPr>
          <a:lstStyle/>
          <a:p>
            <a:pPr algn="l"/>
            <a:r>
              <a:rPr sz="1200" b="1" i="0">
                <a:solidFill>
                  <a:srgbClr val="C3002B"/>
                </a:solidFill>
                <a:latin typeface="Arial"/>
              </a:rPr>
              <a:t>[ ● ]</a:t>
            </a:r>
          </a:p>
        </p:txBody>
      </p:sp>
      <p:sp>
        <p:nvSpPr>
          <p:cNvPr id="20" name="Rectangle 19"/>
          <p:cNvSpPr/>
          <p:nvPr/>
        </p:nvSpPr>
        <p:spPr>
          <a:xfrm>
            <a:off x="9692640" y="2377440"/>
            <a:ext cx="1828800" cy="1371600"/>
          </a:xfrm>
          <a:prstGeom prst="rect">
            <a:avLst/>
          </a:prstGeom>
          <a:solidFill>
            <a:srgbClr val="F3F3F3"/>
          </a:solidFill>
          <a:ln w="6350">
            <a:solidFill>
              <a:srgbClr val="E2E2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802368" y="2487168"/>
            <a:ext cx="1645920" cy="365760"/>
          </a:xfrm>
          <a:prstGeom prst="rect">
            <a:avLst/>
          </a:prstGeom>
          <a:noFill/>
        </p:spPr>
        <p:txBody>
          <a:bodyPr wrap="square" anchor="t">
            <a:normAutofit/>
          </a:bodyPr>
          <a:lstStyle/>
          <a:p>
            <a:pPr algn="l"/>
            <a:r>
              <a:rPr sz="1000" b="1" i="0">
                <a:solidFill>
                  <a:srgbClr val="1C1C1C"/>
                </a:solidFill>
                <a:latin typeface="Arial"/>
              </a:rPr>
              <a:t>TENANT (PwC)</a:t>
            </a:r>
          </a:p>
        </p:txBody>
      </p:sp>
      <p:sp>
        <p:nvSpPr>
          <p:cNvPr id="22" name="TextBox 21"/>
          <p:cNvSpPr txBox="1"/>
          <p:nvPr/>
        </p:nvSpPr>
        <p:spPr>
          <a:xfrm>
            <a:off x="9802368" y="2880360"/>
            <a:ext cx="1645920" cy="457200"/>
          </a:xfrm>
          <a:prstGeom prst="rect">
            <a:avLst/>
          </a:prstGeom>
          <a:noFill/>
        </p:spPr>
        <p:txBody>
          <a:bodyPr wrap="square" anchor="t">
            <a:normAutofit/>
          </a:bodyPr>
          <a:lstStyle/>
          <a:p>
            <a:pPr algn="l"/>
            <a:r>
              <a:rPr sz="900" b="0" i="0">
                <a:solidFill>
                  <a:srgbClr val="7A7A7A"/>
                </a:solidFill>
                <a:latin typeface="Arial"/>
              </a:rPr>
              <a:t>satisfaction &amp; issues</a:t>
            </a:r>
          </a:p>
        </p:txBody>
      </p:sp>
      <p:sp>
        <p:nvSpPr>
          <p:cNvPr id="23" name="TextBox 22"/>
          <p:cNvSpPr txBox="1"/>
          <p:nvPr/>
        </p:nvSpPr>
        <p:spPr>
          <a:xfrm>
            <a:off x="9802368" y="3337560"/>
            <a:ext cx="1645920" cy="320040"/>
          </a:xfrm>
          <a:prstGeom prst="rect">
            <a:avLst/>
          </a:prstGeom>
          <a:noFill/>
        </p:spPr>
        <p:txBody>
          <a:bodyPr wrap="square" anchor="t">
            <a:normAutofit/>
          </a:bodyPr>
          <a:lstStyle/>
          <a:p>
            <a:pPr algn="l"/>
            <a:r>
              <a:rPr sz="1200" b="1" i="0">
                <a:solidFill>
                  <a:srgbClr val="C3002B"/>
                </a:solidFill>
                <a:latin typeface="Arial"/>
              </a:rPr>
              <a:t>[ ● ]</a:t>
            </a:r>
          </a:p>
        </p:txBody>
      </p:sp>
      <p:sp>
        <p:nvSpPr>
          <p:cNvPr id="24" name="Rectangle 23"/>
          <p:cNvSpPr/>
          <p:nvPr/>
        </p:nvSpPr>
        <p:spPr>
          <a:xfrm>
            <a:off x="5760720" y="3931920"/>
            <a:ext cx="1828800" cy="1371600"/>
          </a:xfrm>
          <a:prstGeom prst="rect">
            <a:avLst/>
          </a:prstGeom>
          <a:solidFill>
            <a:srgbClr val="F3F3F3"/>
          </a:solidFill>
          <a:ln w="6350">
            <a:solidFill>
              <a:srgbClr val="E2E2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870448" y="4041648"/>
            <a:ext cx="1645920" cy="365760"/>
          </a:xfrm>
          <a:prstGeom prst="rect">
            <a:avLst/>
          </a:prstGeom>
          <a:noFill/>
        </p:spPr>
        <p:txBody>
          <a:bodyPr wrap="square" anchor="t">
            <a:normAutofit/>
          </a:bodyPr>
          <a:lstStyle/>
          <a:p>
            <a:pPr algn="l"/>
            <a:r>
              <a:rPr sz="1000" b="1" i="0">
                <a:solidFill>
                  <a:srgbClr val="1C1C1C"/>
                </a:solidFill>
                <a:latin typeface="Arial"/>
              </a:rPr>
              <a:t>RISK</a:t>
            </a:r>
          </a:p>
        </p:txBody>
      </p:sp>
      <p:sp>
        <p:nvSpPr>
          <p:cNvPr id="26" name="TextBox 25"/>
          <p:cNvSpPr txBox="1"/>
          <p:nvPr/>
        </p:nvSpPr>
        <p:spPr>
          <a:xfrm>
            <a:off x="5870448" y="4434840"/>
            <a:ext cx="1645920" cy="457200"/>
          </a:xfrm>
          <a:prstGeom prst="rect">
            <a:avLst/>
          </a:prstGeom>
          <a:noFill/>
        </p:spPr>
        <p:txBody>
          <a:bodyPr wrap="square" anchor="t">
            <a:normAutofit/>
          </a:bodyPr>
          <a:lstStyle/>
          <a:p>
            <a:pPr algn="l"/>
            <a:r>
              <a:rPr sz="900" b="0" i="0">
                <a:solidFill>
                  <a:srgbClr val="7A7A7A"/>
                </a:solidFill>
                <a:latin typeface="Arial"/>
              </a:rPr>
              <a:t>top items · RAG</a:t>
            </a:r>
          </a:p>
        </p:txBody>
      </p:sp>
      <p:sp>
        <p:nvSpPr>
          <p:cNvPr id="27" name="TextBox 26"/>
          <p:cNvSpPr txBox="1"/>
          <p:nvPr/>
        </p:nvSpPr>
        <p:spPr>
          <a:xfrm>
            <a:off x="5870448" y="4892040"/>
            <a:ext cx="1645920" cy="320040"/>
          </a:xfrm>
          <a:prstGeom prst="rect">
            <a:avLst/>
          </a:prstGeom>
          <a:noFill/>
        </p:spPr>
        <p:txBody>
          <a:bodyPr wrap="square" anchor="t">
            <a:normAutofit/>
          </a:bodyPr>
          <a:lstStyle/>
          <a:p>
            <a:pPr algn="l"/>
            <a:r>
              <a:rPr sz="1200" b="1" i="0">
                <a:solidFill>
                  <a:srgbClr val="C3002B"/>
                </a:solidFill>
                <a:latin typeface="Arial"/>
              </a:rPr>
              <a:t>[ ● ]</a:t>
            </a:r>
          </a:p>
        </p:txBody>
      </p:sp>
      <p:sp>
        <p:nvSpPr>
          <p:cNvPr id="28" name="Rectangle 27"/>
          <p:cNvSpPr/>
          <p:nvPr/>
        </p:nvSpPr>
        <p:spPr>
          <a:xfrm>
            <a:off x="7726680" y="3931920"/>
            <a:ext cx="1828800" cy="1371600"/>
          </a:xfrm>
          <a:prstGeom prst="rect">
            <a:avLst/>
          </a:prstGeom>
          <a:solidFill>
            <a:srgbClr val="F3F3F3"/>
          </a:solidFill>
          <a:ln w="6350">
            <a:solidFill>
              <a:srgbClr val="E2E2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836408" y="4041648"/>
            <a:ext cx="1645920" cy="365760"/>
          </a:xfrm>
          <a:prstGeom prst="rect">
            <a:avLst/>
          </a:prstGeom>
          <a:noFill/>
        </p:spPr>
        <p:txBody>
          <a:bodyPr wrap="square" anchor="t">
            <a:normAutofit/>
          </a:bodyPr>
          <a:lstStyle/>
          <a:p>
            <a:pPr algn="l"/>
            <a:r>
              <a:rPr sz="1000" b="1" i="0">
                <a:solidFill>
                  <a:srgbClr val="1C1C1C"/>
                </a:solidFill>
                <a:latin typeface="Arial"/>
              </a:rPr>
              <a:t>DECISIONS DUE</a:t>
            </a:r>
          </a:p>
        </p:txBody>
      </p:sp>
      <p:sp>
        <p:nvSpPr>
          <p:cNvPr id="30" name="TextBox 29"/>
          <p:cNvSpPr txBox="1"/>
          <p:nvPr/>
        </p:nvSpPr>
        <p:spPr>
          <a:xfrm>
            <a:off x="7836408" y="4434840"/>
            <a:ext cx="1645920" cy="457200"/>
          </a:xfrm>
          <a:prstGeom prst="rect">
            <a:avLst/>
          </a:prstGeom>
          <a:noFill/>
        </p:spPr>
        <p:txBody>
          <a:bodyPr wrap="square" anchor="t">
            <a:normAutofit/>
          </a:bodyPr>
          <a:lstStyle/>
          <a:p>
            <a:pPr algn="l"/>
            <a:r>
              <a:rPr sz="900" b="0" i="0">
                <a:solidFill>
                  <a:srgbClr val="7A7A7A"/>
                </a:solidFill>
                <a:latin typeface="Arial"/>
              </a:rPr>
              <a:t>prepared for Corum</a:t>
            </a:r>
          </a:p>
        </p:txBody>
      </p:sp>
      <p:sp>
        <p:nvSpPr>
          <p:cNvPr id="31" name="TextBox 30"/>
          <p:cNvSpPr txBox="1"/>
          <p:nvPr/>
        </p:nvSpPr>
        <p:spPr>
          <a:xfrm>
            <a:off x="7836408" y="4892040"/>
            <a:ext cx="1645920" cy="320040"/>
          </a:xfrm>
          <a:prstGeom prst="rect">
            <a:avLst/>
          </a:prstGeom>
          <a:noFill/>
        </p:spPr>
        <p:txBody>
          <a:bodyPr wrap="square" anchor="t">
            <a:normAutofit/>
          </a:bodyPr>
          <a:lstStyle/>
          <a:p>
            <a:pPr algn="l"/>
            <a:r>
              <a:rPr sz="1200" b="1" i="0">
                <a:solidFill>
                  <a:srgbClr val="C3002B"/>
                </a:solidFill>
                <a:latin typeface="Arial"/>
              </a:rPr>
              <a:t>[ ● ]</a:t>
            </a:r>
          </a:p>
        </p:txBody>
      </p:sp>
      <p:sp>
        <p:nvSpPr>
          <p:cNvPr id="32" name="Rectangle 31"/>
          <p:cNvSpPr/>
          <p:nvPr/>
        </p:nvSpPr>
        <p:spPr>
          <a:xfrm>
            <a:off x="9692640" y="3931920"/>
            <a:ext cx="1828800" cy="1371600"/>
          </a:xfrm>
          <a:prstGeom prst="rect">
            <a:avLst/>
          </a:prstGeom>
          <a:solidFill>
            <a:srgbClr val="F3F3F3"/>
          </a:solidFill>
          <a:ln w="6350">
            <a:solidFill>
              <a:srgbClr val="E2E2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802368" y="4041648"/>
            <a:ext cx="1645920" cy="365760"/>
          </a:xfrm>
          <a:prstGeom prst="rect">
            <a:avLst/>
          </a:prstGeom>
          <a:noFill/>
        </p:spPr>
        <p:txBody>
          <a:bodyPr wrap="square" anchor="t">
            <a:normAutofit/>
          </a:bodyPr>
          <a:lstStyle/>
          <a:p>
            <a:pPr algn="l"/>
            <a:r>
              <a:rPr sz="1000" b="1" i="0">
                <a:solidFill>
                  <a:srgbClr val="1C1C1C"/>
                </a:solidFill>
                <a:latin typeface="Arial"/>
              </a:rPr>
              <a:t>PROGRESS</a:t>
            </a:r>
          </a:p>
        </p:txBody>
      </p:sp>
      <p:sp>
        <p:nvSpPr>
          <p:cNvPr id="34" name="TextBox 33"/>
          <p:cNvSpPr txBox="1"/>
          <p:nvPr/>
        </p:nvSpPr>
        <p:spPr>
          <a:xfrm>
            <a:off x="9802368" y="4434840"/>
            <a:ext cx="1645920" cy="457200"/>
          </a:xfrm>
          <a:prstGeom prst="rect">
            <a:avLst/>
          </a:prstGeom>
          <a:noFill/>
        </p:spPr>
        <p:txBody>
          <a:bodyPr wrap="square" anchor="t">
            <a:normAutofit/>
          </a:bodyPr>
          <a:lstStyle/>
          <a:p>
            <a:pPr algn="l"/>
            <a:r>
              <a:rPr sz="900" b="0" i="0">
                <a:solidFill>
                  <a:srgbClr val="7A7A7A"/>
                </a:solidFill>
                <a:latin typeface="Arial"/>
              </a:rPr>
              <a:t>floors complete</a:t>
            </a:r>
          </a:p>
        </p:txBody>
      </p:sp>
      <p:sp>
        <p:nvSpPr>
          <p:cNvPr id="35" name="TextBox 34"/>
          <p:cNvSpPr txBox="1"/>
          <p:nvPr/>
        </p:nvSpPr>
        <p:spPr>
          <a:xfrm>
            <a:off x="9802368" y="4892040"/>
            <a:ext cx="1645920" cy="320040"/>
          </a:xfrm>
          <a:prstGeom prst="rect">
            <a:avLst/>
          </a:prstGeom>
          <a:noFill/>
        </p:spPr>
        <p:txBody>
          <a:bodyPr wrap="square" anchor="t">
            <a:normAutofit/>
          </a:bodyPr>
          <a:lstStyle/>
          <a:p>
            <a:pPr algn="l"/>
            <a:r>
              <a:rPr sz="1200" b="1" i="0">
                <a:solidFill>
                  <a:srgbClr val="C3002B"/>
                </a:solidFill>
                <a:latin typeface="Arial"/>
              </a:rPr>
              <a:t>[ ● ]</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4592" cy="6858000"/>
          </a:xfrm>
          <a:prstGeom prst="rect">
            <a:avLst/>
          </a:prstGeom>
          <a:solidFill>
            <a:srgbClr val="C3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219456"/>
            <a:ext cx="10058400" cy="274320"/>
          </a:xfrm>
          <a:prstGeom prst="rect">
            <a:avLst/>
          </a:prstGeom>
          <a:noFill/>
        </p:spPr>
        <p:txBody>
          <a:bodyPr wrap="square" anchor="t">
            <a:normAutofit/>
          </a:bodyPr>
          <a:lstStyle/>
          <a:p>
            <a:pPr algn="l"/>
            <a:r>
              <a:rPr sz="1000" b="1" i="0">
                <a:solidFill>
                  <a:srgbClr val="C3002B"/>
                </a:solidFill>
                <a:latin typeface="Arial"/>
              </a:rPr>
              <a:t>04 — HOW WE STAY IN CONTROL  ·  RISK</a:t>
            </a:r>
          </a:p>
        </p:txBody>
      </p:sp>
      <p:sp>
        <p:nvSpPr>
          <p:cNvPr id="4" name="TextBox 3"/>
          <p:cNvSpPr txBox="1"/>
          <p:nvPr/>
        </p:nvSpPr>
        <p:spPr>
          <a:xfrm>
            <a:off x="411480" y="457200"/>
            <a:ext cx="11155680" cy="868680"/>
          </a:xfrm>
          <a:prstGeom prst="rect">
            <a:avLst/>
          </a:prstGeom>
          <a:noFill/>
        </p:spPr>
        <p:txBody>
          <a:bodyPr wrap="square" anchor="t">
            <a:normAutofit/>
          </a:bodyPr>
          <a:lstStyle/>
          <a:p>
            <a:pPr algn="l"/>
            <a:r>
              <a:rPr sz="2300" b="1" i="0">
                <a:solidFill>
                  <a:srgbClr val="1C1C1C"/>
                </a:solidFill>
                <a:latin typeface="Arial"/>
              </a:rPr>
              <a:t>We manage risk as asset-value protection — not as paperwork</a:t>
            </a:r>
          </a:p>
        </p:txBody>
      </p:sp>
      <p:sp>
        <p:nvSpPr>
          <p:cNvPr id="5" name="TextBox 4"/>
          <p:cNvSpPr txBox="1"/>
          <p:nvPr/>
        </p:nvSpPr>
        <p:spPr>
          <a:xfrm>
            <a:off x="411480" y="6446520"/>
            <a:ext cx="5486400" cy="274320"/>
          </a:xfrm>
          <a:prstGeom prst="rect">
            <a:avLst/>
          </a:prstGeom>
          <a:noFill/>
        </p:spPr>
        <p:txBody>
          <a:bodyPr wrap="square" anchor="t">
            <a:normAutofit/>
          </a:bodyPr>
          <a:lstStyle/>
          <a:p>
            <a:pPr algn="l"/>
            <a:r>
              <a:rPr sz="800" b="0" i="0">
                <a:solidFill>
                  <a:srgbClr val="7A7A7A"/>
                </a:solidFill>
                <a:latin typeface="Arial"/>
              </a:rPr>
              <a:t>CUSHMAN &amp; WAKEFIELD  |  CORUM A.M.  ·  WESTGATE I</a:t>
            </a:r>
          </a:p>
        </p:txBody>
      </p:sp>
      <p:sp>
        <p:nvSpPr>
          <p:cNvPr id="6" name="TextBox 5"/>
          <p:cNvSpPr txBox="1"/>
          <p:nvPr/>
        </p:nvSpPr>
        <p:spPr>
          <a:xfrm>
            <a:off x="11475720" y="6446520"/>
            <a:ext cx="502920" cy="274320"/>
          </a:xfrm>
          <a:prstGeom prst="rect">
            <a:avLst/>
          </a:prstGeom>
          <a:noFill/>
        </p:spPr>
        <p:txBody>
          <a:bodyPr wrap="square" anchor="t">
            <a:normAutofit/>
          </a:bodyPr>
          <a:lstStyle/>
          <a:p>
            <a:pPr algn="r"/>
            <a:r>
              <a:rPr sz="1000" b="0" i="0">
                <a:solidFill>
                  <a:srgbClr val="7A7A7A"/>
                </a:solidFill>
                <a:latin typeface="Arial"/>
              </a:rPr>
              <a:t>19</a:t>
            </a:r>
          </a:p>
        </p:txBody>
      </p:sp>
      <p:sp>
        <p:nvSpPr>
          <p:cNvPr id="7" name="Rounded Rectangle 6"/>
          <p:cNvSpPr/>
          <p:nvPr/>
        </p:nvSpPr>
        <p:spPr>
          <a:xfrm>
            <a:off x="7726679" y="6419088"/>
            <a:ext cx="3657600" cy="292608"/>
          </a:xfrm>
          <a:prstGeom prst="roundRect">
            <a:avLst/>
          </a:prstGeom>
          <a:solidFill>
            <a:srgbClr val="C3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26679" y="6455664"/>
            <a:ext cx="3657600" cy="237744"/>
          </a:xfrm>
          <a:prstGeom prst="rect">
            <a:avLst/>
          </a:prstGeom>
          <a:noFill/>
        </p:spPr>
        <p:txBody>
          <a:bodyPr wrap="square" anchor="t">
            <a:normAutofit/>
          </a:bodyPr>
          <a:lstStyle/>
          <a:p>
            <a:pPr algn="ctr"/>
            <a:r>
              <a:rPr sz="800" b="1" i="0">
                <a:solidFill>
                  <a:srgbClr val="FFFFFF"/>
                </a:solidFill>
                <a:latin typeface="Arial"/>
              </a:rPr>
              <a:t>CORUM DECIDES  ·  C&amp;W DELIVERS  ·  PwC ALIGNED</a:t>
            </a:r>
          </a:p>
        </p:txBody>
      </p:sp>
      <p:sp>
        <p:nvSpPr>
          <p:cNvPr id="9" name="TextBox 8"/>
          <p:cNvSpPr txBox="1"/>
          <p:nvPr/>
        </p:nvSpPr>
        <p:spPr>
          <a:xfrm>
            <a:off x="411480" y="1600200"/>
            <a:ext cx="11247120" cy="502920"/>
          </a:xfrm>
          <a:prstGeom prst="rect">
            <a:avLst/>
          </a:prstGeom>
          <a:noFill/>
        </p:spPr>
        <p:txBody>
          <a:bodyPr wrap="square" anchor="t">
            <a:normAutofit/>
          </a:bodyPr>
          <a:lstStyle/>
          <a:p>
            <a:pPr algn="l"/>
            <a:r>
              <a:rPr sz="1100" b="0" i="0">
                <a:solidFill>
                  <a:srgbClr val="1C1C1C"/>
                </a:solidFill>
                <a:latin typeface="Arial"/>
              </a:rPr>
              <a:t>A live Risk Register from day one: risks identified early, ownership assigned, mitigation agreed. Each risk is framed by what it threatens — the tenant, the budget or the deadline — the three things that drive Corum's return.</a:t>
            </a:r>
          </a:p>
        </p:txBody>
      </p:sp>
      <p:sp>
        <p:nvSpPr>
          <p:cNvPr id="10" name="Rectangle 9"/>
          <p:cNvSpPr/>
          <p:nvPr/>
        </p:nvSpPr>
        <p:spPr>
          <a:xfrm>
            <a:off x="411480" y="2194560"/>
            <a:ext cx="457200" cy="365760"/>
          </a:xfrm>
          <a:prstGeom prst="rect">
            <a:avLst/>
          </a:prstGeom>
          <a:solidFill>
            <a:srgbClr val="1C1C1C"/>
          </a:solidFill>
          <a:ln w="6350">
            <a:solidFill>
              <a:srgbClr val="E2E2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 y="2240280"/>
            <a:ext cx="365760" cy="274320"/>
          </a:xfrm>
          <a:prstGeom prst="rect">
            <a:avLst/>
          </a:prstGeom>
          <a:noFill/>
        </p:spPr>
        <p:txBody>
          <a:bodyPr wrap="square" anchor="t">
            <a:normAutofit/>
          </a:bodyPr>
          <a:lstStyle/>
          <a:p>
            <a:pPr algn="l"/>
            <a:r>
              <a:rPr sz="900" b="1" i="0">
                <a:solidFill>
                  <a:srgbClr val="FFFFFF"/>
                </a:solidFill>
                <a:latin typeface="Arial"/>
              </a:rPr>
              <a:t>#</a:t>
            </a:r>
          </a:p>
        </p:txBody>
      </p:sp>
      <p:sp>
        <p:nvSpPr>
          <p:cNvPr id="12" name="Rectangle 11"/>
          <p:cNvSpPr/>
          <p:nvPr/>
        </p:nvSpPr>
        <p:spPr>
          <a:xfrm>
            <a:off x="868680" y="2194560"/>
            <a:ext cx="3383280" cy="365760"/>
          </a:xfrm>
          <a:prstGeom prst="rect">
            <a:avLst/>
          </a:prstGeom>
          <a:solidFill>
            <a:srgbClr val="1C1C1C"/>
          </a:solidFill>
          <a:ln w="6350">
            <a:solidFill>
              <a:srgbClr val="E2E2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4400" y="2240280"/>
            <a:ext cx="3291840" cy="274320"/>
          </a:xfrm>
          <a:prstGeom prst="rect">
            <a:avLst/>
          </a:prstGeom>
          <a:noFill/>
        </p:spPr>
        <p:txBody>
          <a:bodyPr wrap="square" anchor="t">
            <a:normAutofit/>
          </a:bodyPr>
          <a:lstStyle/>
          <a:p>
            <a:pPr algn="l"/>
            <a:r>
              <a:rPr sz="900" b="1" i="0">
                <a:solidFill>
                  <a:srgbClr val="FFFFFF"/>
                </a:solidFill>
                <a:latin typeface="Arial"/>
              </a:rPr>
              <a:t>RISK</a:t>
            </a:r>
          </a:p>
        </p:txBody>
      </p:sp>
      <p:sp>
        <p:nvSpPr>
          <p:cNvPr id="14" name="Rectangle 13"/>
          <p:cNvSpPr/>
          <p:nvPr/>
        </p:nvSpPr>
        <p:spPr>
          <a:xfrm>
            <a:off x="4251960" y="2194560"/>
            <a:ext cx="1371600" cy="365760"/>
          </a:xfrm>
          <a:prstGeom prst="rect">
            <a:avLst/>
          </a:prstGeom>
          <a:solidFill>
            <a:srgbClr val="1C1C1C"/>
          </a:solidFill>
          <a:ln w="6350">
            <a:solidFill>
              <a:srgbClr val="E2E2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297680" y="2240280"/>
            <a:ext cx="1280160" cy="274320"/>
          </a:xfrm>
          <a:prstGeom prst="rect">
            <a:avLst/>
          </a:prstGeom>
          <a:noFill/>
        </p:spPr>
        <p:txBody>
          <a:bodyPr wrap="square" anchor="t">
            <a:normAutofit/>
          </a:bodyPr>
          <a:lstStyle/>
          <a:p>
            <a:pPr algn="l"/>
            <a:r>
              <a:rPr sz="900" b="1" i="0">
                <a:solidFill>
                  <a:srgbClr val="FFFFFF"/>
                </a:solidFill>
                <a:latin typeface="Arial"/>
              </a:rPr>
              <a:t>THREATENS</a:t>
            </a:r>
          </a:p>
        </p:txBody>
      </p:sp>
      <p:sp>
        <p:nvSpPr>
          <p:cNvPr id="16" name="Rectangle 15"/>
          <p:cNvSpPr/>
          <p:nvPr/>
        </p:nvSpPr>
        <p:spPr>
          <a:xfrm>
            <a:off x="5623560" y="2194560"/>
            <a:ext cx="4206240" cy="365760"/>
          </a:xfrm>
          <a:prstGeom prst="rect">
            <a:avLst/>
          </a:prstGeom>
          <a:solidFill>
            <a:srgbClr val="1C1C1C"/>
          </a:solidFill>
          <a:ln w="6350">
            <a:solidFill>
              <a:srgbClr val="E2E2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669280" y="2240280"/>
            <a:ext cx="4114800" cy="274320"/>
          </a:xfrm>
          <a:prstGeom prst="rect">
            <a:avLst/>
          </a:prstGeom>
          <a:noFill/>
        </p:spPr>
        <p:txBody>
          <a:bodyPr wrap="square" anchor="t">
            <a:normAutofit/>
          </a:bodyPr>
          <a:lstStyle/>
          <a:p>
            <a:pPr algn="l"/>
            <a:r>
              <a:rPr sz="900" b="1" i="0">
                <a:solidFill>
                  <a:srgbClr val="FFFFFF"/>
                </a:solidFill>
                <a:latin typeface="Arial"/>
              </a:rPr>
              <a:t>MITIGATION</a:t>
            </a:r>
          </a:p>
        </p:txBody>
      </p:sp>
      <p:sp>
        <p:nvSpPr>
          <p:cNvPr id="18" name="Rectangle 17"/>
          <p:cNvSpPr/>
          <p:nvPr/>
        </p:nvSpPr>
        <p:spPr>
          <a:xfrm>
            <a:off x="9829800" y="2194560"/>
            <a:ext cx="1005840" cy="365760"/>
          </a:xfrm>
          <a:prstGeom prst="rect">
            <a:avLst/>
          </a:prstGeom>
          <a:solidFill>
            <a:srgbClr val="1C1C1C"/>
          </a:solidFill>
          <a:ln w="6350">
            <a:solidFill>
              <a:srgbClr val="E2E2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875520" y="2240280"/>
            <a:ext cx="914400" cy="274320"/>
          </a:xfrm>
          <a:prstGeom prst="rect">
            <a:avLst/>
          </a:prstGeom>
          <a:noFill/>
        </p:spPr>
        <p:txBody>
          <a:bodyPr wrap="square" anchor="t">
            <a:normAutofit/>
          </a:bodyPr>
          <a:lstStyle/>
          <a:p>
            <a:pPr algn="l"/>
            <a:r>
              <a:rPr sz="900" b="1" i="0">
                <a:solidFill>
                  <a:srgbClr val="FFFFFF"/>
                </a:solidFill>
                <a:latin typeface="Arial"/>
              </a:rPr>
              <a:t>OWNER</a:t>
            </a:r>
          </a:p>
        </p:txBody>
      </p:sp>
      <p:sp>
        <p:nvSpPr>
          <p:cNvPr id="20" name="Rectangle 19"/>
          <p:cNvSpPr/>
          <p:nvPr/>
        </p:nvSpPr>
        <p:spPr>
          <a:xfrm>
            <a:off x="10835640" y="2194560"/>
            <a:ext cx="640080" cy="365760"/>
          </a:xfrm>
          <a:prstGeom prst="rect">
            <a:avLst/>
          </a:prstGeom>
          <a:solidFill>
            <a:srgbClr val="1C1C1C"/>
          </a:solidFill>
          <a:ln w="6350">
            <a:solidFill>
              <a:srgbClr val="E2E2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881360" y="2240280"/>
            <a:ext cx="548640" cy="274320"/>
          </a:xfrm>
          <a:prstGeom prst="rect">
            <a:avLst/>
          </a:prstGeom>
          <a:noFill/>
        </p:spPr>
        <p:txBody>
          <a:bodyPr wrap="square" anchor="t">
            <a:normAutofit/>
          </a:bodyPr>
          <a:lstStyle/>
          <a:p>
            <a:pPr algn="l"/>
            <a:r>
              <a:rPr sz="900" b="1" i="0">
                <a:solidFill>
                  <a:srgbClr val="FFFFFF"/>
                </a:solidFill>
                <a:latin typeface="Arial"/>
              </a:rPr>
              <a:t>RAG</a:t>
            </a:r>
          </a:p>
        </p:txBody>
      </p:sp>
      <p:sp>
        <p:nvSpPr>
          <p:cNvPr id="22" name="Rectangle 21"/>
          <p:cNvSpPr/>
          <p:nvPr/>
        </p:nvSpPr>
        <p:spPr>
          <a:xfrm>
            <a:off x="411480" y="2560320"/>
            <a:ext cx="457200" cy="512064"/>
          </a:xfrm>
          <a:prstGeom prst="rect">
            <a:avLst/>
          </a:prstGeom>
          <a:solidFill>
            <a:srgbClr val="FFFFFF"/>
          </a:solidFill>
          <a:ln w="6350">
            <a:solidFill>
              <a:srgbClr val="E2E2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57200" y="2596896"/>
            <a:ext cx="365760" cy="457200"/>
          </a:xfrm>
          <a:prstGeom prst="rect">
            <a:avLst/>
          </a:prstGeom>
          <a:noFill/>
        </p:spPr>
        <p:txBody>
          <a:bodyPr wrap="square" anchor="ctr">
            <a:normAutofit/>
          </a:bodyPr>
          <a:lstStyle/>
          <a:p>
            <a:pPr algn="l"/>
            <a:r>
              <a:rPr sz="850" b="0" i="0">
                <a:solidFill>
                  <a:srgbClr val="1C1C1C"/>
                </a:solidFill>
                <a:latin typeface="Arial"/>
              </a:rPr>
              <a:t>1</a:t>
            </a:r>
          </a:p>
        </p:txBody>
      </p:sp>
      <p:sp>
        <p:nvSpPr>
          <p:cNvPr id="24" name="Rectangle 23"/>
          <p:cNvSpPr/>
          <p:nvPr/>
        </p:nvSpPr>
        <p:spPr>
          <a:xfrm>
            <a:off x="868680" y="2560320"/>
            <a:ext cx="3383280" cy="512064"/>
          </a:xfrm>
          <a:prstGeom prst="rect">
            <a:avLst/>
          </a:prstGeom>
          <a:solidFill>
            <a:srgbClr val="FFFFFF"/>
          </a:solidFill>
          <a:ln w="6350">
            <a:solidFill>
              <a:srgbClr val="E2E2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14400" y="2596896"/>
            <a:ext cx="3291840" cy="457200"/>
          </a:xfrm>
          <a:prstGeom prst="rect">
            <a:avLst/>
          </a:prstGeom>
          <a:noFill/>
        </p:spPr>
        <p:txBody>
          <a:bodyPr wrap="square" anchor="ctr">
            <a:normAutofit/>
          </a:bodyPr>
          <a:lstStyle/>
          <a:p>
            <a:pPr algn="l"/>
            <a:r>
              <a:rPr sz="850" b="0" i="0">
                <a:solidFill>
                  <a:srgbClr val="1C1C1C"/>
                </a:solidFill>
                <a:latin typeface="Arial"/>
              </a:rPr>
              <a:t>Tenant disturbance / PwC dissatisfaction</a:t>
            </a:r>
          </a:p>
        </p:txBody>
      </p:sp>
      <p:sp>
        <p:nvSpPr>
          <p:cNvPr id="26" name="Rectangle 25"/>
          <p:cNvSpPr/>
          <p:nvPr/>
        </p:nvSpPr>
        <p:spPr>
          <a:xfrm>
            <a:off x="4251960" y="2560320"/>
            <a:ext cx="1371600" cy="512064"/>
          </a:xfrm>
          <a:prstGeom prst="rect">
            <a:avLst/>
          </a:prstGeom>
          <a:solidFill>
            <a:srgbClr val="FFFFFF"/>
          </a:solidFill>
          <a:ln w="6350">
            <a:solidFill>
              <a:srgbClr val="E2E2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297680" y="2596896"/>
            <a:ext cx="1280160" cy="457200"/>
          </a:xfrm>
          <a:prstGeom prst="rect">
            <a:avLst/>
          </a:prstGeom>
          <a:noFill/>
        </p:spPr>
        <p:txBody>
          <a:bodyPr wrap="square" anchor="ctr">
            <a:normAutofit/>
          </a:bodyPr>
          <a:lstStyle/>
          <a:p>
            <a:pPr algn="l"/>
            <a:r>
              <a:rPr sz="850" b="1" i="0">
                <a:solidFill>
                  <a:srgbClr val="C3002B"/>
                </a:solidFill>
                <a:latin typeface="Arial"/>
              </a:rPr>
              <a:t>Tenancy</a:t>
            </a:r>
          </a:p>
        </p:txBody>
      </p:sp>
      <p:sp>
        <p:nvSpPr>
          <p:cNvPr id="28" name="Rectangle 27"/>
          <p:cNvSpPr/>
          <p:nvPr/>
        </p:nvSpPr>
        <p:spPr>
          <a:xfrm>
            <a:off x="5623560" y="2560320"/>
            <a:ext cx="4206240" cy="512064"/>
          </a:xfrm>
          <a:prstGeom prst="rect">
            <a:avLst/>
          </a:prstGeom>
          <a:solidFill>
            <a:srgbClr val="FFFFFF"/>
          </a:solidFill>
          <a:ln w="6350">
            <a:solidFill>
              <a:srgbClr val="E2E2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669280" y="2596896"/>
            <a:ext cx="4114800" cy="457200"/>
          </a:xfrm>
          <a:prstGeom prst="rect">
            <a:avLst/>
          </a:prstGeom>
          <a:noFill/>
        </p:spPr>
        <p:txBody>
          <a:bodyPr wrap="square" anchor="ctr">
            <a:normAutofit/>
          </a:bodyPr>
          <a:lstStyle/>
          <a:p>
            <a:pPr algn="l"/>
            <a:r>
              <a:rPr sz="850" b="0" i="0">
                <a:solidFill>
                  <a:srgbClr val="1C1C1C"/>
                </a:solidFill>
                <a:latin typeface="Arial"/>
              </a:rPr>
              <a:t>Floor-by-floor phasing, tenant comms plan, agreed working windows</a:t>
            </a:r>
          </a:p>
        </p:txBody>
      </p:sp>
      <p:sp>
        <p:nvSpPr>
          <p:cNvPr id="30" name="Rectangle 29"/>
          <p:cNvSpPr/>
          <p:nvPr/>
        </p:nvSpPr>
        <p:spPr>
          <a:xfrm>
            <a:off x="9829800" y="2560320"/>
            <a:ext cx="1005840" cy="512064"/>
          </a:xfrm>
          <a:prstGeom prst="rect">
            <a:avLst/>
          </a:prstGeom>
          <a:solidFill>
            <a:srgbClr val="FFFFFF"/>
          </a:solidFill>
          <a:ln w="6350">
            <a:solidFill>
              <a:srgbClr val="E2E2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875520" y="2596896"/>
            <a:ext cx="914400" cy="457200"/>
          </a:xfrm>
          <a:prstGeom prst="rect">
            <a:avLst/>
          </a:prstGeom>
          <a:noFill/>
        </p:spPr>
        <p:txBody>
          <a:bodyPr wrap="square" anchor="ctr">
            <a:normAutofit/>
          </a:bodyPr>
          <a:lstStyle/>
          <a:p>
            <a:pPr algn="l"/>
            <a:r>
              <a:rPr sz="850" b="0" i="0">
                <a:solidFill>
                  <a:srgbClr val="1C1C1C"/>
                </a:solidFill>
                <a:latin typeface="Arial"/>
              </a:rPr>
              <a:t>SPM</a:t>
            </a:r>
          </a:p>
        </p:txBody>
      </p:sp>
      <p:sp>
        <p:nvSpPr>
          <p:cNvPr id="32" name="Rectangle 31"/>
          <p:cNvSpPr/>
          <p:nvPr/>
        </p:nvSpPr>
        <p:spPr>
          <a:xfrm>
            <a:off x="10835640" y="2560320"/>
            <a:ext cx="640080" cy="512064"/>
          </a:xfrm>
          <a:prstGeom prst="rect">
            <a:avLst/>
          </a:prstGeom>
          <a:solidFill>
            <a:srgbClr val="FFFFFF"/>
          </a:solidFill>
          <a:ln w="6350">
            <a:solidFill>
              <a:srgbClr val="E2E2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0881360" y="2596896"/>
            <a:ext cx="548640" cy="457200"/>
          </a:xfrm>
          <a:prstGeom prst="rect">
            <a:avLst/>
          </a:prstGeom>
          <a:noFill/>
        </p:spPr>
        <p:txBody>
          <a:bodyPr wrap="square" anchor="ctr">
            <a:normAutofit/>
          </a:bodyPr>
          <a:lstStyle/>
          <a:p>
            <a:pPr algn="l"/>
            <a:r>
              <a:rPr sz="850" b="1" i="0">
                <a:solidFill>
                  <a:srgbClr val="E89A00"/>
                </a:solidFill>
                <a:latin typeface="Arial"/>
              </a:rPr>
              <a:t>●</a:t>
            </a:r>
          </a:p>
        </p:txBody>
      </p:sp>
      <p:sp>
        <p:nvSpPr>
          <p:cNvPr id="34" name="Rectangle 33"/>
          <p:cNvSpPr/>
          <p:nvPr/>
        </p:nvSpPr>
        <p:spPr>
          <a:xfrm>
            <a:off x="411480" y="3072384"/>
            <a:ext cx="457200" cy="512064"/>
          </a:xfrm>
          <a:prstGeom prst="rect">
            <a:avLst/>
          </a:prstGeom>
          <a:solidFill>
            <a:srgbClr val="F3F3F3"/>
          </a:solidFill>
          <a:ln w="6350">
            <a:solidFill>
              <a:srgbClr val="E2E2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57200" y="3108960"/>
            <a:ext cx="365760" cy="457200"/>
          </a:xfrm>
          <a:prstGeom prst="rect">
            <a:avLst/>
          </a:prstGeom>
          <a:noFill/>
        </p:spPr>
        <p:txBody>
          <a:bodyPr wrap="square" anchor="ctr">
            <a:normAutofit/>
          </a:bodyPr>
          <a:lstStyle/>
          <a:p>
            <a:pPr algn="l"/>
            <a:r>
              <a:rPr sz="850" b="0" i="0">
                <a:solidFill>
                  <a:srgbClr val="1C1C1C"/>
                </a:solidFill>
                <a:latin typeface="Arial"/>
              </a:rPr>
              <a:t>2</a:t>
            </a:r>
          </a:p>
        </p:txBody>
      </p:sp>
      <p:sp>
        <p:nvSpPr>
          <p:cNvPr id="36" name="Rectangle 35"/>
          <p:cNvSpPr/>
          <p:nvPr/>
        </p:nvSpPr>
        <p:spPr>
          <a:xfrm>
            <a:off x="868680" y="3072384"/>
            <a:ext cx="3383280" cy="512064"/>
          </a:xfrm>
          <a:prstGeom prst="rect">
            <a:avLst/>
          </a:prstGeom>
          <a:solidFill>
            <a:srgbClr val="F3F3F3"/>
          </a:solidFill>
          <a:ln w="6350">
            <a:solidFill>
              <a:srgbClr val="E2E2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14400" y="3108960"/>
            <a:ext cx="3291840" cy="457200"/>
          </a:xfrm>
          <a:prstGeom prst="rect">
            <a:avLst/>
          </a:prstGeom>
          <a:noFill/>
        </p:spPr>
        <p:txBody>
          <a:bodyPr wrap="square" anchor="ctr">
            <a:normAutofit/>
          </a:bodyPr>
          <a:lstStyle/>
          <a:p>
            <a:pPr algn="l"/>
            <a:r>
              <a:rPr sz="850" b="0" i="0">
                <a:solidFill>
                  <a:srgbClr val="1C1C1C"/>
                </a:solidFill>
                <a:latin typeface="Arial"/>
              </a:rPr>
              <a:t>Phasing conflicts between floors in a live building</a:t>
            </a:r>
          </a:p>
        </p:txBody>
      </p:sp>
      <p:sp>
        <p:nvSpPr>
          <p:cNvPr id="38" name="Rectangle 37"/>
          <p:cNvSpPr/>
          <p:nvPr/>
        </p:nvSpPr>
        <p:spPr>
          <a:xfrm>
            <a:off x="4251960" y="3072384"/>
            <a:ext cx="1371600" cy="512064"/>
          </a:xfrm>
          <a:prstGeom prst="rect">
            <a:avLst/>
          </a:prstGeom>
          <a:solidFill>
            <a:srgbClr val="F3F3F3"/>
          </a:solidFill>
          <a:ln w="6350">
            <a:solidFill>
              <a:srgbClr val="E2E2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4297680" y="3108960"/>
            <a:ext cx="1280160" cy="457200"/>
          </a:xfrm>
          <a:prstGeom prst="rect">
            <a:avLst/>
          </a:prstGeom>
          <a:noFill/>
        </p:spPr>
        <p:txBody>
          <a:bodyPr wrap="square" anchor="ctr">
            <a:normAutofit/>
          </a:bodyPr>
          <a:lstStyle/>
          <a:p>
            <a:pPr algn="l"/>
            <a:r>
              <a:rPr sz="850" b="1" i="0">
                <a:solidFill>
                  <a:srgbClr val="C3002B"/>
                </a:solidFill>
                <a:latin typeface="Arial"/>
              </a:rPr>
              <a:t>Deadline</a:t>
            </a:r>
          </a:p>
        </p:txBody>
      </p:sp>
      <p:sp>
        <p:nvSpPr>
          <p:cNvPr id="40" name="Rectangle 39"/>
          <p:cNvSpPr/>
          <p:nvPr/>
        </p:nvSpPr>
        <p:spPr>
          <a:xfrm>
            <a:off x="5623560" y="3072384"/>
            <a:ext cx="4206240" cy="512064"/>
          </a:xfrm>
          <a:prstGeom prst="rect">
            <a:avLst/>
          </a:prstGeom>
          <a:solidFill>
            <a:srgbClr val="F3F3F3"/>
          </a:solidFill>
          <a:ln w="6350">
            <a:solidFill>
              <a:srgbClr val="E2E2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5669280" y="3108960"/>
            <a:ext cx="4114800" cy="457200"/>
          </a:xfrm>
          <a:prstGeom prst="rect">
            <a:avLst/>
          </a:prstGeom>
          <a:noFill/>
        </p:spPr>
        <p:txBody>
          <a:bodyPr wrap="square" anchor="ctr">
            <a:normAutofit/>
          </a:bodyPr>
          <a:lstStyle/>
          <a:p>
            <a:pPr algn="l"/>
            <a:r>
              <a:rPr sz="850" b="0" i="0">
                <a:solidFill>
                  <a:srgbClr val="1C1C1C"/>
                </a:solidFill>
                <a:latin typeface="Arial"/>
              </a:rPr>
              <a:t>Integral phasing plan, buffer per floor, weekly look-ahead</a:t>
            </a:r>
          </a:p>
        </p:txBody>
      </p:sp>
      <p:sp>
        <p:nvSpPr>
          <p:cNvPr id="42" name="Rectangle 41"/>
          <p:cNvSpPr/>
          <p:nvPr/>
        </p:nvSpPr>
        <p:spPr>
          <a:xfrm>
            <a:off x="9829800" y="3072384"/>
            <a:ext cx="1005840" cy="512064"/>
          </a:xfrm>
          <a:prstGeom prst="rect">
            <a:avLst/>
          </a:prstGeom>
          <a:solidFill>
            <a:srgbClr val="F3F3F3"/>
          </a:solidFill>
          <a:ln w="6350">
            <a:solidFill>
              <a:srgbClr val="E2E2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9875520" y="3108960"/>
            <a:ext cx="914400" cy="457200"/>
          </a:xfrm>
          <a:prstGeom prst="rect">
            <a:avLst/>
          </a:prstGeom>
          <a:noFill/>
        </p:spPr>
        <p:txBody>
          <a:bodyPr wrap="square" anchor="ctr">
            <a:normAutofit/>
          </a:bodyPr>
          <a:lstStyle/>
          <a:p>
            <a:pPr algn="l"/>
            <a:r>
              <a:rPr sz="850" b="0" i="0">
                <a:solidFill>
                  <a:srgbClr val="1C1C1C"/>
                </a:solidFill>
                <a:latin typeface="Arial"/>
              </a:rPr>
              <a:t>TPM</a:t>
            </a:r>
          </a:p>
        </p:txBody>
      </p:sp>
      <p:sp>
        <p:nvSpPr>
          <p:cNvPr id="44" name="Rectangle 43"/>
          <p:cNvSpPr/>
          <p:nvPr/>
        </p:nvSpPr>
        <p:spPr>
          <a:xfrm>
            <a:off x="10835640" y="3072384"/>
            <a:ext cx="640080" cy="512064"/>
          </a:xfrm>
          <a:prstGeom prst="rect">
            <a:avLst/>
          </a:prstGeom>
          <a:solidFill>
            <a:srgbClr val="F3F3F3"/>
          </a:solidFill>
          <a:ln w="6350">
            <a:solidFill>
              <a:srgbClr val="E2E2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10881360" y="3108960"/>
            <a:ext cx="548640" cy="457200"/>
          </a:xfrm>
          <a:prstGeom prst="rect">
            <a:avLst/>
          </a:prstGeom>
          <a:noFill/>
        </p:spPr>
        <p:txBody>
          <a:bodyPr wrap="square" anchor="ctr">
            <a:normAutofit/>
          </a:bodyPr>
          <a:lstStyle/>
          <a:p>
            <a:pPr algn="l"/>
            <a:r>
              <a:rPr sz="850" b="1" i="0">
                <a:solidFill>
                  <a:srgbClr val="C3002B"/>
                </a:solidFill>
                <a:latin typeface="Arial"/>
              </a:rPr>
              <a:t>●</a:t>
            </a:r>
          </a:p>
        </p:txBody>
      </p:sp>
      <p:sp>
        <p:nvSpPr>
          <p:cNvPr id="46" name="Rectangle 45"/>
          <p:cNvSpPr/>
          <p:nvPr/>
        </p:nvSpPr>
        <p:spPr>
          <a:xfrm>
            <a:off x="411480" y="3584448"/>
            <a:ext cx="457200" cy="512064"/>
          </a:xfrm>
          <a:prstGeom prst="rect">
            <a:avLst/>
          </a:prstGeom>
          <a:solidFill>
            <a:srgbClr val="FFFFFF"/>
          </a:solidFill>
          <a:ln w="6350">
            <a:solidFill>
              <a:srgbClr val="E2E2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457200" y="3621024"/>
            <a:ext cx="365760" cy="457200"/>
          </a:xfrm>
          <a:prstGeom prst="rect">
            <a:avLst/>
          </a:prstGeom>
          <a:noFill/>
        </p:spPr>
        <p:txBody>
          <a:bodyPr wrap="square" anchor="ctr">
            <a:normAutofit/>
          </a:bodyPr>
          <a:lstStyle/>
          <a:p>
            <a:pPr algn="l"/>
            <a:r>
              <a:rPr sz="850" b="0" i="0">
                <a:solidFill>
                  <a:srgbClr val="1C1C1C"/>
                </a:solidFill>
                <a:latin typeface="Arial"/>
              </a:rPr>
              <a:t>3</a:t>
            </a:r>
          </a:p>
        </p:txBody>
      </p:sp>
      <p:sp>
        <p:nvSpPr>
          <p:cNvPr id="48" name="Rectangle 47"/>
          <p:cNvSpPr/>
          <p:nvPr/>
        </p:nvSpPr>
        <p:spPr>
          <a:xfrm>
            <a:off x="868680" y="3584448"/>
            <a:ext cx="3383280" cy="512064"/>
          </a:xfrm>
          <a:prstGeom prst="rect">
            <a:avLst/>
          </a:prstGeom>
          <a:solidFill>
            <a:srgbClr val="FFFFFF"/>
          </a:solidFill>
          <a:ln w="6350">
            <a:solidFill>
              <a:srgbClr val="E2E2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914400" y="3621024"/>
            <a:ext cx="3291840" cy="457200"/>
          </a:xfrm>
          <a:prstGeom prst="rect">
            <a:avLst/>
          </a:prstGeom>
          <a:noFill/>
        </p:spPr>
        <p:txBody>
          <a:bodyPr wrap="square" anchor="ctr">
            <a:normAutofit/>
          </a:bodyPr>
          <a:lstStyle/>
          <a:p>
            <a:pPr algn="l"/>
            <a:r>
              <a:rPr sz="850" b="0" i="0">
                <a:solidFill>
                  <a:srgbClr val="1C1C1C"/>
                </a:solidFill>
                <a:latin typeface="Arial"/>
              </a:rPr>
              <a:t>WKO permits &amp; source-drilling lead time (preferred)</a:t>
            </a:r>
          </a:p>
        </p:txBody>
      </p:sp>
      <p:sp>
        <p:nvSpPr>
          <p:cNvPr id="50" name="Rectangle 49"/>
          <p:cNvSpPr/>
          <p:nvPr/>
        </p:nvSpPr>
        <p:spPr>
          <a:xfrm>
            <a:off x="4251960" y="3584448"/>
            <a:ext cx="1371600" cy="512064"/>
          </a:xfrm>
          <a:prstGeom prst="rect">
            <a:avLst/>
          </a:prstGeom>
          <a:solidFill>
            <a:srgbClr val="FFFFFF"/>
          </a:solidFill>
          <a:ln w="6350">
            <a:solidFill>
              <a:srgbClr val="E2E2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4297680" y="3621024"/>
            <a:ext cx="1280160" cy="457200"/>
          </a:xfrm>
          <a:prstGeom prst="rect">
            <a:avLst/>
          </a:prstGeom>
          <a:noFill/>
        </p:spPr>
        <p:txBody>
          <a:bodyPr wrap="square" anchor="ctr">
            <a:normAutofit/>
          </a:bodyPr>
          <a:lstStyle/>
          <a:p>
            <a:pPr algn="l"/>
            <a:r>
              <a:rPr sz="850" b="1" i="0">
                <a:solidFill>
                  <a:srgbClr val="C3002B"/>
                </a:solidFill>
                <a:latin typeface="Arial"/>
              </a:rPr>
              <a:t>Deadline</a:t>
            </a:r>
          </a:p>
        </p:txBody>
      </p:sp>
      <p:sp>
        <p:nvSpPr>
          <p:cNvPr id="52" name="Rectangle 51"/>
          <p:cNvSpPr/>
          <p:nvPr/>
        </p:nvSpPr>
        <p:spPr>
          <a:xfrm>
            <a:off x="5623560" y="3584448"/>
            <a:ext cx="4206240" cy="512064"/>
          </a:xfrm>
          <a:prstGeom prst="rect">
            <a:avLst/>
          </a:prstGeom>
          <a:solidFill>
            <a:srgbClr val="FFFFFF"/>
          </a:solidFill>
          <a:ln w="6350">
            <a:solidFill>
              <a:srgbClr val="E2E2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5669280" y="3621024"/>
            <a:ext cx="4114800" cy="457200"/>
          </a:xfrm>
          <a:prstGeom prst="rect">
            <a:avLst/>
          </a:prstGeom>
          <a:noFill/>
        </p:spPr>
        <p:txBody>
          <a:bodyPr wrap="square" anchor="ctr">
            <a:normAutofit/>
          </a:bodyPr>
          <a:lstStyle/>
          <a:p>
            <a:pPr algn="l"/>
            <a:r>
              <a:rPr sz="850" b="0" i="0">
                <a:solidFill>
                  <a:srgbClr val="1C1C1C"/>
                </a:solidFill>
                <a:latin typeface="Arial"/>
              </a:rPr>
              <a:t>Early permit inventory &amp; plan; applications started in Phase 1</a:t>
            </a:r>
          </a:p>
        </p:txBody>
      </p:sp>
      <p:sp>
        <p:nvSpPr>
          <p:cNvPr id="54" name="Rectangle 53"/>
          <p:cNvSpPr/>
          <p:nvPr/>
        </p:nvSpPr>
        <p:spPr>
          <a:xfrm>
            <a:off x="9829800" y="3584448"/>
            <a:ext cx="1005840" cy="512064"/>
          </a:xfrm>
          <a:prstGeom prst="rect">
            <a:avLst/>
          </a:prstGeom>
          <a:solidFill>
            <a:srgbClr val="FFFFFF"/>
          </a:solidFill>
          <a:ln w="6350">
            <a:solidFill>
              <a:srgbClr val="E2E2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9875520" y="3621024"/>
            <a:ext cx="914400" cy="457200"/>
          </a:xfrm>
          <a:prstGeom prst="rect">
            <a:avLst/>
          </a:prstGeom>
          <a:noFill/>
        </p:spPr>
        <p:txBody>
          <a:bodyPr wrap="square" anchor="ctr">
            <a:normAutofit/>
          </a:bodyPr>
          <a:lstStyle/>
          <a:p>
            <a:pPr algn="l"/>
            <a:r>
              <a:rPr sz="850" b="0" i="0">
                <a:solidFill>
                  <a:srgbClr val="1C1C1C"/>
                </a:solidFill>
                <a:latin typeface="Arial"/>
              </a:rPr>
              <a:t>TPM</a:t>
            </a:r>
          </a:p>
        </p:txBody>
      </p:sp>
      <p:sp>
        <p:nvSpPr>
          <p:cNvPr id="56" name="Rectangle 55"/>
          <p:cNvSpPr/>
          <p:nvPr/>
        </p:nvSpPr>
        <p:spPr>
          <a:xfrm>
            <a:off x="10835640" y="3584448"/>
            <a:ext cx="640080" cy="512064"/>
          </a:xfrm>
          <a:prstGeom prst="rect">
            <a:avLst/>
          </a:prstGeom>
          <a:solidFill>
            <a:srgbClr val="FFFFFF"/>
          </a:solidFill>
          <a:ln w="6350">
            <a:solidFill>
              <a:srgbClr val="E2E2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10881360" y="3621024"/>
            <a:ext cx="548640" cy="457200"/>
          </a:xfrm>
          <a:prstGeom prst="rect">
            <a:avLst/>
          </a:prstGeom>
          <a:noFill/>
        </p:spPr>
        <p:txBody>
          <a:bodyPr wrap="square" anchor="ctr">
            <a:normAutofit/>
          </a:bodyPr>
          <a:lstStyle/>
          <a:p>
            <a:pPr algn="l"/>
            <a:r>
              <a:rPr sz="850" b="1" i="0">
                <a:solidFill>
                  <a:srgbClr val="C3002B"/>
                </a:solidFill>
                <a:latin typeface="Arial"/>
              </a:rPr>
              <a:t>●</a:t>
            </a:r>
          </a:p>
        </p:txBody>
      </p:sp>
      <p:sp>
        <p:nvSpPr>
          <p:cNvPr id="58" name="Rectangle 57"/>
          <p:cNvSpPr/>
          <p:nvPr/>
        </p:nvSpPr>
        <p:spPr>
          <a:xfrm>
            <a:off x="411480" y="4096512"/>
            <a:ext cx="457200" cy="512064"/>
          </a:xfrm>
          <a:prstGeom prst="rect">
            <a:avLst/>
          </a:prstGeom>
          <a:solidFill>
            <a:srgbClr val="F3F3F3"/>
          </a:solidFill>
          <a:ln w="6350">
            <a:solidFill>
              <a:srgbClr val="E2E2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457200" y="4133088"/>
            <a:ext cx="365760" cy="457200"/>
          </a:xfrm>
          <a:prstGeom prst="rect">
            <a:avLst/>
          </a:prstGeom>
          <a:noFill/>
        </p:spPr>
        <p:txBody>
          <a:bodyPr wrap="square" anchor="ctr">
            <a:normAutofit/>
          </a:bodyPr>
          <a:lstStyle/>
          <a:p>
            <a:pPr algn="l"/>
            <a:r>
              <a:rPr sz="850" b="0" i="0">
                <a:solidFill>
                  <a:srgbClr val="1C1C1C"/>
                </a:solidFill>
                <a:latin typeface="Arial"/>
              </a:rPr>
              <a:t>4</a:t>
            </a:r>
          </a:p>
        </p:txBody>
      </p:sp>
      <p:sp>
        <p:nvSpPr>
          <p:cNvPr id="60" name="Rectangle 59"/>
          <p:cNvSpPr/>
          <p:nvPr/>
        </p:nvSpPr>
        <p:spPr>
          <a:xfrm>
            <a:off x="868680" y="4096512"/>
            <a:ext cx="3383280" cy="512064"/>
          </a:xfrm>
          <a:prstGeom prst="rect">
            <a:avLst/>
          </a:prstGeom>
          <a:solidFill>
            <a:srgbClr val="F3F3F3"/>
          </a:solidFill>
          <a:ln w="6350">
            <a:solidFill>
              <a:srgbClr val="E2E2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914400" y="4133088"/>
            <a:ext cx="3291840" cy="457200"/>
          </a:xfrm>
          <a:prstGeom prst="rect">
            <a:avLst/>
          </a:prstGeom>
          <a:noFill/>
        </p:spPr>
        <p:txBody>
          <a:bodyPr wrap="square" anchor="ctr">
            <a:normAutofit/>
          </a:bodyPr>
          <a:lstStyle/>
          <a:p>
            <a:pPr algn="l"/>
            <a:r>
              <a:rPr sz="850" b="0" i="0">
                <a:solidFill>
                  <a:srgbClr val="1C1C1C"/>
                </a:solidFill>
                <a:latin typeface="Arial"/>
              </a:rPr>
              <a:t>Tender result exceeds fixed budget</a:t>
            </a:r>
          </a:p>
        </p:txBody>
      </p:sp>
      <p:sp>
        <p:nvSpPr>
          <p:cNvPr id="62" name="Rectangle 61"/>
          <p:cNvSpPr/>
          <p:nvPr/>
        </p:nvSpPr>
        <p:spPr>
          <a:xfrm>
            <a:off x="4251960" y="4096512"/>
            <a:ext cx="1371600" cy="512064"/>
          </a:xfrm>
          <a:prstGeom prst="rect">
            <a:avLst/>
          </a:prstGeom>
          <a:solidFill>
            <a:srgbClr val="F3F3F3"/>
          </a:solidFill>
          <a:ln w="6350">
            <a:solidFill>
              <a:srgbClr val="E2E2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4297680" y="4133088"/>
            <a:ext cx="1280160" cy="457200"/>
          </a:xfrm>
          <a:prstGeom prst="rect">
            <a:avLst/>
          </a:prstGeom>
          <a:noFill/>
        </p:spPr>
        <p:txBody>
          <a:bodyPr wrap="square" anchor="ctr">
            <a:normAutofit/>
          </a:bodyPr>
          <a:lstStyle/>
          <a:p>
            <a:pPr algn="l"/>
            <a:r>
              <a:rPr sz="850" b="1" i="0">
                <a:solidFill>
                  <a:srgbClr val="C3002B"/>
                </a:solidFill>
                <a:latin typeface="Arial"/>
              </a:rPr>
              <a:t>Budget</a:t>
            </a:r>
          </a:p>
        </p:txBody>
      </p:sp>
      <p:sp>
        <p:nvSpPr>
          <p:cNvPr id="64" name="Rectangle 63"/>
          <p:cNvSpPr/>
          <p:nvPr/>
        </p:nvSpPr>
        <p:spPr>
          <a:xfrm>
            <a:off x="5623560" y="4096512"/>
            <a:ext cx="4206240" cy="512064"/>
          </a:xfrm>
          <a:prstGeom prst="rect">
            <a:avLst/>
          </a:prstGeom>
          <a:solidFill>
            <a:srgbClr val="F3F3F3"/>
          </a:solidFill>
          <a:ln w="6350">
            <a:solidFill>
              <a:srgbClr val="E2E2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5669280" y="4133088"/>
            <a:ext cx="4114800" cy="457200"/>
          </a:xfrm>
          <a:prstGeom prst="rect">
            <a:avLst/>
          </a:prstGeom>
          <a:noFill/>
        </p:spPr>
        <p:txBody>
          <a:bodyPr wrap="square" anchor="ctr">
            <a:normAutofit/>
          </a:bodyPr>
          <a:lstStyle/>
          <a:p>
            <a:pPr algn="l"/>
            <a:r>
              <a:rPr sz="850" b="0" i="0">
                <a:solidFill>
                  <a:srgbClr val="1C1C1C"/>
                </a:solidFill>
                <a:latin typeface="Arial"/>
              </a:rPr>
              <a:t>Cost estimates at design milestones, VE options, market sounding</a:t>
            </a:r>
          </a:p>
        </p:txBody>
      </p:sp>
      <p:sp>
        <p:nvSpPr>
          <p:cNvPr id="66" name="Rectangle 65"/>
          <p:cNvSpPr/>
          <p:nvPr/>
        </p:nvSpPr>
        <p:spPr>
          <a:xfrm>
            <a:off x="9829800" y="4096512"/>
            <a:ext cx="1005840" cy="512064"/>
          </a:xfrm>
          <a:prstGeom prst="rect">
            <a:avLst/>
          </a:prstGeom>
          <a:solidFill>
            <a:srgbClr val="F3F3F3"/>
          </a:solidFill>
          <a:ln w="6350">
            <a:solidFill>
              <a:srgbClr val="E2E2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9875520" y="4133088"/>
            <a:ext cx="914400" cy="457200"/>
          </a:xfrm>
          <a:prstGeom prst="rect">
            <a:avLst/>
          </a:prstGeom>
          <a:noFill/>
        </p:spPr>
        <p:txBody>
          <a:bodyPr wrap="square" anchor="ctr">
            <a:normAutofit/>
          </a:bodyPr>
          <a:lstStyle/>
          <a:p>
            <a:pPr algn="l"/>
            <a:r>
              <a:rPr sz="850" b="0" i="0">
                <a:solidFill>
                  <a:srgbClr val="1C1C1C"/>
                </a:solidFill>
                <a:latin typeface="Arial"/>
              </a:rPr>
              <a:t>TPM</a:t>
            </a:r>
          </a:p>
        </p:txBody>
      </p:sp>
      <p:sp>
        <p:nvSpPr>
          <p:cNvPr id="68" name="Rectangle 67"/>
          <p:cNvSpPr/>
          <p:nvPr/>
        </p:nvSpPr>
        <p:spPr>
          <a:xfrm>
            <a:off x="10835640" y="4096512"/>
            <a:ext cx="640080" cy="512064"/>
          </a:xfrm>
          <a:prstGeom prst="rect">
            <a:avLst/>
          </a:prstGeom>
          <a:solidFill>
            <a:srgbClr val="F3F3F3"/>
          </a:solidFill>
          <a:ln w="6350">
            <a:solidFill>
              <a:srgbClr val="E2E2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10881360" y="4133088"/>
            <a:ext cx="548640" cy="457200"/>
          </a:xfrm>
          <a:prstGeom prst="rect">
            <a:avLst/>
          </a:prstGeom>
          <a:noFill/>
        </p:spPr>
        <p:txBody>
          <a:bodyPr wrap="square" anchor="ctr">
            <a:normAutofit/>
          </a:bodyPr>
          <a:lstStyle/>
          <a:p>
            <a:pPr algn="l"/>
            <a:r>
              <a:rPr sz="850" b="1" i="0">
                <a:solidFill>
                  <a:srgbClr val="E89A00"/>
                </a:solidFill>
                <a:latin typeface="Arial"/>
              </a:rPr>
              <a:t>●</a:t>
            </a:r>
          </a:p>
        </p:txBody>
      </p:sp>
      <p:sp>
        <p:nvSpPr>
          <p:cNvPr id="70" name="Rectangle 69"/>
          <p:cNvSpPr/>
          <p:nvPr/>
        </p:nvSpPr>
        <p:spPr>
          <a:xfrm>
            <a:off x="411480" y="4608576"/>
            <a:ext cx="457200" cy="512064"/>
          </a:xfrm>
          <a:prstGeom prst="rect">
            <a:avLst/>
          </a:prstGeom>
          <a:solidFill>
            <a:srgbClr val="FFFFFF"/>
          </a:solidFill>
          <a:ln w="6350">
            <a:solidFill>
              <a:srgbClr val="E2E2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457200" y="4645152"/>
            <a:ext cx="365760" cy="457200"/>
          </a:xfrm>
          <a:prstGeom prst="rect">
            <a:avLst/>
          </a:prstGeom>
          <a:noFill/>
        </p:spPr>
        <p:txBody>
          <a:bodyPr wrap="square" anchor="ctr">
            <a:normAutofit/>
          </a:bodyPr>
          <a:lstStyle/>
          <a:p>
            <a:pPr algn="l"/>
            <a:r>
              <a:rPr sz="850" b="0" i="0">
                <a:solidFill>
                  <a:srgbClr val="1C1C1C"/>
                </a:solidFill>
                <a:latin typeface="Arial"/>
              </a:rPr>
              <a:t>5</a:t>
            </a:r>
          </a:p>
        </p:txBody>
      </p:sp>
      <p:sp>
        <p:nvSpPr>
          <p:cNvPr id="72" name="Rectangle 71"/>
          <p:cNvSpPr/>
          <p:nvPr/>
        </p:nvSpPr>
        <p:spPr>
          <a:xfrm>
            <a:off x="868680" y="4608576"/>
            <a:ext cx="3383280" cy="512064"/>
          </a:xfrm>
          <a:prstGeom prst="rect">
            <a:avLst/>
          </a:prstGeom>
          <a:solidFill>
            <a:srgbClr val="FFFFFF"/>
          </a:solidFill>
          <a:ln w="6350">
            <a:solidFill>
              <a:srgbClr val="E2E2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914400" y="4645152"/>
            <a:ext cx="3291840" cy="457200"/>
          </a:xfrm>
          <a:prstGeom prst="rect">
            <a:avLst/>
          </a:prstGeom>
          <a:noFill/>
        </p:spPr>
        <p:txBody>
          <a:bodyPr wrap="square" anchor="ctr">
            <a:normAutofit/>
          </a:bodyPr>
          <a:lstStyle/>
          <a:p>
            <a:pPr algn="l"/>
            <a:r>
              <a:rPr sz="850" b="0" i="0">
                <a:solidFill>
                  <a:srgbClr val="1C1C1C"/>
                </a:solidFill>
                <a:latin typeface="Arial"/>
              </a:rPr>
              <a:t>Controls / systems integration (esp. hybrid alt.)</a:t>
            </a:r>
          </a:p>
        </p:txBody>
      </p:sp>
      <p:sp>
        <p:nvSpPr>
          <p:cNvPr id="74" name="Rectangle 73"/>
          <p:cNvSpPr/>
          <p:nvPr/>
        </p:nvSpPr>
        <p:spPr>
          <a:xfrm>
            <a:off x="4251960" y="4608576"/>
            <a:ext cx="1371600" cy="512064"/>
          </a:xfrm>
          <a:prstGeom prst="rect">
            <a:avLst/>
          </a:prstGeom>
          <a:solidFill>
            <a:srgbClr val="FFFFFF"/>
          </a:solidFill>
          <a:ln w="6350">
            <a:solidFill>
              <a:srgbClr val="E2E2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4297680" y="4645152"/>
            <a:ext cx="1280160" cy="457200"/>
          </a:xfrm>
          <a:prstGeom prst="rect">
            <a:avLst/>
          </a:prstGeom>
          <a:noFill/>
        </p:spPr>
        <p:txBody>
          <a:bodyPr wrap="square" anchor="ctr">
            <a:normAutofit/>
          </a:bodyPr>
          <a:lstStyle/>
          <a:p>
            <a:pPr algn="l"/>
            <a:r>
              <a:rPr sz="850" b="1" i="0">
                <a:solidFill>
                  <a:srgbClr val="C3002B"/>
                </a:solidFill>
                <a:latin typeface="Arial"/>
              </a:rPr>
              <a:t>Budget</a:t>
            </a:r>
          </a:p>
        </p:txBody>
      </p:sp>
      <p:sp>
        <p:nvSpPr>
          <p:cNvPr id="76" name="Rectangle 75"/>
          <p:cNvSpPr/>
          <p:nvPr/>
        </p:nvSpPr>
        <p:spPr>
          <a:xfrm>
            <a:off x="5623560" y="4608576"/>
            <a:ext cx="4206240" cy="512064"/>
          </a:xfrm>
          <a:prstGeom prst="rect">
            <a:avLst/>
          </a:prstGeom>
          <a:solidFill>
            <a:srgbClr val="FFFFFF"/>
          </a:solidFill>
          <a:ln w="6350">
            <a:solidFill>
              <a:srgbClr val="E2E2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5669280" y="4645152"/>
            <a:ext cx="4114800" cy="457200"/>
          </a:xfrm>
          <a:prstGeom prst="rect">
            <a:avLst/>
          </a:prstGeom>
          <a:noFill/>
        </p:spPr>
        <p:txBody>
          <a:bodyPr wrap="square" anchor="ctr">
            <a:normAutofit/>
          </a:bodyPr>
          <a:lstStyle/>
          <a:p>
            <a:pPr algn="l"/>
            <a:r>
              <a:rPr sz="850" b="0" i="0">
                <a:solidFill>
                  <a:srgbClr val="1C1C1C"/>
                </a:solidFill>
                <a:latin typeface="Arial"/>
              </a:rPr>
              <a:t>Commissioning plan, integral controls party, test per floor</a:t>
            </a:r>
          </a:p>
        </p:txBody>
      </p:sp>
      <p:sp>
        <p:nvSpPr>
          <p:cNvPr id="78" name="Rectangle 77"/>
          <p:cNvSpPr/>
          <p:nvPr/>
        </p:nvSpPr>
        <p:spPr>
          <a:xfrm>
            <a:off x="9829800" y="4608576"/>
            <a:ext cx="1005840" cy="512064"/>
          </a:xfrm>
          <a:prstGeom prst="rect">
            <a:avLst/>
          </a:prstGeom>
          <a:solidFill>
            <a:srgbClr val="FFFFFF"/>
          </a:solidFill>
          <a:ln w="6350">
            <a:solidFill>
              <a:srgbClr val="E2E2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9875520" y="4645152"/>
            <a:ext cx="914400" cy="457200"/>
          </a:xfrm>
          <a:prstGeom prst="rect">
            <a:avLst/>
          </a:prstGeom>
          <a:noFill/>
        </p:spPr>
        <p:txBody>
          <a:bodyPr wrap="square" anchor="ctr">
            <a:normAutofit/>
          </a:bodyPr>
          <a:lstStyle/>
          <a:p>
            <a:pPr algn="l"/>
            <a:r>
              <a:rPr sz="850" b="0" i="0">
                <a:solidFill>
                  <a:srgbClr val="1C1C1C"/>
                </a:solidFill>
                <a:latin typeface="Arial"/>
              </a:rPr>
              <a:t>TPM</a:t>
            </a:r>
          </a:p>
        </p:txBody>
      </p:sp>
      <p:sp>
        <p:nvSpPr>
          <p:cNvPr id="80" name="Rectangle 79"/>
          <p:cNvSpPr/>
          <p:nvPr/>
        </p:nvSpPr>
        <p:spPr>
          <a:xfrm>
            <a:off x="10835640" y="4608576"/>
            <a:ext cx="640080" cy="512064"/>
          </a:xfrm>
          <a:prstGeom prst="rect">
            <a:avLst/>
          </a:prstGeom>
          <a:solidFill>
            <a:srgbClr val="FFFFFF"/>
          </a:solidFill>
          <a:ln w="6350">
            <a:solidFill>
              <a:srgbClr val="E2E2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TextBox 80"/>
          <p:cNvSpPr txBox="1"/>
          <p:nvPr/>
        </p:nvSpPr>
        <p:spPr>
          <a:xfrm>
            <a:off x="10881360" y="4645152"/>
            <a:ext cx="548640" cy="457200"/>
          </a:xfrm>
          <a:prstGeom prst="rect">
            <a:avLst/>
          </a:prstGeom>
          <a:noFill/>
        </p:spPr>
        <p:txBody>
          <a:bodyPr wrap="square" anchor="ctr">
            <a:normAutofit/>
          </a:bodyPr>
          <a:lstStyle/>
          <a:p>
            <a:pPr algn="l"/>
            <a:r>
              <a:rPr sz="850" b="1" i="0">
                <a:solidFill>
                  <a:srgbClr val="E89A00"/>
                </a:solidFill>
                <a:latin typeface="Arial"/>
              </a:rPr>
              <a:t>●</a:t>
            </a:r>
          </a:p>
        </p:txBody>
      </p:sp>
      <p:sp>
        <p:nvSpPr>
          <p:cNvPr id="82" name="Rectangle 81"/>
          <p:cNvSpPr/>
          <p:nvPr/>
        </p:nvSpPr>
        <p:spPr>
          <a:xfrm>
            <a:off x="411480" y="5120640"/>
            <a:ext cx="457200" cy="512064"/>
          </a:xfrm>
          <a:prstGeom prst="rect">
            <a:avLst/>
          </a:prstGeom>
          <a:solidFill>
            <a:srgbClr val="F3F3F3"/>
          </a:solidFill>
          <a:ln w="6350">
            <a:solidFill>
              <a:srgbClr val="E2E2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TextBox 82"/>
          <p:cNvSpPr txBox="1"/>
          <p:nvPr/>
        </p:nvSpPr>
        <p:spPr>
          <a:xfrm>
            <a:off x="457200" y="5157216"/>
            <a:ext cx="365760" cy="457200"/>
          </a:xfrm>
          <a:prstGeom prst="rect">
            <a:avLst/>
          </a:prstGeom>
          <a:noFill/>
        </p:spPr>
        <p:txBody>
          <a:bodyPr wrap="square" anchor="ctr">
            <a:normAutofit/>
          </a:bodyPr>
          <a:lstStyle/>
          <a:p>
            <a:pPr algn="l"/>
            <a:r>
              <a:rPr sz="850" b="0" i="0">
                <a:solidFill>
                  <a:srgbClr val="1C1C1C"/>
                </a:solidFill>
                <a:latin typeface="Arial"/>
              </a:rPr>
              <a:t>6</a:t>
            </a:r>
          </a:p>
        </p:txBody>
      </p:sp>
      <p:sp>
        <p:nvSpPr>
          <p:cNvPr id="84" name="Rectangle 83"/>
          <p:cNvSpPr/>
          <p:nvPr/>
        </p:nvSpPr>
        <p:spPr>
          <a:xfrm>
            <a:off x="868680" y="5120640"/>
            <a:ext cx="3383280" cy="512064"/>
          </a:xfrm>
          <a:prstGeom prst="rect">
            <a:avLst/>
          </a:prstGeom>
          <a:solidFill>
            <a:srgbClr val="F3F3F3"/>
          </a:solidFill>
          <a:ln w="6350">
            <a:solidFill>
              <a:srgbClr val="E2E2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TextBox 84"/>
          <p:cNvSpPr txBox="1"/>
          <p:nvPr/>
        </p:nvSpPr>
        <p:spPr>
          <a:xfrm>
            <a:off x="914400" y="5157216"/>
            <a:ext cx="3291840" cy="457200"/>
          </a:xfrm>
          <a:prstGeom prst="rect">
            <a:avLst/>
          </a:prstGeom>
          <a:noFill/>
        </p:spPr>
        <p:txBody>
          <a:bodyPr wrap="square" anchor="ctr">
            <a:normAutofit/>
          </a:bodyPr>
          <a:lstStyle/>
          <a:p>
            <a:pPr algn="l"/>
            <a:r>
              <a:rPr sz="850" b="0" i="0">
                <a:solidFill>
                  <a:srgbClr val="1C1C1C"/>
                </a:solidFill>
                <a:latin typeface="Arial"/>
              </a:rPr>
              <a:t>Slow owner/tenant decision-making</a:t>
            </a:r>
          </a:p>
        </p:txBody>
      </p:sp>
      <p:sp>
        <p:nvSpPr>
          <p:cNvPr id="86" name="Rectangle 85"/>
          <p:cNvSpPr/>
          <p:nvPr/>
        </p:nvSpPr>
        <p:spPr>
          <a:xfrm>
            <a:off x="4251960" y="5120640"/>
            <a:ext cx="1371600" cy="512064"/>
          </a:xfrm>
          <a:prstGeom prst="rect">
            <a:avLst/>
          </a:prstGeom>
          <a:solidFill>
            <a:srgbClr val="F3F3F3"/>
          </a:solidFill>
          <a:ln w="6350">
            <a:solidFill>
              <a:srgbClr val="E2E2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TextBox 86"/>
          <p:cNvSpPr txBox="1"/>
          <p:nvPr/>
        </p:nvSpPr>
        <p:spPr>
          <a:xfrm>
            <a:off x="4297680" y="5157216"/>
            <a:ext cx="1280160" cy="457200"/>
          </a:xfrm>
          <a:prstGeom prst="rect">
            <a:avLst/>
          </a:prstGeom>
          <a:noFill/>
        </p:spPr>
        <p:txBody>
          <a:bodyPr wrap="square" anchor="ctr">
            <a:normAutofit/>
          </a:bodyPr>
          <a:lstStyle/>
          <a:p>
            <a:pPr algn="l"/>
            <a:r>
              <a:rPr sz="850" b="1" i="0">
                <a:solidFill>
                  <a:srgbClr val="C3002B"/>
                </a:solidFill>
                <a:latin typeface="Arial"/>
              </a:rPr>
              <a:t>Deadline</a:t>
            </a:r>
          </a:p>
        </p:txBody>
      </p:sp>
      <p:sp>
        <p:nvSpPr>
          <p:cNvPr id="88" name="Rectangle 87"/>
          <p:cNvSpPr/>
          <p:nvPr/>
        </p:nvSpPr>
        <p:spPr>
          <a:xfrm>
            <a:off x="5623560" y="5120640"/>
            <a:ext cx="4206240" cy="512064"/>
          </a:xfrm>
          <a:prstGeom prst="rect">
            <a:avLst/>
          </a:prstGeom>
          <a:solidFill>
            <a:srgbClr val="F3F3F3"/>
          </a:solidFill>
          <a:ln w="6350">
            <a:solidFill>
              <a:srgbClr val="E2E2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TextBox 88"/>
          <p:cNvSpPr txBox="1"/>
          <p:nvPr/>
        </p:nvSpPr>
        <p:spPr>
          <a:xfrm>
            <a:off x="5669280" y="5157216"/>
            <a:ext cx="4114800" cy="457200"/>
          </a:xfrm>
          <a:prstGeom prst="rect">
            <a:avLst/>
          </a:prstGeom>
          <a:noFill/>
        </p:spPr>
        <p:txBody>
          <a:bodyPr wrap="square" anchor="ctr">
            <a:normAutofit/>
          </a:bodyPr>
          <a:lstStyle/>
          <a:p>
            <a:pPr algn="l"/>
            <a:r>
              <a:rPr sz="850" b="0" i="0">
                <a:solidFill>
                  <a:srgbClr val="1C1C1C"/>
                </a:solidFill>
                <a:latin typeface="Arial"/>
              </a:rPr>
              <a:t>Decision calendar; every decision prepared in advance by C&amp;W</a:t>
            </a:r>
          </a:p>
        </p:txBody>
      </p:sp>
      <p:sp>
        <p:nvSpPr>
          <p:cNvPr id="90" name="Rectangle 89"/>
          <p:cNvSpPr/>
          <p:nvPr/>
        </p:nvSpPr>
        <p:spPr>
          <a:xfrm>
            <a:off x="9829800" y="5120640"/>
            <a:ext cx="1005840" cy="512064"/>
          </a:xfrm>
          <a:prstGeom prst="rect">
            <a:avLst/>
          </a:prstGeom>
          <a:solidFill>
            <a:srgbClr val="F3F3F3"/>
          </a:solidFill>
          <a:ln w="6350">
            <a:solidFill>
              <a:srgbClr val="E2E2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TextBox 90"/>
          <p:cNvSpPr txBox="1"/>
          <p:nvPr/>
        </p:nvSpPr>
        <p:spPr>
          <a:xfrm>
            <a:off x="9875520" y="5157216"/>
            <a:ext cx="914400" cy="457200"/>
          </a:xfrm>
          <a:prstGeom prst="rect">
            <a:avLst/>
          </a:prstGeom>
          <a:noFill/>
        </p:spPr>
        <p:txBody>
          <a:bodyPr wrap="square" anchor="ctr">
            <a:normAutofit/>
          </a:bodyPr>
          <a:lstStyle/>
          <a:p>
            <a:pPr algn="l"/>
            <a:r>
              <a:rPr sz="850" b="0" i="0">
                <a:solidFill>
                  <a:srgbClr val="1C1C1C"/>
                </a:solidFill>
                <a:latin typeface="Arial"/>
              </a:rPr>
              <a:t>SPM</a:t>
            </a:r>
          </a:p>
        </p:txBody>
      </p:sp>
      <p:sp>
        <p:nvSpPr>
          <p:cNvPr id="92" name="Rectangle 91"/>
          <p:cNvSpPr/>
          <p:nvPr/>
        </p:nvSpPr>
        <p:spPr>
          <a:xfrm>
            <a:off x="10835640" y="5120640"/>
            <a:ext cx="640080" cy="512064"/>
          </a:xfrm>
          <a:prstGeom prst="rect">
            <a:avLst/>
          </a:prstGeom>
          <a:solidFill>
            <a:srgbClr val="F3F3F3"/>
          </a:solidFill>
          <a:ln w="6350">
            <a:solidFill>
              <a:srgbClr val="E2E2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TextBox 92"/>
          <p:cNvSpPr txBox="1"/>
          <p:nvPr/>
        </p:nvSpPr>
        <p:spPr>
          <a:xfrm>
            <a:off x="10881360" y="5157216"/>
            <a:ext cx="548640" cy="457200"/>
          </a:xfrm>
          <a:prstGeom prst="rect">
            <a:avLst/>
          </a:prstGeom>
          <a:noFill/>
        </p:spPr>
        <p:txBody>
          <a:bodyPr wrap="square" anchor="ctr">
            <a:normAutofit/>
          </a:bodyPr>
          <a:lstStyle/>
          <a:p>
            <a:pPr algn="l"/>
            <a:r>
              <a:rPr sz="850" b="1" i="0">
                <a:solidFill>
                  <a:srgbClr val="E89A00"/>
                </a:solidFill>
                <a:latin typeface="Arial"/>
              </a:rPr>
              <a:t>●</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4592" cy="6858000"/>
          </a:xfrm>
          <a:prstGeom prst="rect">
            <a:avLst/>
          </a:prstGeom>
          <a:solidFill>
            <a:srgbClr val="C3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219456"/>
            <a:ext cx="10058400" cy="274320"/>
          </a:xfrm>
          <a:prstGeom prst="rect">
            <a:avLst/>
          </a:prstGeom>
          <a:noFill/>
        </p:spPr>
        <p:txBody>
          <a:bodyPr wrap="square" anchor="t">
            <a:normAutofit/>
          </a:bodyPr>
          <a:lstStyle/>
          <a:p>
            <a:pPr algn="l"/>
            <a:r>
              <a:rPr sz="1000" b="1" i="0">
                <a:solidFill>
                  <a:srgbClr val="C3002B"/>
                </a:solidFill>
                <a:latin typeface="Arial"/>
              </a:rPr>
              <a:t>05 — WHY C&amp;W, TEAM &amp; TRACK RECORD</a:t>
            </a:r>
          </a:p>
        </p:txBody>
      </p:sp>
      <p:sp>
        <p:nvSpPr>
          <p:cNvPr id="4" name="TextBox 3"/>
          <p:cNvSpPr txBox="1"/>
          <p:nvPr/>
        </p:nvSpPr>
        <p:spPr>
          <a:xfrm>
            <a:off x="411480" y="457200"/>
            <a:ext cx="11155680" cy="868680"/>
          </a:xfrm>
          <a:prstGeom prst="rect">
            <a:avLst/>
          </a:prstGeom>
          <a:noFill/>
        </p:spPr>
        <p:txBody>
          <a:bodyPr wrap="square" anchor="t">
            <a:normAutofit/>
          </a:bodyPr>
          <a:lstStyle/>
          <a:p>
            <a:pPr algn="l"/>
            <a:r>
              <a:rPr sz="2300" b="1" i="0">
                <a:solidFill>
                  <a:srgbClr val="1C1C1C"/>
                </a:solidFill>
                <a:latin typeface="Arial"/>
              </a:rPr>
              <a:t>Why Cushman &amp; Wakefield — not a local project-management firm</a:t>
            </a:r>
          </a:p>
        </p:txBody>
      </p:sp>
      <p:sp>
        <p:nvSpPr>
          <p:cNvPr id="5" name="TextBox 4"/>
          <p:cNvSpPr txBox="1"/>
          <p:nvPr/>
        </p:nvSpPr>
        <p:spPr>
          <a:xfrm>
            <a:off x="411480" y="6446520"/>
            <a:ext cx="5486400" cy="274320"/>
          </a:xfrm>
          <a:prstGeom prst="rect">
            <a:avLst/>
          </a:prstGeom>
          <a:noFill/>
        </p:spPr>
        <p:txBody>
          <a:bodyPr wrap="square" anchor="t">
            <a:normAutofit/>
          </a:bodyPr>
          <a:lstStyle/>
          <a:p>
            <a:pPr algn="l"/>
            <a:r>
              <a:rPr sz="800" b="0" i="0">
                <a:solidFill>
                  <a:srgbClr val="7A7A7A"/>
                </a:solidFill>
                <a:latin typeface="Arial"/>
              </a:rPr>
              <a:t>CUSHMAN &amp; WAKEFIELD  |  CORUM A.M.  ·  WESTGATE I</a:t>
            </a:r>
          </a:p>
        </p:txBody>
      </p:sp>
      <p:sp>
        <p:nvSpPr>
          <p:cNvPr id="6" name="TextBox 5"/>
          <p:cNvSpPr txBox="1"/>
          <p:nvPr/>
        </p:nvSpPr>
        <p:spPr>
          <a:xfrm>
            <a:off x="11475720" y="6446520"/>
            <a:ext cx="502920" cy="274320"/>
          </a:xfrm>
          <a:prstGeom prst="rect">
            <a:avLst/>
          </a:prstGeom>
          <a:noFill/>
        </p:spPr>
        <p:txBody>
          <a:bodyPr wrap="square" anchor="t">
            <a:normAutofit/>
          </a:bodyPr>
          <a:lstStyle/>
          <a:p>
            <a:pPr algn="r"/>
            <a:r>
              <a:rPr sz="1000" b="0" i="0">
                <a:solidFill>
                  <a:srgbClr val="7A7A7A"/>
                </a:solidFill>
                <a:latin typeface="Arial"/>
              </a:rPr>
              <a:t>20</a:t>
            </a:r>
          </a:p>
        </p:txBody>
      </p:sp>
      <p:sp>
        <p:nvSpPr>
          <p:cNvPr id="7" name="Rounded Rectangle 6"/>
          <p:cNvSpPr/>
          <p:nvPr/>
        </p:nvSpPr>
        <p:spPr>
          <a:xfrm>
            <a:off x="7726679" y="6419088"/>
            <a:ext cx="3657600" cy="292608"/>
          </a:xfrm>
          <a:prstGeom prst="roundRect">
            <a:avLst/>
          </a:prstGeom>
          <a:solidFill>
            <a:srgbClr val="C3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26679" y="6455664"/>
            <a:ext cx="3657600" cy="237744"/>
          </a:xfrm>
          <a:prstGeom prst="rect">
            <a:avLst/>
          </a:prstGeom>
          <a:noFill/>
        </p:spPr>
        <p:txBody>
          <a:bodyPr wrap="square" anchor="t">
            <a:normAutofit/>
          </a:bodyPr>
          <a:lstStyle/>
          <a:p>
            <a:pPr algn="ctr"/>
            <a:r>
              <a:rPr sz="800" b="1" i="0">
                <a:solidFill>
                  <a:srgbClr val="FFFFFF"/>
                </a:solidFill>
                <a:latin typeface="Arial"/>
              </a:rPr>
              <a:t>CORUM DECIDES  ·  C&amp;W DELIVERS  ·  PwC ALIGNED</a:t>
            </a:r>
          </a:p>
        </p:txBody>
      </p:sp>
      <p:sp>
        <p:nvSpPr>
          <p:cNvPr id="9" name="Rectangle 8"/>
          <p:cNvSpPr/>
          <p:nvPr/>
        </p:nvSpPr>
        <p:spPr>
          <a:xfrm>
            <a:off x="411480" y="1737360"/>
            <a:ext cx="5577840" cy="1874519"/>
          </a:xfrm>
          <a:prstGeom prst="rect">
            <a:avLst/>
          </a:prstGeom>
          <a:solidFill>
            <a:srgbClr val="FFFFFF"/>
          </a:solidFill>
          <a:ln w="6350">
            <a:solidFill>
              <a:srgbClr val="E2E2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76072" y="1874520"/>
            <a:ext cx="5212080" cy="457200"/>
          </a:xfrm>
          <a:prstGeom prst="rect">
            <a:avLst/>
          </a:prstGeom>
          <a:noFill/>
        </p:spPr>
        <p:txBody>
          <a:bodyPr wrap="square" anchor="t">
            <a:normAutofit/>
          </a:bodyPr>
          <a:lstStyle/>
          <a:p>
            <a:pPr algn="l"/>
            <a:r>
              <a:rPr sz="1300" b="1" i="0">
                <a:solidFill>
                  <a:srgbClr val="C3002B"/>
                </a:solidFill>
                <a:latin typeface="Arial"/>
              </a:rPr>
              <a:t>WE SPEAK INVESTOR</a:t>
            </a:r>
          </a:p>
        </p:txBody>
      </p:sp>
      <p:sp>
        <p:nvSpPr>
          <p:cNvPr id="11" name="TextBox 10"/>
          <p:cNvSpPr txBox="1"/>
          <p:nvPr/>
        </p:nvSpPr>
        <p:spPr>
          <a:xfrm>
            <a:off x="576072" y="2377440"/>
            <a:ext cx="5257800" cy="1143000"/>
          </a:xfrm>
          <a:prstGeom prst="rect">
            <a:avLst/>
          </a:prstGeom>
          <a:noFill/>
        </p:spPr>
        <p:txBody>
          <a:bodyPr wrap="square" anchor="t">
            <a:normAutofit/>
          </a:bodyPr>
          <a:lstStyle/>
          <a:p>
            <a:pPr algn="l"/>
            <a:r>
              <a:rPr sz="1100" b="0" i="0">
                <a:solidFill>
                  <a:srgbClr val="1C1C1C"/>
                </a:solidFill>
                <a:latin typeface="Arial"/>
              </a:rPr>
              <a:t>As a global real estate adviser, we understand Corum's world: returns, lease value, exit. We manage the project in the language of asset value, not just square metres.</a:t>
            </a:r>
          </a:p>
        </p:txBody>
      </p:sp>
      <p:sp>
        <p:nvSpPr>
          <p:cNvPr id="12" name="Rectangle 11"/>
          <p:cNvSpPr/>
          <p:nvPr/>
        </p:nvSpPr>
        <p:spPr>
          <a:xfrm>
            <a:off x="6217920" y="1737360"/>
            <a:ext cx="5577840" cy="1874519"/>
          </a:xfrm>
          <a:prstGeom prst="rect">
            <a:avLst/>
          </a:prstGeom>
          <a:solidFill>
            <a:srgbClr val="FFFFFF"/>
          </a:solidFill>
          <a:ln w="6350">
            <a:solidFill>
              <a:srgbClr val="E2E2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82512" y="1874520"/>
            <a:ext cx="5212080" cy="457200"/>
          </a:xfrm>
          <a:prstGeom prst="rect">
            <a:avLst/>
          </a:prstGeom>
          <a:noFill/>
        </p:spPr>
        <p:txBody>
          <a:bodyPr wrap="square" anchor="t">
            <a:normAutofit/>
          </a:bodyPr>
          <a:lstStyle/>
          <a:p>
            <a:pPr algn="l"/>
            <a:r>
              <a:rPr sz="1300" b="1" i="0">
                <a:solidFill>
                  <a:srgbClr val="C3002B"/>
                </a:solidFill>
                <a:latin typeface="Arial"/>
              </a:rPr>
              <a:t>WE MANAGE CORPORATE OCCUPIERS</a:t>
            </a:r>
          </a:p>
        </p:txBody>
      </p:sp>
      <p:sp>
        <p:nvSpPr>
          <p:cNvPr id="14" name="TextBox 13"/>
          <p:cNvSpPr txBox="1"/>
          <p:nvPr/>
        </p:nvSpPr>
        <p:spPr>
          <a:xfrm>
            <a:off x="6382512" y="2377440"/>
            <a:ext cx="5257800" cy="1143000"/>
          </a:xfrm>
          <a:prstGeom prst="rect">
            <a:avLst/>
          </a:prstGeom>
          <a:noFill/>
        </p:spPr>
        <p:txBody>
          <a:bodyPr wrap="square" anchor="t">
            <a:normAutofit/>
          </a:bodyPr>
          <a:lstStyle/>
          <a:p>
            <a:pPr algn="l"/>
            <a:r>
              <a:rPr sz="1100" b="0" i="0">
                <a:solidFill>
                  <a:srgbClr val="1C1C1C"/>
                </a:solidFill>
                <a:latin typeface="Arial"/>
              </a:rPr>
              <a:t>Managing demanding corporate tenants like PwC is core C&amp;W business. We know how to keep a blue-chip occupier confident through disruptive works.</a:t>
            </a:r>
          </a:p>
        </p:txBody>
      </p:sp>
      <p:sp>
        <p:nvSpPr>
          <p:cNvPr id="15" name="Rectangle 14"/>
          <p:cNvSpPr/>
          <p:nvPr/>
        </p:nvSpPr>
        <p:spPr>
          <a:xfrm>
            <a:off x="411480" y="3840480"/>
            <a:ext cx="5577840" cy="1874519"/>
          </a:xfrm>
          <a:prstGeom prst="rect">
            <a:avLst/>
          </a:prstGeom>
          <a:solidFill>
            <a:srgbClr val="FFFFFF"/>
          </a:solidFill>
          <a:ln w="6350">
            <a:solidFill>
              <a:srgbClr val="E2E2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76072" y="3977640"/>
            <a:ext cx="5212080" cy="457200"/>
          </a:xfrm>
          <a:prstGeom prst="rect">
            <a:avLst/>
          </a:prstGeom>
          <a:noFill/>
        </p:spPr>
        <p:txBody>
          <a:bodyPr wrap="square" anchor="t">
            <a:normAutofit/>
          </a:bodyPr>
          <a:lstStyle/>
          <a:p>
            <a:pPr algn="l"/>
            <a:r>
              <a:rPr sz="1300" b="1" i="0">
                <a:solidFill>
                  <a:srgbClr val="C3002B"/>
                </a:solidFill>
                <a:latin typeface="Arial"/>
              </a:rPr>
              <a:t>WE ARE ONE INTEGRATED PARTNER</a:t>
            </a:r>
          </a:p>
        </p:txBody>
      </p:sp>
      <p:sp>
        <p:nvSpPr>
          <p:cNvPr id="17" name="TextBox 16"/>
          <p:cNvSpPr txBox="1"/>
          <p:nvPr/>
        </p:nvSpPr>
        <p:spPr>
          <a:xfrm>
            <a:off x="576072" y="4480560"/>
            <a:ext cx="5257800" cy="1143000"/>
          </a:xfrm>
          <a:prstGeom prst="rect">
            <a:avLst/>
          </a:prstGeom>
          <a:noFill/>
        </p:spPr>
        <p:txBody>
          <a:bodyPr wrap="square" anchor="t">
            <a:normAutofit/>
          </a:bodyPr>
          <a:lstStyle/>
          <a:p>
            <a:pPr algn="l"/>
            <a:r>
              <a:rPr sz="1100" b="0" i="0">
                <a:solidFill>
                  <a:srgbClr val="1C1C1C"/>
                </a:solidFill>
                <a:latin typeface="Arial"/>
              </a:rPr>
              <a:t>Project &amp; Development Services, cost management, building consultancy and market knowledge under one roof — one accountable partner, not a chain of sub-advisers.</a:t>
            </a:r>
          </a:p>
        </p:txBody>
      </p:sp>
      <p:sp>
        <p:nvSpPr>
          <p:cNvPr id="18" name="Rectangle 17"/>
          <p:cNvSpPr/>
          <p:nvPr/>
        </p:nvSpPr>
        <p:spPr>
          <a:xfrm>
            <a:off x="6217920" y="3840480"/>
            <a:ext cx="5577840" cy="1874519"/>
          </a:xfrm>
          <a:prstGeom prst="rect">
            <a:avLst/>
          </a:prstGeom>
          <a:solidFill>
            <a:srgbClr val="FFFFFF"/>
          </a:solidFill>
          <a:ln w="6350">
            <a:solidFill>
              <a:srgbClr val="E2E2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382512" y="3977640"/>
            <a:ext cx="5212080" cy="457200"/>
          </a:xfrm>
          <a:prstGeom prst="rect">
            <a:avLst/>
          </a:prstGeom>
          <a:noFill/>
        </p:spPr>
        <p:txBody>
          <a:bodyPr wrap="square" anchor="t">
            <a:normAutofit/>
          </a:bodyPr>
          <a:lstStyle/>
          <a:p>
            <a:pPr algn="l"/>
            <a:r>
              <a:rPr sz="1300" b="1" i="0">
                <a:solidFill>
                  <a:srgbClr val="C3002B"/>
                </a:solidFill>
                <a:latin typeface="Arial"/>
              </a:rPr>
              <a:t>WE ARE LOCAL, FOR A REMOTE OWNER</a:t>
            </a:r>
          </a:p>
        </p:txBody>
      </p:sp>
      <p:sp>
        <p:nvSpPr>
          <p:cNvPr id="20" name="TextBox 19"/>
          <p:cNvSpPr txBox="1"/>
          <p:nvPr/>
        </p:nvSpPr>
        <p:spPr>
          <a:xfrm>
            <a:off x="6382512" y="4480560"/>
            <a:ext cx="5257800" cy="1143000"/>
          </a:xfrm>
          <a:prstGeom prst="rect">
            <a:avLst/>
          </a:prstGeom>
          <a:noFill/>
        </p:spPr>
        <p:txBody>
          <a:bodyPr wrap="square" anchor="t">
            <a:normAutofit/>
          </a:bodyPr>
          <a:lstStyle/>
          <a:p>
            <a:pPr algn="l"/>
            <a:r>
              <a:rPr sz="1100" b="0" i="0">
                <a:solidFill>
                  <a:srgbClr val="1C1C1C"/>
                </a:solidFill>
                <a:latin typeface="Arial"/>
              </a:rPr>
              <a:t>Feet on the ground in the Netherlands, reporting to an owner abroad. We are your eyes, ears and hands in Amsterdam — exactly the gap Corum needs filled.</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28600"/>
            <a:ext cx="8229600" cy="274320"/>
          </a:xfrm>
          <a:prstGeom prst="rect">
            <a:avLst/>
          </a:prstGeom>
          <a:noFill/>
        </p:spPr>
        <p:txBody>
          <a:bodyPr wrap="square" anchor="t">
            <a:normAutofit/>
          </a:bodyPr>
          <a:lstStyle/>
          <a:p>
            <a:pPr algn="l"/>
            <a:r>
              <a:rPr sz="1000" b="1" i="0">
                <a:solidFill>
                  <a:srgbClr val="D9D9D9"/>
                </a:solidFill>
                <a:latin typeface="Arial"/>
              </a:rPr>
              <a:t>05 — TEAM</a:t>
            </a:r>
          </a:p>
        </p:txBody>
      </p:sp>
      <p:sp>
        <p:nvSpPr>
          <p:cNvPr id="3" name="TextBox 2"/>
          <p:cNvSpPr txBox="1"/>
          <p:nvPr/>
        </p:nvSpPr>
        <p:spPr>
          <a:xfrm>
            <a:off x="0" y="3017520"/>
            <a:ext cx="12191695" cy="457200"/>
          </a:xfrm>
          <a:prstGeom prst="rect">
            <a:avLst/>
          </a:prstGeom>
          <a:noFill/>
        </p:spPr>
        <p:txBody>
          <a:bodyPr wrap="square" anchor="t">
            <a:normAutofit/>
          </a:bodyPr>
          <a:lstStyle/>
          <a:p>
            <a:pPr algn="ctr"/>
            <a:r>
              <a:rPr sz="1200" b="0" i="1">
                <a:solidFill>
                  <a:srgbClr val="D9D9D9"/>
                </a:solidFill>
                <a:latin typeface="Arial"/>
              </a:rPr>
              <a:t>[ TEAMPAGINA — BEWUST LEEG GELATEN / IN TE VULLEN ]</a:t>
            </a:r>
          </a:p>
        </p:txBody>
      </p:sp>
      <p:sp>
        <p:nvSpPr>
          <p:cNvPr id="4" name="TextBox 3"/>
          <p:cNvSpPr txBox="1"/>
          <p:nvPr/>
        </p:nvSpPr>
        <p:spPr>
          <a:xfrm>
            <a:off x="11475720" y="6446520"/>
            <a:ext cx="502920" cy="274320"/>
          </a:xfrm>
          <a:prstGeom prst="rect">
            <a:avLst/>
          </a:prstGeom>
          <a:noFill/>
        </p:spPr>
        <p:txBody>
          <a:bodyPr wrap="square" anchor="t">
            <a:normAutofit/>
          </a:bodyPr>
          <a:lstStyle/>
          <a:p>
            <a:pPr algn="r"/>
            <a:r>
              <a:rPr sz="1000" b="0" i="0">
                <a:solidFill>
                  <a:srgbClr val="D9D9D9"/>
                </a:solidFill>
                <a:latin typeface="Arial"/>
              </a:rPr>
              <a:t>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4592" cy="6858000"/>
          </a:xfrm>
          <a:prstGeom prst="rect">
            <a:avLst/>
          </a:prstGeom>
          <a:solidFill>
            <a:srgbClr val="C3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219456"/>
            <a:ext cx="10058400" cy="274320"/>
          </a:xfrm>
          <a:prstGeom prst="rect">
            <a:avLst/>
          </a:prstGeom>
          <a:noFill/>
        </p:spPr>
        <p:txBody>
          <a:bodyPr wrap="square" anchor="t">
            <a:normAutofit/>
          </a:bodyPr>
          <a:lstStyle/>
          <a:p>
            <a:pPr algn="l"/>
            <a:r>
              <a:rPr sz="1000" b="1" i="0">
                <a:solidFill>
                  <a:srgbClr val="C3002B"/>
                </a:solidFill>
                <a:latin typeface="Arial"/>
              </a:rPr>
              <a:t>05 — WHY C&amp;W, TEAM &amp; TRACK RECORD</a:t>
            </a:r>
          </a:p>
        </p:txBody>
      </p:sp>
      <p:sp>
        <p:nvSpPr>
          <p:cNvPr id="4" name="TextBox 3"/>
          <p:cNvSpPr txBox="1"/>
          <p:nvPr/>
        </p:nvSpPr>
        <p:spPr>
          <a:xfrm>
            <a:off x="411480" y="457200"/>
            <a:ext cx="11155680" cy="868680"/>
          </a:xfrm>
          <a:prstGeom prst="rect">
            <a:avLst/>
          </a:prstGeom>
          <a:noFill/>
        </p:spPr>
        <p:txBody>
          <a:bodyPr wrap="square" anchor="t">
            <a:normAutofit/>
          </a:bodyPr>
          <a:lstStyle/>
          <a:p>
            <a:pPr algn="l"/>
            <a:r>
              <a:rPr sz="2300" b="1" i="0">
                <a:solidFill>
                  <a:srgbClr val="1C1C1C"/>
                </a:solidFill>
                <a:latin typeface="Arial"/>
              </a:rPr>
              <a:t>We have done exactly this: sustainability upgrades in</a:t>
            </a:r>
          </a:p>
          <a:p>
            <a:pPr algn="l"/>
            <a:r>
              <a:rPr sz="2300" b="1" i="0">
                <a:solidFill>
                  <a:srgbClr val="1C1C1C"/>
                </a:solidFill>
                <a:latin typeface="Arial"/>
              </a:rPr>
              <a:t>occupied, blue-chip buildings</a:t>
            </a:r>
          </a:p>
        </p:txBody>
      </p:sp>
      <p:sp>
        <p:nvSpPr>
          <p:cNvPr id="5" name="TextBox 4"/>
          <p:cNvSpPr txBox="1"/>
          <p:nvPr/>
        </p:nvSpPr>
        <p:spPr>
          <a:xfrm>
            <a:off x="411480" y="6446520"/>
            <a:ext cx="5486400" cy="274320"/>
          </a:xfrm>
          <a:prstGeom prst="rect">
            <a:avLst/>
          </a:prstGeom>
          <a:noFill/>
        </p:spPr>
        <p:txBody>
          <a:bodyPr wrap="square" anchor="t">
            <a:normAutofit/>
          </a:bodyPr>
          <a:lstStyle/>
          <a:p>
            <a:pPr algn="l"/>
            <a:r>
              <a:rPr sz="800" b="0" i="0">
                <a:solidFill>
                  <a:srgbClr val="7A7A7A"/>
                </a:solidFill>
                <a:latin typeface="Arial"/>
              </a:rPr>
              <a:t>CUSHMAN &amp; WAKEFIELD  |  CORUM A.M.  ·  WESTGATE I</a:t>
            </a:r>
          </a:p>
        </p:txBody>
      </p:sp>
      <p:sp>
        <p:nvSpPr>
          <p:cNvPr id="6" name="TextBox 5"/>
          <p:cNvSpPr txBox="1"/>
          <p:nvPr/>
        </p:nvSpPr>
        <p:spPr>
          <a:xfrm>
            <a:off x="11475720" y="6446520"/>
            <a:ext cx="502920" cy="274320"/>
          </a:xfrm>
          <a:prstGeom prst="rect">
            <a:avLst/>
          </a:prstGeom>
          <a:noFill/>
        </p:spPr>
        <p:txBody>
          <a:bodyPr wrap="square" anchor="t">
            <a:normAutofit/>
          </a:bodyPr>
          <a:lstStyle/>
          <a:p>
            <a:pPr algn="r"/>
            <a:r>
              <a:rPr sz="1000" b="0" i="0">
                <a:solidFill>
                  <a:srgbClr val="7A7A7A"/>
                </a:solidFill>
                <a:latin typeface="Arial"/>
              </a:rPr>
              <a:t>22</a:t>
            </a:r>
          </a:p>
        </p:txBody>
      </p:sp>
      <p:sp>
        <p:nvSpPr>
          <p:cNvPr id="7" name="Rounded Rectangle 6"/>
          <p:cNvSpPr/>
          <p:nvPr/>
        </p:nvSpPr>
        <p:spPr>
          <a:xfrm>
            <a:off x="7726679" y="6419088"/>
            <a:ext cx="3657600" cy="292608"/>
          </a:xfrm>
          <a:prstGeom prst="roundRect">
            <a:avLst/>
          </a:prstGeom>
          <a:solidFill>
            <a:srgbClr val="C3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26679" y="6455664"/>
            <a:ext cx="3657600" cy="237744"/>
          </a:xfrm>
          <a:prstGeom prst="rect">
            <a:avLst/>
          </a:prstGeom>
          <a:noFill/>
        </p:spPr>
        <p:txBody>
          <a:bodyPr wrap="square" anchor="t">
            <a:normAutofit/>
          </a:bodyPr>
          <a:lstStyle/>
          <a:p>
            <a:pPr algn="ctr"/>
            <a:r>
              <a:rPr sz="800" b="1" i="0">
                <a:solidFill>
                  <a:srgbClr val="FFFFFF"/>
                </a:solidFill>
                <a:latin typeface="Arial"/>
              </a:rPr>
              <a:t>CORUM DECIDES  ·  C&amp;W DELIVERS  ·  PwC ALIGNED</a:t>
            </a:r>
          </a:p>
        </p:txBody>
      </p:sp>
      <p:sp>
        <p:nvSpPr>
          <p:cNvPr id="9" name="Rectangle 8"/>
          <p:cNvSpPr/>
          <p:nvPr/>
        </p:nvSpPr>
        <p:spPr>
          <a:xfrm>
            <a:off x="411480" y="1783080"/>
            <a:ext cx="2697480" cy="3931920"/>
          </a:xfrm>
          <a:prstGeom prst="rect">
            <a:avLst/>
          </a:prstGeom>
          <a:solidFill>
            <a:srgbClr val="F3F3F3"/>
          </a:solidFill>
          <a:ln w="6350">
            <a:solidFill>
              <a:srgbClr val="E2E2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02920" y="1874519"/>
            <a:ext cx="2514600" cy="1371600"/>
          </a:xfrm>
          <a:prstGeom prst="rect">
            <a:avLst/>
          </a:prstGeom>
          <a:solidFill>
            <a:srgbClr val="D9D9D9"/>
          </a:solidFill>
          <a:ln w="6350">
            <a:solidFill>
              <a:srgbClr val="E2E2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2377440"/>
            <a:ext cx="2514600" cy="365760"/>
          </a:xfrm>
          <a:prstGeom prst="rect">
            <a:avLst/>
          </a:prstGeom>
          <a:noFill/>
        </p:spPr>
        <p:txBody>
          <a:bodyPr wrap="square" anchor="t">
            <a:normAutofit/>
          </a:bodyPr>
          <a:lstStyle/>
          <a:p>
            <a:pPr algn="ctr"/>
            <a:r>
              <a:rPr sz="1000" b="0" i="0">
                <a:solidFill>
                  <a:srgbClr val="7A7A7A"/>
                </a:solidFill>
                <a:latin typeface="Arial"/>
              </a:rPr>
              <a:t>[FOTO]</a:t>
            </a:r>
          </a:p>
        </p:txBody>
      </p:sp>
      <p:sp>
        <p:nvSpPr>
          <p:cNvPr id="12" name="TextBox 11"/>
          <p:cNvSpPr txBox="1"/>
          <p:nvPr/>
        </p:nvSpPr>
        <p:spPr>
          <a:xfrm>
            <a:off x="548640" y="3383280"/>
            <a:ext cx="2423160" cy="365760"/>
          </a:xfrm>
          <a:prstGeom prst="rect">
            <a:avLst/>
          </a:prstGeom>
          <a:noFill/>
        </p:spPr>
        <p:txBody>
          <a:bodyPr wrap="square" anchor="t">
            <a:normAutofit/>
          </a:bodyPr>
          <a:lstStyle/>
          <a:p>
            <a:pPr algn="l"/>
            <a:r>
              <a:rPr sz="1100" b="1" i="0">
                <a:solidFill>
                  <a:srgbClr val="C3002B"/>
                </a:solidFill>
                <a:latin typeface="Arial"/>
              </a:rPr>
              <a:t>REFERENCE 1</a:t>
            </a:r>
          </a:p>
        </p:txBody>
      </p:sp>
      <p:sp>
        <p:nvSpPr>
          <p:cNvPr id="13" name="TextBox 12"/>
          <p:cNvSpPr txBox="1"/>
          <p:nvPr/>
        </p:nvSpPr>
        <p:spPr>
          <a:xfrm>
            <a:off x="548640" y="3749039"/>
            <a:ext cx="2423160" cy="1828800"/>
          </a:xfrm>
          <a:prstGeom prst="rect">
            <a:avLst/>
          </a:prstGeom>
          <a:noFill/>
        </p:spPr>
        <p:txBody>
          <a:bodyPr wrap="square" anchor="t">
            <a:normAutofit/>
          </a:bodyPr>
          <a:lstStyle/>
          <a:p>
            <a:pPr algn="l"/>
            <a:r>
              <a:rPr sz="900" b="0" i="0">
                <a:solidFill>
                  <a:srgbClr val="7A7A7A"/>
                </a:solidFill>
                <a:latin typeface="Arial"/>
              </a:rPr>
              <a:t>Project name</a:t>
            </a:r>
          </a:p>
          <a:p>
            <a:pPr algn="l"/>
            <a:r>
              <a:rPr sz="900" b="0" i="0">
                <a:solidFill>
                  <a:srgbClr val="7A7A7A"/>
                </a:solidFill>
                <a:latin typeface="Arial"/>
              </a:rPr>
              <a:t>Sustainability upgrade / renovation in an occupied office</a:t>
            </a:r>
          </a:p>
          <a:p>
            <a:pPr algn="l"/>
            <a:r>
              <a:rPr sz="900" b="0" i="0">
                <a:solidFill>
                  <a:srgbClr val="7A7A7A"/>
                </a:solidFill>
                <a:latin typeface="Arial"/>
              </a:rPr>
              <a:t>Size · C&amp;W role · outcome (tenant retained, on time, on budget)</a:t>
            </a:r>
          </a:p>
          <a:p>
            <a:pPr algn="l"/>
            <a:r>
              <a:rPr sz="900" b="0" i="0">
                <a:solidFill>
                  <a:srgbClr val="7A7A7A"/>
                </a:solidFill>
                <a:latin typeface="Arial"/>
              </a:rPr>
              <a:t>[ in te vullen ]</a:t>
            </a:r>
          </a:p>
        </p:txBody>
      </p:sp>
      <p:sp>
        <p:nvSpPr>
          <p:cNvPr id="14" name="Rectangle 13"/>
          <p:cNvSpPr/>
          <p:nvPr/>
        </p:nvSpPr>
        <p:spPr>
          <a:xfrm>
            <a:off x="3291840" y="1783080"/>
            <a:ext cx="2697480" cy="3931920"/>
          </a:xfrm>
          <a:prstGeom prst="rect">
            <a:avLst/>
          </a:prstGeom>
          <a:solidFill>
            <a:srgbClr val="F3F3F3"/>
          </a:solidFill>
          <a:ln w="6350">
            <a:solidFill>
              <a:srgbClr val="E2E2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383280" y="1874519"/>
            <a:ext cx="2514600" cy="1371600"/>
          </a:xfrm>
          <a:prstGeom prst="rect">
            <a:avLst/>
          </a:prstGeom>
          <a:solidFill>
            <a:srgbClr val="D9D9D9"/>
          </a:solidFill>
          <a:ln w="6350">
            <a:solidFill>
              <a:srgbClr val="E2E2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383280" y="2377440"/>
            <a:ext cx="2514600" cy="365760"/>
          </a:xfrm>
          <a:prstGeom prst="rect">
            <a:avLst/>
          </a:prstGeom>
          <a:noFill/>
        </p:spPr>
        <p:txBody>
          <a:bodyPr wrap="square" anchor="t">
            <a:normAutofit/>
          </a:bodyPr>
          <a:lstStyle/>
          <a:p>
            <a:pPr algn="ctr"/>
            <a:r>
              <a:rPr sz="1000" b="0" i="0">
                <a:solidFill>
                  <a:srgbClr val="7A7A7A"/>
                </a:solidFill>
                <a:latin typeface="Arial"/>
              </a:rPr>
              <a:t>[FOTO]</a:t>
            </a:r>
          </a:p>
        </p:txBody>
      </p:sp>
      <p:sp>
        <p:nvSpPr>
          <p:cNvPr id="17" name="TextBox 16"/>
          <p:cNvSpPr txBox="1"/>
          <p:nvPr/>
        </p:nvSpPr>
        <p:spPr>
          <a:xfrm>
            <a:off x="3429000" y="3383280"/>
            <a:ext cx="2423160" cy="365760"/>
          </a:xfrm>
          <a:prstGeom prst="rect">
            <a:avLst/>
          </a:prstGeom>
          <a:noFill/>
        </p:spPr>
        <p:txBody>
          <a:bodyPr wrap="square" anchor="t">
            <a:normAutofit/>
          </a:bodyPr>
          <a:lstStyle/>
          <a:p>
            <a:pPr algn="l"/>
            <a:r>
              <a:rPr sz="1100" b="1" i="0">
                <a:solidFill>
                  <a:srgbClr val="C3002B"/>
                </a:solidFill>
                <a:latin typeface="Arial"/>
              </a:rPr>
              <a:t>REFERENCE 2</a:t>
            </a:r>
          </a:p>
        </p:txBody>
      </p:sp>
      <p:sp>
        <p:nvSpPr>
          <p:cNvPr id="18" name="TextBox 17"/>
          <p:cNvSpPr txBox="1"/>
          <p:nvPr/>
        </p:nvSpPr>
        <p:spPr>
          <a:xfrm>
            <a:off x="3429000" y="3749039"/>
            <a:ext cx="2423160" cy="1828800"/>
          </a:xfrm>
          <a:prstGeom prst="rect">
            <a:avLst/>
          </a:prstGeom>
          <a:noFill/>
        </p:spPr>
        <p:txBody>
          <a:bodyPr wrap="square" anchor="t">
            <a:normAutofit/>
          </a:bodyPr>
          <a:lstStyle/>
          <a:p>
            <a:pPr algn="l"/>
            <a:r>
              <a:rPr sz="900" b="0" i="0">
                <a:solidFill>
                  <a:srgbClr val="7A7A7A"/>
                </a:solidFill>
                <a:latin typeface="Arial"/>
              </a:rPr>
              <a:t>Project name</a:t>
            </a:r>
          </a:p>
          <a:p>
            <a:pPr algn="l"/>
            <a:r>
              <a:rPr sz="900" b="0" i="0">
                <a:solidFill>
                  <a:srgbClr val="7A7A7A"/>
                </a:solidFill>
                <a:latin typeface="Arial"/>
              </a:rPr>
              <a:t>Sustainability upgrade / renovation in an occupied office</a:t>
            </a:r>
          </a:p>
          <a:p>
            <a:pPr algn="l"/>
            <a:r>
              <a:rPr sz="900" b="0" i="0">
                <a:solidFill>
                  <a:srgbClr val="7A7A7A"/>
                </a:solidFill>
                <a:latin typeface="Arial"/>
              </a:rPr>
              <a:t>Size · C&amp;W role · outcome (tenant retained, on time, on budget)</a:t>
            </a:r>
          </a:p>
          <a:p>
            <a:pPr algn="l"/>
            <a:r>
              <a:rPr sz="900" b="0" i="0">
                <a:solidFill>
                  <a:srgbClr val="7A7A7A"/>
                </a:solidFill>
                <a:latin typeface="Arial"/>
              </a:rPr>
              <a:t>[ in te vullen ]</a:t>
            </a:r>
          </a:p>
        </p:txBody>
      </p:sp>
      <p:sp>
        <p:nvSpPr>
          <p:cNvPr id="19" name="Rectangle 18"/>
          <p:cNvSpPr/>
          <p:nvPr/>
        </p:nvSpPr>
        <p:spPr>
          <a:xfrm>
            <a:off x="6172200" y="1783080"/>
            <a:ext cx="2697480" cy="3931920"/>
          </a:xfrm>
          <a:prstGeom prst="rect">
            <a:avLst/>
          </a:prstGeom>
          <a:solidFill>
            <a:srgbClr val="F3F3F3"/>
          </a:solidFill>
          <a:ln w="6350">
            <a:solidFill>
              <a:srgbClr val="E2E2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63640" y="1874519"/>
            <a:ext cx="2514600" cy="1371600"/>
          </a:xfrm>
          <a:prstGeom prst="rect">
            <a:avLst/>
          </a:prstGeom>
          <a:solidFill>
            <a:srgbClr val="D9D9D9"/>
          </a:solidFill>
          <a:ln w="6350">
            <a:solidFill>
              <a:srgbClr val="E2E2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263640" y="2377440"/>
            <a:ext cx="2514600" cy="365760"/>
          </a:xfrm>
          <a:prstGeom prst="rect">
            <a:avLst/>
          </a:prstGeom>
          <a:noFill/>
        </p:spPr>
        <p:txBody>
          <a:bodyPr wrap="square" anchor="t">
            <a:normAutofit/>
          </a:bodyPr>
          <a:lstStyle/>
          <a:p>
            <a:pPr algn="ctr"/>
            <a:r>
              <a:rPr sz="1000" b="0" i="0">
                <a:solidFill>
                  <a:srgbClr val="7A7A7A"/>
                </a:solidFill>
                <a:latin typeface="Arial"/>
              </a:rPr>
              <a:t>[FOTO]</a:t>
            </a:r>
          </a:p>
        </p:txBody>
      </p:sp>
      <p:sp>
        <p:nvSpPr>
          <p:cNvPr id="22" name="TextBox 21"/>
          <p:cNvSpPr txBox="1"/>
          <p:nvPr/>
        </p:nvSpPr>
        <p:spPr>
          <a:xfrm>
            <a:off x="6309360" y="3383280"/>
            <a:ext cx="2423160" cy="365760"/>
          </a:xfrm>
          <a:prstGeom prst="rect">
            <a:avLst/>
          </a:prstGeom>
          <a:noFill/>
        </p:spPr>
        <p:txBody>
          <a:bodyPr wrap="square" anchor="t">
            <a:normAutofit/>
          </a:bodyPr>
          <a:lstStyle/>
          <a:p>
            <a:pPr algn="l"/>
            <a:r>
              <a:rPr sz="1100" b="1" i="0">
                <a:solidFill>
                  <a:srgbClr val="C3002B"/>
                </a:solidFill>
                <a:latin typeface="Arial"/>
              </a:rPr>
              <a:t>REFERENCE 3</a:t>
            </a:r>
          </a:p>
        </p:txBody>
      </p:sp>
      <p:sp>
        <p:nvSpPr>
          <p:cNvPr id="23" name="TextBox 22"/>
          <p:cNvSpPr txBox="1"/>
          <p:nvPr/>
        </p:nvSpPr>
        <p:spPr>
          <a:xfrm>
            <a:off x="6309360" y="3749039"/>
            <a:ext cx="2423160" cy="1828800"/>
          </a:xfrm>
          <a:prstGeom prst="rect">
            <a:avLst/>
          </a:prstGeom>
          <a:noFill/>
        </p:spPr>
        <p:txBody>
          <a:bodyPr wrap="square" anchor="t">
            <a:normAutofit/>
          </a:bodyPr>
          <a:lstStyle/>
          <a:p>
            <a:pPr algn="l"/>
            <a:r>
              <a:rPr sz="900" b="0" i="0">
                <a:solidFill>
                  <a:srgbClr val="7A7A7A"/>
                </a:solidFill>
                <a:latin typeface="Arial"/>
              </a:rPr>
              <a:t>Project name</a:t>
            </a:r>
          </a:p>
          <a:p>
            <a:pPr algn="l"/>
            <a:r>
              <a:rPr sz="900" b="0" i="0">
                <a:solidFill>
                  <a:srgbClr val="7A7A7A"/>
                </a:solidFill>
                <a:latin typeface="Arial"/>
              </a:rPr>
              <a:t>Sustainability upgrade / renovation in an occupied office</a:t>
            </a:r>
          </a:p>
          <a:p>
            <a:pPr algn="l"/>
            <a:r>
              <a:rPr sz="900" b="0" i="0">
                <a:solidFill>
                  <a:srgbClr val="7A7A7A"/>
                </a:solidFill>
                <a:latin typeface="Arial"/>
              </a:rPr>
              <a:t>Size · C&amp;W role · outcome (tenant retained, on time, on budget)</a:t>
            </a:r>
          </a:p>
          <a:p>
            <a:pPr algn="l"/>
            <a:r>
              <a:rPr sz="900" b="0" i="0">
                <a:solidFill>
                  <a:srgbClr val="7A7A7A"/>
                </a:solidFill>
                <a:latin typeface="Arial"/>
              </a:rPr>
              <a:t>[ in te vullen ]</a:t>
            </a:r>
          </a:p>
        </p:txBody>
      </p:sp>
      <p:sp>
        <p:nvSpPr>
          <p:cNvPr id="24" name="Rectangle 23"/>
          <p:cNvSpPr/>
          <p:nvPr/>
        </p:nvSpPr>
        <p:spPr>
          <a:xfrm>
            <a:off x="9052560" y="1783080"/>
            <a:ext cx="2697480" cy="3931920"/>
          </a:xfrm>
          <a:prstGeom prst="rect">
            <a:avLst/>
          </a:prstGeom>
          <a:solidFill>
            <a:srgbClr val="F3F3F3"/>
          </a:solidFill>
          <a:ln w="6350">
            <a:solidFill>
              <a:srgbClr val="E2E2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9144000" y="1874519"/>
            <a:ext cx="2514600" cy="1371600"/>
          </a:xfrm>
          <a:prstGeom prst="rect">
            <a:avLst/>
          </a:prstGeom>
          <a:solidFill>
            <a:srgbClr val="D9D9D9"/>
          </a:solidFill>
          <a:ln w="6350">
            <a:solidFill>
              <a:srgbClr val="E2E2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144000" y="2377440"/>
            <a:ext cx="2514600" cy="365760"/>
          </a:xfrm>
          <a:prstGeom prst="rect">
            <a:avLst/>
          </a:prstGeom>
          <a:noFill/>
        </p:spPr>
        <p:txBody>
          <a:bodyPr wrap="square" anchor="t">
            <a:normAutofit/>
          </a:bodyPr>
          <a:lstStyle/>
          <a:p>
            <a:pPr algn="ctr"/>
            <a:r>
              <a:rPr sz="1000" b="0" i="0">
                <a:solidFill>
                  <a:srgbClr val="7A7A7A"/>
                </a:solidFill>
                <a:latin typeface="Arial"/>
              </a:rPr>
              <a:t>[FOTO]</a:t>
            </a:r>
          </a:p>
        </p:txBody>
      </p:sp>
      <p:sp>
        <p:nvSpPr>
          <p:cNvPr id="27" name="TextBox 26"/>
          <p:cNvSpPr txBox="1"/>
          <p:nvPr/>
        </p:nvSpPr>
        <p:spPr>
          <a:xfrm>
            <a:off x="9189720" y="3383280"/>
            <a:ext cx="2423160" cy="365760"/>
          </a:xfrm>
          <a:prstGeom prst="rect">
            <a:avLst/>
          </a:prstGeom>
          <a:noFill/>
        </p:spPr>
        <p:txBody>
          <a:bodyPr wrap="square" anchor="t">
            <a:normAutofit/>
          </a:bodyPr>
          <a:lstStyle/>
          <a:p>
            <a:pPr algn="l"/>
            <a:r>
              <a:rPr sz="1100" b="1" i="0">
                <a:solidFill>
                  <a:srgbClr val="C3002B"/>
                </a:solidFill>
                <a:latin typeface="Arial"/>
              </a:rPr>
              <a:t>REFERENCE 4</a:t>
            </a:r>
          </a:p>
        </p:txBody>
      </p:sp>
      <p:sp>
        <p:nvSpPr>
          <p:cNvPr id="28" name="TextBox 27"/>
          <p:cNvSpPr txBox="1"/>
          <p:nvPr/>
        </p:nvSpPr>
        <p:spPr>
          <a:xfrm>
            <a:off x="9189720" y="3749039"/>
            <a:ext cx="2423160" cy="1828800"/>
          </a:xfrm>
          <a:prstGeom prst="rect">
            <a:avLst/>
          </a:prstGeom>
          <a:noFill/>
        </p:spPr>
        <p:txBody>
          <a:bodyPr wrap="square" anchor="t">
            <a:normAutofit/>
          </a:bodyPr>
          <a:lstStyle/>
          <a:p>
            <a:pPr algn="l"/>
            <a:r>
              <a:rPr sz="900" b="0" i="0">
                <a:solidFill>
                  <a:srgbClr val="7A7A7A"/>
                </a:solidFill>
                <a:latin typeface="Arial"/>
              </a:rPr>
              <a:t>Project name</a:t>
            </a:r>
          </a:p>
          <a:p>
            <a:pPr algn="l"/>
            <a:r>
              <a:rPr sz="900" b="0" i="0">
                <a:solidFill>
                  <a:srgbClr val="7A7A7A"/>
                </a:solidFill>
                <a:latin typeface="Arial"/>
              </a:rPr>
              <a:t>Sustainability upgrade / renovation in an occupied office</a:t>
            </a:r>
          </a:p>
          <a:p>
            <a:pPr algn="l"/>
            <a:r>
              <a:rPr sz="900" b="0" i="0">
                <a:solidFill>
                  <a:srgbClr val="7A7A7A"/>
                </a:solidFill>
                <a:latin typeface="Arial"/>
              </a:rPr>
              <a:t>Size · C&amp;W role · outcome (tenant retained, on time, on budget)</a:t>
            </a:r>
          </a:p>
          <a:p>
            <a:pPr algn="l"/>
            <a:r>
              <a:rPr sz="900" b="0" i="0">
                <a:solidFill>
                  <a:srgbClr val="7A7A7A"/>
                </a:solidFill>
                <a:latin typeface="Arial"/>
              </a:rPr>
              <a:t>[ in te vullen ]</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4592" cy="6858000"/>
          </a:xfrm>
          <a:prstGeom prst="rect">
            <a:avLst/>
          </a:prstGeom>
          <a:solidFill>
            <a:srgbClr val="C3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219456"/>
            <a:ext cx="10058400" cy="274320"/>
          </a:xfrm>
          <a:prstGeom prst="rect">
            <a:avLst/>
          </a:prstGeom>
          <a:noFill/>
        </p:spPr>
        <p:txBody>
          <a:bodyPr wrap="square" anchor="t">
            <a:normAutofit/>
          </a:bodyPr>
          <a:lstStyle/>
          <a:p>
            <a:pPr algn="l"/>
            <a:r>
              <a:rPr sz="1000" b="1" i="0">
                <a:solidFill>
                  <a:srgbClr val="C3002B"/>
                </a:solidFill>
                <a:latin typeface="Arial"/>
              </a:rPr>
              <a:t>06 — COMMERCIALS &amp; THE DECISION  ·  FEE</a:t>
            </a:r>
          </a:p>
        </p:txBody>
      </p:sp>
      <p:sp>
        <p:nvSpPr>
          <p:cNvPr id="4" name="TextBox 3"/>
          <p:cNvSpPr txBox="1"/>
          <p:nvPr/>
        </p:nvSpPr>
        <p:spPr>
          <a:xfrm>
            <a:off x="411480" y="457200"/>
            <a:ext cx="11155680" cy="868680"/>
          </a:xfrm>
          <a:prstGeom prst="rect">
            <a:avLst/>
          </a:prstGeom>
          <a:noFill/>
        </p:spPr>
        <p:txBody>
          <a:bodyPr wrap="square" anchor="t">
            <a:normAutofit/>
          </a:bodyPr>
          <a:lstStyle/>
          <a:p>
            <a:pPr algn="l"/>
            <a:r>
              <a:rPr sz="2300" b="1" i="0">
                <a:solidFill>
                  <a:srgbClr val="1C1C1C"/>
                </a:solidFill>
                <a:latin typeface="Arial"/>
              </a:rPr>
              <a:t>A fee structured as a phased investment — low to start,</a:t>
            </a:r>
          </a:p>
          <a:p>
            <a:pPr algn="l"/>
            <a:r>
              <a:rPr sz="2300" b="1" i="0">
                <a:solidFill>
                  <a:srgbClr val="1C1C1C"/>
                </a:solidFill>
                <a:latin typeface="Arial"/>
              </a:rPr>
              <a:t>earned as we deliver</a:t>
            </a:r>
          </a:p>
        </p:txBody>
      </p:sp>
      <p:sp>
        <p:nvSpPr>
          <p:cNvPr id="5" name="TextBox 4"/>
          <p:cNvSpPr txBox="1"/>
          <p:nvPr/>
        </p:nvSpPr>
        <p:spPr>
          <a:xfrm>
            <a:off x="411480" y="6446520"/>
            <a:ext cx="5486400" cy="274320"/>
          </a:xfrm>
          <a:prstGeom prst="rect">
            <a:avLst/>
          </a:prstGeom>
          <a:noFill/>
        </p:spPr>
        <p:txBody>
          <a:bodyPr wrap="square" anchor="t">
            <a:normAutofit/>
          </a:bodyPr>
          <a:lstStyle/>
          <a:p>
            <a:pPr algn="l"/>
            <a:r>
              <a:rPr sz="800" b="0" i="0">
                <a:solidFill>
                  <a:srgbClr val="7A7A7A"/>
                </a:solidFill>
                <a:latin typeface="Arial"/>
              </a:rPr>
              <a:t>CUSHMAN &amp; WAKEFIELD  |  CORUM A.M.  ·  WESTGATE I</a:t>
            </a:r>
          </a:p>
        </p:txBody>
      </p:sp>
      <p:sp>
        <p:nvSpPr>
          <p:cNvPr id="6" name="TextBox 5"/>
          <p:cNvSpPr txBox="1"/>
          <p:nvPr/>
        </p:nvSpPr>
        <p:spPr>
          <a:xfrm>
            <a:off x="11475720" y="6446520"/>
            <a:ext cx="502920" cy="274320"/>
          </a:xfrm>
          <a:prstGeom prst="rect">
            <a:avLst/>
          </a:prstGeom>
          <a:noFill/>
        </p:spPr>
        <p:txBody>
          <a:bodyPr wrap="square" anchor="t">
            <a:normAutofit/>
          </a:bodyPr>
          <a:lstStyle/>
          <a:p>
            <a:pPr algn="r"/>
            <a:r>
              <a:rPr sz="1000" b="0" i="0">
                <a:solidFill>
                  <a:srgbClr val="7A7A7A"/>
                </a:solidFill>
                <a:latin typeface="Arial"/>
              </a:rPr>
              <a:t>23</a:t>
            </a:r>
          </a:p>
        </p:txBody>
      </p:sp>
      <p:sp>
        <p:nvSpPr>
          <p:cNvPr id="7" name="Rounded Rectangle 6"/>
          <p:cNvSpPr/>
          <p:nvPr/>
        </p:nvSpPr>
        <p:spPr>
          <a:xfrm>
            <a:off x="7726679" y="6419088"/>
            <a:ext cx="3657600" cy="292608"/>
          </a:xfrm>
          <a:prstGeom prst="roundRect">
            <a:avLst/>
          </a:prstGeom>
          <a:solidFill>
            <a:srgbClr val="C3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26679" y="6455664"/>
            <a:ext cx="3657600" cy="237744"/>
          </a:xfrm>
          <a:prstGeom prst="rect">
            <a:avLst/>
          </a:prstGeom>
          <a:noFill/>
        </p:spPr>
        <p:txBody>
          <a:bodyPr wrap="square" anchor="t">
            <a:normAutofit/>
          </a:bodyPr>
          <a:lstStyle/>
          <a:p>
            <a:pPr algn="ctr"/>
            <a:r>
              <a:rPr sz="800" b="1" i="0">
                <a:solidFill>
                  <a:srgbClr val="FFFFFF"/>
                </a:solidFill>
                <a:latin typeface="Arial"/>
              </a:rPr>
              <a:t>CORUM DECIDES  ·  C&amp;W DELIVERS  ·  PwC ALIGNED</a:t>
            </a:r>
          </a:p>
        </p:txBody>
      </p:sp>
      <p:sp>
        <p:nvSpPr>
          <p:cNvPr id="9" name="Rectangle 8"/>
          <p:cNvSpPr/>
          <p:nvPr/>
        </p:nvSpPr>
        <p:spPr>
          <a:xfrm>
            <a:off x="411480" y="1783080"/>
            <a:ext cx="6949440" cy="548640"/>
          </a:xfrm>
          <a:prstGeom prst="rect">
            <a:avLst/>
          </a:prstGeom>
          <a:solidFill>
            <a:srgbClr val="FFFFFF"/>
          </a:solidFill>
          <a:ln w="6350">
            <a:solidFill>
              <a:srgbClr val="E2E2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1856232"/>
            <a:ext cx="4206240" cy="411480"/>
          </a:xfrm>
          <a:prstGeom prst="rect">
            <a:avLst/>
          </a:prstGeom>
          <a:noFill/>
        </p:spPr>
        <p:txBody>
          <a:bodyPr wrap="square" anchor="ctr">
            <a:normAutofit/>
          </a:bodyPr>
          <a:lstStyle/>
          <a:p>
            <a:pPr algn="l"/>
            <a:r>
              <a:rPr sz="1050" b="1" i="0">
                <a:solidFill>
                  <a:srgbClr val="1C1C1C"/>
                </a:solidFill>
                <a:latin typeface="Arial"/>
              </a:rPr>
              <a:t>PHASE 0 — Preparatory assignment</a:t>
            </a:r>
          </a:p>
        </p:txBody>
      </p:sp>
      <p:sp>
        <p:nvSpPr>
          <p:cNvPr id="11" name="TextBox 10"/>
          <p:cNvSpPr txBox="1"/>
          <p:nvPr/>
        </p:nvSpPr>
        <p:spPr>
          <a:xfrm>
            <a:off x="4846320" y="1856232"/>
            <a:ext cx="1554480" cy="411480"/>
          </a:xfrm>
          <a:prstGeom prst="rect">
            <a:avLst/>
          </a:prstGeom>
          <a:noFill/>
        </p:spPr>
        <p:txBody>
          <a:bodyPr wrap="square" anchor="ctr">
            <a:normAutofit/>
          </a:bodyPr>
          <a:lstStyle/>
          <a:p>
            <a:pPr algn="l"/>
            <a:r>
              <a:rPr sz="950" b="0" i="0">
                <a:solidFill>
                  <a:srgbClr val="1C1C1C"/>
                </a:solidFill>
                <a:latin typeface="Arial"/>
              </a:rPr>
              <a:t>Lump sum</a:t>
            </a:r>
          </a:p>
        </p:txBody>
      </p:sp>
      <p:sp>
        <p:nvSpPr>
          <p:cNvPr id="12" name="TextBox 11"/>
          <p:cNvSpPr txBox="1"/>
          <p:nvPr/>
        </p:nvSpPr>
        <p:spPr>
          <a:xfrm>
            <a:off x="6400800" y="1856232"/>
            <a:ext cx="914400" cy="411480"/>
          </a:xfrm>
          <a:prstGeom prst="rect">
            <a:avLst/>
          </a:prstGeom>
          <a:noFill/>
        </p:spPr>
        <p:txBody>
          <a:bodyPr wrap="square" anchor="ctr">
            <a:normAutofit/>
          </a:bodyPr>
          <a:lstStyle/>
          <a:p>
            <a:pPr algn="l"/>
            <a:r>
              <a:rPr sz="1050" b="1" i="0">
                <a:solidFill>
                  <a:srgbClr val="C3002B"/>
                </a:solidFill>
                <a:latin typeface="Arial"/>
              </a:rPr>
              <a:t>€ [ • ]</a:t>
            </a:r>
          </a:p>
        </p:txBody>
      </p:sp>
      <p:sp>
        <p:nvSpPr>
          <p:cNvPr id="13" name="Rectangle 12"/>
          <p:cNvSpPr/>
          <p:nvPr/>
        </p:nvSpPr>
        <p:spPr>
          <a:xfrm>
            <a:off x="411480" y="2441448"/>
            <a:ext cx="6949440" cy="548640"/>
          </a:xfrm>
          <a:prstGeom prst="rect">
            <a:avLst/>
          </a:prstGeom>
          <a:solidFill>
            <a:srgbClr val="F3F3F3"/>
          </a:solidFill>
          <a:ln w="6350">
            <a:solidFill>
              <a:srgbClr val="E2E2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48640" y="2514600"/>
            <a:ext cx="4206240" cy="411480"/>
          </a:xfrm>
          <a:prstGeom prst="rect">
            <a:avLst/>
          </a:prstGeom>
          <a:noFill/>
        </p:spPr>
        <p:txBody>
          <a:bodyPr wrap="square" anchor="ctr">
            <a:normAutofit/>
          </a:bodyPr>
          <a:lstStyle/>
          <a:p>
            <a:pPr algn="l"/>
            <a:r>
              <a:rPr sz="1050" b="1" i="0">
                <a:solidFill>
                  <a:srgbClr val="1C1C1C"/>
                </a:solidFill>
                <a:latin typeface="Arial"/>
              </a:rPr>
              <a:t>PHASE 1 — PM Preparation</a:t>
            </a:r>
          </a:p>
        </p:txBody>
      </p:sp>
      <p:sp>
        <p:nvSpPr>
          <p:cNvPr id="15" name="TextBox 14"/>
          <p:cNvSpPr txBox="1"/>
          <p:nvPr/>
        </p:nvSpPr>
        <p:spPr>
          <a:xfrm>
            <a:off x="4846320" y="2514600"/>
            <a:ext cx="1554480" cy="411480"/>
          </a:xfrm>
          <a:prstGeom prst="rect">
            <a:avLst/>
          </a:prstGeom>
          <a:noFill/>
        </p:spPr>
        <p:txBody>
          <a:bodyPr wrap="square" anchor="ctr">
            <a:normAutofit/>
          </a:bodyPr>
          <a:lstStyle/>
          <a:p>
            <a:pPr algn="l"/>
            <a:r>
              <a:rPr sz="950" b="0" i="0">
                <a:solidFill>
                  <a:srgbClr val="1C1C1C"/>
                </a:solidFill>
                <a:latin typeface="Arial"/>
              </a:rPr>
              <a:t>Fixed fee / monthly rate</a:t>
            </a:r>
          </a:p>
        </p:txBody>
      </p:sp>
      <p:sp>
        <p:nvSpPr>
          <p:cNvPr id="16" name="TextBox 15"/>
          <p:cNvSpPr txBox="1"/>
          <p:nvPr/>
        </p:nvSpPr>
        <p:spPr>
          <a:xfrm>
            <a:off x="6400800" y="2514600"/>
            <a:ext cx="914400" cy="411480"/>
          </a:xfrm>
          <a:prstGeom prst="rect">
            <a:avLst/>
          </a:prstGeom>
          <a:noFill/>
        </p:spPr>
        <p:txBody>
          <a:bodyPr wrap="square" anchor="ctr">
            <a:normAutofit/>
          </a:bodyPr>
          <a:lstStyle/>
          <a:p>
            <a:pPr algn="l"/>
            <a:r>
              <a:rPr sz="1050" b="1" i="0">
                <a:solidFill>
                  <a:srgbClr val="C3002B"/>
                </a:solidFill>
                <a:latin typeface="Arial"/>
              </a:rPr>
              <a:t>€ [ • ]</a:t>
            </a:r>
          </a:p>
        </p:txBody>
      </p:sp>
      <p:sp>
        <p:nvSpPr>
          <p:cNvPr id="17" name="Rectangle 16"/>
          <p:cNvSpPr/>
          <p:nvPr/>
        </p:nvSpPr>
        <p:spPr>
          <a:xfrm>
            <a:off x="411480" y="3099816"/>
            <a:ext cx="6949440" cy="548640"/>
          </a:xfrm>
          <a:prstGeom prst="rect">
            <a:avLst/>
          </a:prstGeom>
          <a:solidFill>
            <a:srgbClr val="FFFFFF"/>
          </a:solidFill>
          <a:ln w="6350">
            <a:solidFill>
              <a:srgbClr val="E2E2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48640" y="3172968"/>
            <a:ext cx="4206240" cy="411480"/>
          </a:xfrm>
          <a:prstGeom prst="rect">
            <a:avLst/>
          </a:prstGeom>
          <a:noFill/>
        </p:spPr>
        <p:txBody>
          <a:bodyPr wrap="square" anchor="ctr">
            <a:normAutofit/>
          </a:bodyPr>
          <a:lstStyle/>
          <a:p>
            <a:pPr algn="l"/>
            <a:r>
              <a:rPr sz="1050" b="1" i="0">
                <a:solidFill>
                  <a:srgbClr val="1C1C1C"/>
                </a:solidFill>
                <a:latin typeface="Arial"/>
              </a:rPr>
              <a:t>PHASE 2 — PM Execution</a:t>
            </a:r>
          </a:p>
        </p:txBody>
      </p:sp>
      <p:sp>
        <p:nvSpPr>
          <p:cNvPr id="19" name="TextBox 18"/>
          <p:cNvSpPr txBox="1"/>
          <p:nvPr/>
        </p:nvSpPr>
        <p:spPr>
          <a:xfrm>
            <a:off x="4846320" y="3172968"/>
            <a:ext cx="1554480" cy="411480"/>
          </a:xfrm>
          <a:prstGeom prst="rect">
            <a:avLst/>
          </a:prstGeom>
          <a:noFill/>
        </p:spPr>
        <p:txBody>
          <a:bodyPr wrap="square" anchor="ctr">
            <a:normAutofit/>
          </a:bodyPr>
          <a:lstStyle/>
          <a:p>
            <a:pPr algn="l"/>
            <a:r>
              <a:rPr sz="950" b="0" i="0">
                <a:solidFill>
                  <a:srgbClr val="1C1C1C"/>
                </a:solidFill>
                <a:latin typeface="Arial"/>
              </a:rPr>
              <a:t>Fixed fee / monthly rate</a:t>
            </a:r>
          </a:p>
        </p:txBody>
      </p:sp>
      <p:sp>
        <p:nvSpPr>
          <p:cNvPr id="20" name="TextBox 19"/>
          <p:cNvSpPr txBox="1"/>
          <p:nvPr/>
        </p:nvSpPr>
        <p:spPr>
          <a:xfrm>
            <a:off x="6400800" y="3172968"/>
            <a:ext cx="914400" cy="411480"/>
          </a:xfrm>
          <a:prstGeom prst="rect">
            <a:avLst/>
          </a:prstGeom>
          <a:noFill/>
        </p:spPr>
        <p:txBody>
          <a:bodyPr wrap="square" anchor="ctr">
            <a:normAutofit/>
          </a:bodyPr>
          <a:lstStyle/>
          <a:p>
            <a:pPr algn="l"/>
            <a:r>
              <a:rPr sz="1050" b="1" i="0">
                <a:solidFill>
                  <a:srgbClr val="C3002B"/>
                </a:solidFill>
                <a:latin typeface="Arial"/>
              </a:rPr>
              <a:t>€ [ • ]</a:t>
            </a:r>
          </a:p>
        </p:txBody>
      </p:sp>
      <p:sp>
        <p:nvSpPr>
          <p:cNvPr id="21" name="Rectangle 20"/>
          <p:cNvSpPr/>
          <p:nvPr/>
        </p:nvSpPr>
        <p:spPr>
          <a:xfrm>
            <a:off x="411480" y="3758184"/>
            <a:ext cx="6949440" cy="548640"/>
          </a:xfrm>
          <a:prstGeom prst="rect">
            <a:avLst/>
          </a:prstGeom>
          <a:solidFill>
            <a:srgbClr val="F3F3F3"/>
          </a:solidFill>
          <a:ln w="6350">
            <a:solidFill>
              <a:srgbClr val="E2E2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48640" y="3831336"/>
            <a:ext cx="4206240" cy="411480"/>
          </a:xfrm>
          <a:prstGeom prst="rect">
            <a:avLst/>
          </a:prstGeom>
          <a:noFill/>
        </p:spPr>
        <p:txBody>
          <a:bodyPr wrap="square" anchor="ctr">
            <a:normAutofit/>
          </a:bodyPr>
          <a:lstStyle/>
          <a:p>
            <a:pPr algn="l"/>
            <a:r>
              <a:rPr sz="1050" b="1" i="0">
                <a:solidFill>
                  <a:srgbClr val="1C1C1C"/>
                </a:solidFill>
                <a:latin typeface="Arial"/>
              </a:rPr>
              <a:t>PHASE 3 — Building Consultancy (inspections)</a:t>
            </a:r>
          </a:p>
        </p:txBody>
      </p:sp>
      <p:sp>
        <p:nvSpPr>
          <p:cNvPr id="23" name="TextBox 22"/>
          <p:cNvSpPr txBox="1"/>
          <p:nvPr/>
        </p:nvSpPr>
        <p:spPr>
          <a:xfrm>
            <a:off x="4846320" y="3831336"/>
            <a:ext cx="1554480" cy="411480"/>
          </a:xfrm>
          <a:prstGeom prst="rect">
            <a:avLst/>
          </a:prstGeom>
          <a:noFill/>
        </p:spPr>
        <p:txBody>
          <a:bodyPr wrap="square" anchor="ctr">
            <a:normAutofit/>
          </a:bodyPr>
          <a:lstStyle/>
          <a:p>
            <a:pPr algn="l"/>
            <a:r>
              <a:rPr sz="950" b="0" i="0">
                <a:solidFill>
                  <a:srgbClr val="1C1C1C"/>
                </a:solidFill>
                <a:latin typeface="Arial"/>
              </a:rPr>
              <a:t>Unit rate per inspection</a:t>
            </a:r>
          </a:p>
        </p:txBody>
      </p:sp>
      <p:sp>
        <p:nvSpPr>
          <p:cNvPr id="24" name="TextBox 23"/>
          <p:cNvSpPr txBox="1"/>
          <p:nvPr/>
        </p:nvSpPr>
        <p:spPr>
          <a:xfrm>
            <a:off x="6400800" y="3831336"/>
            <a:ext cx="914400" cy="411480"/>
          </a:xfrm>
          <a:prstGeom prst="rect">
            <a:avLst/>
          </a:prstGeom>
          <a:noFill/>
        </p:spPr>
        <p:txBody>
          <a:bodyPr wrap="square" anchor="ctr">
            <a:normAutofit/>
          </a:bodyPr>
          <a:lstStyle/>
          <a:p>
            <a:pPr algn="l"/>
            <a:r>
              <a:rPr sz="1050" b="1" i="0">
                <a:solidFill>
                  <a:srgbClr val="C3002B"/>
                </a:solidFill>
                <a:latin typeface="Arial"/>
              </a:rPr>
              <a:t>€ [ • ]</a:t>
            </a:r>
          </a:p>
        </p:txBody>
      </p:sp>
      <p:sp>
        <p:nvSpPr>
          <p:cNvPr id="25" name="Rectangle 24"/>
          <p:cNvSpPr/>
          <p:nvPr/>
        </p:nvSpPr>
        <p:spPr>
          <a:xfrm>
            <a:off x="7589520" y="1783080"/>
            <a:ext cx="4160520" cy="2651760"/>
          </a:xfrm>
          <a:prstGeom prst="rect">
            <a:avLst/>
          </a:prstGeom>
          <a:solidFill>
            <a:srgbClr val="F3F3F3"/>
          </a:solidFill>
          <a:ln w="6350">
            <a:solidFill>
              <a:srgbClr val="E2E2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772400" y="1920240"/>
            <a:ext cx="3840480" cy="320040"/>
          </a:xfrm>
          <a:prstGeom prst="rect">
            <a:avLst/>
          </a:prstGeom>
          <a:noFill/>
        </p:spPr>
        <p:txBody>
          <a:bodyPr wrap="square" anchor="t">
            <a:normAutofit/>
          </a:bodyPr>
          <a:lstStyle/>
          <a:p>
            <a:pPr algn="l"/>
            <a:r>
              <a:rPr sz="1100" b="1" i="0">
                <a:solidFill>
                  <a:srgbClr val="C3002B"/>
                </a:solidFill>
                <a:latin typeface="Arial"/>
              </a:rPr>
              <a:t>RATE CARD — C&amp;W PDS 2026</a:t>
            </a:r>
          </a:p>
        </p:txBody>
      </p:sp>
      <p:sp>
        <p:nvSpPr>
          <p:cNvPr id="27" name="TextBox 26"/>
          <p:cNvSpPr txBox="1"/>
          <p:nvPr/>
        </p:nvSpPr>
        <p:spPr>
          <a:xfrm>
            <a:off x="7772400" y="2286000"/>
            <a:ext cx="3840480" cy="2103120"/>
          </a:xfrm>
          <a:prstGeom prst="rect">
            <a:avLst/>
          </a:prstGeom>
          <a:noFill/>
        </p:spPr>
        <p:txBody>
          <a:bodyPr wrap="square" anchor="t">
            <a:normAutofit/>
          </a:bodyPr>
          <a:lstStyle/>
          <a:p>
            <a:pPr algn="l">
              <a:spcAft>
                <a:spcPts val="200"/>
              </a:spcAft>
            </a:pPr>
            <a:r>
              <a:rPr sz="1000" b="0" i="0">
                <a:solidFill>
                  <a:srgbClr val="1C1C1C"/>
                </a:solidFill>
                <a:latin typeface="Arial"/>
              </a:rPr>
              <a:t>Project Manager             € 145 / hr</a:t>
            </a:r>
          </a:p>
          <a:p>
            <a:pPr algn="l">
              <a:spcAft>
                <a:spcPts val="200"/>
              </a:spcAft>
            </a:pPr>
            <a:r>
              <a:rPr sz="1000" b="0" i="0">
                <a:solidFill>
                  <a:srgbClr val="1C1C1C"/>
                </a:solidFill>
                <a:latin typeface="Arial"/>
              </a:rPr>
              <a:t>Senior Project Manager   € 155 / hr</a:t>
            </a:r>
          </a:p>
          <a:p>
            <a:pPr algn="l">
              <a:spcAft>
                <a:spcPts val="200"/>
              </a:spcAft>
            </a:pPr>
            <a:r>
              <a:rPr sz="1000" b="0" i="0">
                <a:solidFill>
                  <a:srgbClr val="1C1C1C"/>
                </a:solidFill>
                <a:latin typeface="Arial"/>
              </a:rPr>
              <a:t>Cost Manager                € 145 / hr</a:t>
            </a:r>
          </a:p>
          <a:p>
            <a:pPr algn="l">
              <a:spcAft>
                <a:spcPts val="200"/>
              </a:spcAft>
            </a:pPr>
            <a:r>
              <a:rPr sz="1000" b="0" i="0">
                <a:solidFill>
                  <a:srgbClr val="1C1C1C"/>
                </a:solidFill>
                <a:latin typeface="Arial"/>
              </a:rPr>
              <a:t>Associate Director          € 175 / hr</a:t>
            </a:r>
          </a:p>
          <a:p>
            <a:pPr algn="l">
              <a:spcAft>
                <a:spcPts val="200"/>
              </a:spcAft>
            </a:pPr>
            <a:r>
              <a:rPr sz="1000" b="0" i="0">
                <a:solidFill>
                  <a:srgbClr val="1C1C1C"/>
                </a:solidFill>
                <a:latin typeface="Arial"/>
              </a:rPr>
              <a:t>Partner                          € 250 / hr</a:t>
            </a:r>
          </a:p>
          <a:p>
            <a:pPr algn="l">
              <a:spcAft>
                <a:spcPts val="200"/>
              </a:spcAft>
            </a:pPr>
            <a:r>
              <a:rPr sz="1000" b="0" i="0">
                <a:solidFill>
                  <a:srgbClr val="1C1C1C"/>
                </a:solidFill>
                <a:latin typeface="Arial"/>
              </a:rPr>
              <a:t/>
            </a:r>
          </a:p>
          <a:p>
            <a:pPr algn="l">
              <a:spcAft>
                <a:spcPts val="200"/>
              </a:spcAft>
            </a:pPr>
            <a:r>
              <a:rPr sz="1000" b="0" i="0">
                <a:solidFill>
                  <a:srgbClr val="1C1C1C"/>
                </a:solidFill>
                <a:latin typeface="Arial"/>
              </a:rPr>
              <a:t>[ tarieven excl. btw · inzet definitief met Frank ]</a:t>
            </a:r>
          </a:p>
        </p:txBody>
      </p:sp>
      <p:sp>
        <p:nvSpPr>
          <p:cNvPr id="28" name="Rectangle 27"/>
          <p:cNvSpPr/>
          <p:nvPr/>
        </p:nvSpPr>
        <p:spPr>
          <a:xfrm>
            <a:off x="411480" y="4572000"/>
            <a:ext cx="11338560" cy="1463040"/>
          </a:xfrm>
          <a:prstGeom prst="rect">
            <a:avLst/>
          </a:prstGeom>
          <a:solidFill>
            <a:srgbClr val="FFFFFF"/>
          </a:solidFill>
          <a:ln w="6350">
            <a:solidFill>
              <a:srgbClr val="E2E2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94360" y="4681728"/>
            <a:ext cx="10972800" cy="320040"/>
          </a:xfrm>
          <a:prstGeom prst="rect">
            <a:avLst/>
          </a:prstGeom>
          <a:noFill/>
        </p:spPr>
        <p:txBody>
          <a:bodyPr wrap="square" anchor="t">
            <a:normAutofit/>
          </a:bodyPr>
          <a:lstStyle/>
          <a:p>
            <a:pPr algn="l"/>
            <a:r>
              <a:rPr sz="1100" b="1" i="0">
                <a:solidFill>
                  <a:srgbClr val="C3002B"/>
                </a:solidFill>
                <a:latin typeface="Arial"/>
              </a:rPr>
              <a:t>WHY THIS STRUCTURE WORKS FOR CORUM</a:t>
            </a:r>
          </a:p>
        </p:txBody>
      </p:sp>
      <p:sp>
        <p:nvSpPr>
          <p:cNvPr id="30" name="TextBox 29"/>
          <p:cNvSpPr txBox="1"/>
          <p:nvPr/>
        </p:nvSpPr>
        <p:spPr>
          <a:xfrm>
            <a:off x="594360" y="5029200"/>
            <a:ext cx="10972800" cy="960120"/>
          </a:xfrm>
          <a:prstGeom prst="rect">
            <a:avLst/>
          </a:prstGeom>
          <a:noFill/>
        </p:spPr>
        <p:txBody>
          <a:bodyPr wrap="square" anchor="t">
            <a:normAutofit/>
          </a:bodyPr>
          <a:lstStyle/>
          <a:p>
            <a:pPr algn="l">
              <a:spcAft>
                <a:spcPts val="200"/>
              </a:spcAft>
            </a:pPr>
            <a:r>
              <a:rPr sz="1000" b="0" i="0">
                <a:solidFill>
                  <a:srgbClr val="1C1C1C"/>
                </a:solidFill>
                <a:latin typeface="Arial"/>
              </a:rPr>
              <a:t>•  You commit phase by phase — the Phase 0 fee is small relative to the asset and the Paris Proof exposure it protects</a:t>
            </a:r>
          </a:p>
          <a:p>
            <a:pPr algn="l">
              <a:spcAft>
                <a:spcPts val="200"/>
              </a:spcAft>
            </a:pPr>
            <a:r>
              <a:rPr sz="1000" b="0" i="0">
                <a:solidFill>
                  <a:srgbClr val="1C1C1C"/>
                </a:solidFill>
                <a:latin typeface="Arial"/>
              </a:rPr>
              <a:t>•  Design, calculations and specifications are by M3E (outside C&amp;W scope)  ·  DNR 2011 applicable</a:t>
            </a:r>
          </a:p>
          <a:p>
            <a:pPr algn="l">
              <a:spcAft>
                <a:spcPts val="200"/>
              </a:spcAft>
            </a:pPr>
            <a:r>
              <a:rPr sz="1000" b="0" i="0">
                <a:solidFill>
                  <a:srgbClr val="1C1C1C"/>
                </a:solidFill>
                <a:latin typeface="Arial"/>
              </a:rPr>
              <a:t>•  [ verdere uitgangspunten &amp; exclusies in te vullen met Frank ]</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2788920"/>
          </a:xfrm>
          <a:prstGeom prst="rect">
            <a:avLst/>
          </a:prstGeom>
          <a:solidFill>
            <a:srgbClr val="1C1C1C"/>
          </a:solidFill>
          <a:ln w="9525">
            <a:solidFill>
              <a:srgbClr val="1C1C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C3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457200"/>
            <a:ext cx="10058400" cy="320040"/>
          </a:xfrm>
          <a:prstGeom prst="rect">
            <a:avLst/>
          </a:prstGeom>
          <a:noFill/>
        </p:spPr>
        <p:txBody>
          <a:bodyPr wrap="square" anchor="t">
            <a:normAutofit/>
          </a:bodyPr>
          <a:lstStyle/>
          <a:p>
            <a:pPr algn="l"/>
            <a:r>
              <a:rPr sz="1100" b="1" i="0">
                <a:solidFill>
                  <a:srgbClr val="C3002B"/>
                </a:solidFill>
                <a:latin typeface="Arial"/>
              </a:rPr>
              <a:t>06 — THE DECISION</a:t>
            </a:r>
          </a:p>
        </p:txBody>
      </p:sp>
      <p:sp>
        <p:nvSpPr>
          <p:cNvPr id="5" name="TextBox 4"/>
          <p:cNvSpPr txBox="1"/>
          <p:nvPr/>
        </p:nvSpPr>
        <p:spPr>
          <a:xfrm>
            <a:off x="548640" y="868680"/>
            <a:ext cx="10972800" cy="640080"/>
          </a:xfrm>
          <a:prstGeom prst="rect">
            <a:avLst/>
          </a:prstGeom>
          <a:noFill/>
        </p:spPr>
        <p:txBody>
          <a:bodyPr wrap="square" anchor="t">
            <a:normAutofit/>
          </a:bodyPr>
          <a:lstStyle/>
          <a:p>
            <a:pPr algn="l"/>
            <a:r>
              <a:rPr sz="2800" b="1" i="0">
                <a:solidFill>
                  <a:srgbClr val="FFFFFF"/>
                </a:solidFill>
                <a:latin typeface="Arial"/>
              </a:rPr>
              <a:t>Picture Westgate I in 2030</a:t>
            </a:r>
          </a:p>
        </p:txBody>
      </p:sp>
      <p:sp>
        <p:nvSpPr>
          <p:cNvPr id="6" name="TextBox 5"/>
          <p:cNvSpPr txBox="1"/>
          <p:nvPr/>
        </p:nvSpPr>
        <p:spPr>
          <a:xfrm>
            <a:off x="548640" y="1600200"/>
            <a:ext cx="10972800" cy="1005840"/>
          </a:xfrm>
          <a:prstGeom prst="rect">
            <a:avLst/>
          </a:prstGeom>
          <a:noFill/>
        </p:spPr>
        <p:txBody>
          <a:bodyPr wrap="square" anchor="t">
            <a:normAutofit/>
          </a:bodyPr>
          <a:lstStyle/>
          <a:p>
            <a:pPr algn="l"/>
            <a:r>
              <a:rPr sz="1300" b="0" i="0">
                <a:solidFill>
                  <a:srgbClr val="FFFFFF"/>
                </a:solidFill>
                <a:latin typeface="Arial"/>
              </a:rPr>
              <a:t>A Paris Proof building. PwC still in place, still confident, lease renewed. An asset whose value is protected and whose compliance is proven — delivered without Corum ever having to manage a Dutch building site or a tenant dispute. That is what a single point of control buys you.</a:t>
            </a:r>
          </a:p>
        </p:txBody>
      </p:sp>
      <p:sp>
        <p:nvSpPr>
          <p:cNvPr id="7" name="TextBox 6"/>
          <p:cNvSpPr txBox="1"/>
          <p:nvPr/>
        </p:nvSpPr>
        <p:spPr>
          <a:xfrm>
            <a:off x="411480" y="3017520"/>
            <a:ext cx="5486400" cy="365760"/>
          </a:xfrm>
          <a:prstGeom prst="rect">
            <a:avLst/>
          </a:prstGeom>
          <a:noFill/>
        </p:spPr>
        <p:txBody>
          <a:bodyPr wrap="square" anchor="t">
            <a:normAutofit/>
          </a:bodyPr>
          <a:lstStyle/>
          <a:p>
            <a:pPr algn="l"/>
            <a:r>
              <a:rPr sz="1200" b="1" i="0">
                <a:solidFill>
                  <a:srgbClr val="C3002B"/>
                </a:solidFill>
                <a:latin typeface="Arial"/>
              </a:rPr>
              <a:t>THE DECISION WE ASK YOU TO MAKE NOW</a:t>
            </a:r>
          </a:p>
        </p:txBody>
      </p:sp>
      <p:sp>
        <p:nvSpPr>
          <p:cNvPr id="8" name="Rectangle 7"/>
          <p:cNvSpPr/>
          <p:nvPr/>
        </p:nvSpPr>
        <p:spPr>
          <a:xfrm>
            <a:off x="411480" y="3474720"/>
            <a:ext cx="411480" cy="411480"/>
          </a:xfrm>
          <a:prstGeom prst="rect">
            <a:avLst/>
          </a:prstGeom>
          <a:solidFill>
            <a:srgbClr val="C3002B"/>
          </a:solidFill>
          <a:ln w="6350">
            <a:solidFill>
              <a:srgbClr val="E2E2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11480" y="3520440"/>
            <a:ext cx="411480" cy="320040"/>
          </a:xfrm>
          <a:prstGeom prst="rect">
            <a:avLst/>
          </a:prstGeom>
          <a:noFill/>
        </p:spPr>
        <p:txBody>
          <a:bodyPr wrap="square" anchor="t">
            <a:normAutofit/>
          </a:bodyPr>
          <a:lstStyle/>
          <a:p>
            <a:pPr algn="ctr"/>
            <a:r>
              <a:rPr sz="1200" b="1" i="0">
                <a:solidFill>
                  <a:srgbClr val="FFFFFF"/>
                </a:solidFill>
                <a:latin typeface="Arial"/>
              </a:rPr>
              <a:t>1</a:t>
            </a:r>
          </a:p>
        </p:txBody>
      </p:sp>
      <p:sp>
        <p:nvSpPr>
          <p:cNvPr id="10" name="TextBox 9"/>
          <p:cNvSpPr txBox="1"/>
          <p:nvPr/>
        </p:nvSpPr>
        <p:spPr>
          <a:xfrm>
            <a:off x="960120" y="3502152"/>
            <a:ext cx="7680960" cy="457200"/>
          </a:xfrm>
          <a:prstGeom prst="rect">
            <a:avLst/>
          </a:prstGeom>
          <a:noFill/>
        </p:spPr>
        <p:txBody>
          <a:bodyPr wrap="square" anchor="ctr">
            <a:normAutofit/>
          </a:bodyPr>
          <a:lstStyle/>
          <a:p>
            <a:pPr algn="l"/>
            <a:r>
              <a:rPr sz="1150" b="0" i="0">
                <a:solidFill>
                  <a:srgbClr val="1C1C1C"/>
                </a:solidFill>
                <a:latin typeface="Arial"/>
              </a:rPr>
              <a:t>Confirm the NDA (via Dentons)</a:t>
            </a:r>
          </a:p>
        </p:txBody>
      </p:sp>
      <p:sp>
        <p:nvSpPr>
          <p:cNvPr id="11" name="TextBox 10"/>
          <p:cNvSpPr txBox="1"/>
          <p:nvPr/>
        </p:nvSpPr>
        <p:spPr>
          <a:xfrm>
            <a:off x="8732520" y="3502152"/>
            <a:ext cx="2926080" cy="457200"/>
          </a:xfrm>
          <a:prstGeom prst="rect">
            <a:avLst/>
          </a:prstGeom>
          <a:noFill/>
        </p:spPr>
        <p:txBody>
          <a:bodyPr wrap="square" anchor="ctr">
            <a:normAutofit/>
          </a:bodyPr>
          <a:lstStyle/>
          <a:p>
            <a:pPr algn="l"/>
            <a:r>
              <a:rPr sz="950" b="0" i="1">
                <a:solidFill>
                  <a:srgbClr val="7A7A7A"/>
                </a:solidFill>
                <a:latin typeface="Arial"/>
              </a:rPr>
              <a:t>in progress</a:t>
            </a:r>
          </a:p>
        </p:txBody>
      </p:sp>
      <p:sp>
        <p:nvSpPr>
          <p:cNvPr id="12" name="Rectangle 11"/>
          <p:cNvSpPr/>
          <p:nvPr/>
        </p:nvSpPr>
        <p:spPr>
          <a:xfrm>
            <a:off x="411480" y="3986784"/>
            <a:ext cx="411480" cy="411480"/>
          </a:xfrm>
          <a:prstGeom prst="rect">
            <a:avLst/>
          </a:prstGeom>
          <a:solidFill>
            <a:srgbClr val="C3002B"/>
          </a:solidFill>
          <a:ln w="6350">
            <a:solidFill>
              <a:srgbClr val="E2E2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11480" y="4032504"/>
            <a:ext cx="411480" cy="320040"/>
          </a:xfrm>
          <a:prstGeom prst="rect">
            <a:avLst/>
          </a:prstGeom>
          <a:noFill/>
        </p:spPr>
        <p:txBody>
          <a:bodyPr wrap="square" anchor="t">
            <a:normAutofit/>
          </a:bodyPr>
          <a:lstStyle/>
          <a:p>
            <a:pPr algn="ctr"/>
            <a:r>
              <a:rPr sz="1200" b="1" i="0">
                <a:solidFill>
                  <a:srgbClr val="FFFFFF"/>
                </a:solidFill>
                <a:latin typeface="Arial"/>
              </a:rPr>
              <a:t>2</a:t>
            </a:r>
          </a:p>
        </p:txBody>
      </p:sp>
      <p:sp>
        <p:nvSpPr>
          <p:cNvPr id="14" name="TextBox 13"/>
          <p:cNvSpPr txBox="1"/>
          <p:nvPr/>
        </p:nvSpPr>
        <p:spPr>
          <a:xfrm>
            <a:off x="960120" y="4014216"/>
            <a:ext cx="7680960" cy="457200"/>
          </a:xfrm>
          <a:prstGeom prst="rect">
            <a:avLst/>
          </a:prstGeom>
          <a:noFill/>
        </p:spPr>
        <p:txBody>
          <a:bodyPr wrap="square" anchor="ctr">
            <a:normAutofit/>
          </a:bodyPr>
          <a:lstStyle/>
          <a:p>
            <a:pPr algn="l"/>
            <a:r>
              <a:rPr sz="1150" b="0" i="0">
                <a:solidFill>
                  <a:srgbClr val="1C1C1C"/>
                </a:solidFill>
                <a:latin typeface="Arial"/>
              </a:rPr>
              <a:t>Share the Corum–PwC agreement &amp; Corum–M3E arrangement</a:t>
            </a:r>
          </a:p>
        </p:txBody>
      </p:sp>
      <p:sp>
        <p:nvSpPr>
          <p:cNvPr id="15" name="TextBox 14"/>
          <p:cNvSpPr txBox="1"/>
          <p:nvPr/>
        </p:nvSpPr>
        <p:spPr>
          <a:xfrm>
            <a:off x="8732520" y="4014216"/>
            <a:ext cx="2926080" cy="457200"/>
          </a:xfrm>
          <a:prstGeom prst="rect">
            <a:avLst/>
          </a:prstGeom>
          <a:noFill/>
        </p:spPr>
        <p:txBody>
          <a:bodyPr wrap="square" anchor="ctr">
            <a:normAutofit/>
          </a:bodyPr>
          <a:lstStyle/>
          <a:p>
            <a:pPr algn="l"/>
            <a:r>
              <a:rPr sz="950" b="0" i="1">
                <a:solidFill>
                  <a:srgbClr val="7A7A7A"/>
                </a:solidFill>
                <a:latin typeface="Arial"/>
              </a:rPr>
              <a:t>upon NDA</a:t>
            </a:r>
          </a:p>
        </p:txBody>
      </p:sp>
      <p:sp>
        <p:nvSpPr>
          <p:cNvPr id="16" name="Rectangle 15"/>
          <p:cNvSpPr/>
          <p:nvPr/>
        </p:nvSpPr>
        <p:spPr>
          <a:xfrm>
            <a:off x="411480" y="4498848"/>
            <a:ext cx="411480" cy="411480"/>
          </a:xfrm>
          <a:prstGeom prst="rect">
            <a:avLst/>
          </a:prstGeom>
          <a:solidFill>
            <a:srgbClr val="C3002B"/>
          </a:solidFill>
          <a:ln w="6350">
            <a:solidFill>
              <a:srgbClr val="E2E2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11480" y="4544568"/>
            <a:ext cx="411480" cy="320040"/>
          </a:xfrm>
          <a:prstGeom prst="rect">
            <a:avLst/>
          </a:prstGeom>
          <a:noFill/>
        </p:spPr>
        <p:txBody>
          <a:bodyPr wrap="square" anchor="t">
            <a:normAutofit/>
          </a:bodyPr>
          <a:lstStyle/>
          <a:p>
            <a:pPr algn="ctr"/>
            <a:r>
              <a:rPr sz="1200" b="1" i="0">
                <a:solidFill>
                  <a:srgbClr val="FFFFFF"/>
                </a:solidFill>
                <a:latin typeface="Arial"/>
              </a:rPr>
              <a:t>3</a:t>
            </a:r>
          </a:p>
        </p:txBody>
      </p:sp>
      <p:sp>
        <p:nvSpPr>
          <p:cNvPr id="18" name="TextBox 17"/>
          <p:cNvSpPr txBox="1"/>
          <p:nvPr/>
        </p:nvSpPr>
        <p:spPr>
          <a:xfrm>
            <a:off x="960120" y="4526280"/>
            <a:ext cx="7680960" cy="457200"/>
          </a:xfrm>
          <a:prstGeom prst="rect">
            <a:avLst/>
          </a:prstGeom>
          <a:noFill/>
        </p:spPr>
        <p:txBody>
          <a:bodyPr wrap="square" anchor="ctr">
            <a:normAutofit/>
          </a:bodyPr>
          <a:lstStyle/>
          <a:p>
            <a:pPr algn="l"/>
            <a:r>
              <a:rPr sz="1150" b="0" i="0">
                <a:solidFill>
                  <a:srgbClr val="1C1C1C"/>
                </a:solidFill>
                <a:latin typeface="Arial"/>
              </a:rPr>
              <a:t>Award Phase 0 — the preparatory assignment</a:t>
            </a:r>
          </a:p>
        </p:txBody>
      </p:sp>
      <p:sp>
        <p:nvSpPr>
          <p:cNvPr id="19" name="TextBox 18"/>
          <p:cNvSpPr txBox="1"/>
          <p:nvPr/>
        </p:nvSpPr>
        <p:spPr>
          <a:xfrm>
            <a:off x="8732520" y="4526280"/>
            <a:ext cx="2926080" cy="457200"/>
          </a:xfrm>
          <a:prstGeom prst="rect">
            <a:avLst/>
          </a:prstGeom>
          <a:noFill/>
        </p:spPr>
        <p:txBody>
          <a:bodyPr wrap="square" anchor="ctr">
            <a:normAutofit/>
          </a:bodyPr>
          <a:lstStyle/>
          <a:p>
            <a:pPr algn="l"/>
            <a:r>
              <a:rPr sz="950" b="0" i="1">
                <a:solidFill>
                  <a:srgbClr val="7A7A7A"/>
                </a:solidFill>
                <a:latin typeface="Arial"/>
              </a:rPr>
              <a:t>July 2026</a:t>
            </a:r>
          </a:p>
        </p:txBody>
      </p:sp>
      <p:sp>
        <p:nvSpPr>
          <p:cNvPr id="20" name="Rectangle 19"/>
          <p:cNvSpPr/>
          <p:nvPr/>
        </p:nvSpPr>
        <p:spPr>
          <a:xfrm>
            <a:off x="411480" y="5010912"/>
            <a:ext cx="411480" cy="411480"/>
          </a:xfrm>
          <a:prstGeom prst="rect">
            <a:avLst/>
          </a:prstGeom>
          <a:solidFill>
            <a:srgbClr val="C3002B"/>
          </a:solidFill>
          <a:ln w="6350">
            <a:solidFill>
              <a:srgbClr val="E2E2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11480" y="5056632"/>
            <a:ext cx="411480" cy="320040"/>
          </a:xfrm>
          <a:prstGeom prst="rect">
            <a:avLst/>
          </a:prstGeom>
          <a:noFill/>
        </p:spPr>
        <p:txBody>
          <a:bodyPr wrap="square" anchor="t">
            <a:normAutofit/>
          </a:bodyPr>
          <a:lstStyle/>
          <a:p>
            <a:pPr algn="ctr"/>
            <a:r>
              <a:rPr sz="1200" b="1" i="0">
                <a:solidFill>
                  <a:srgbClr val="FFFFFF"/>
                </a:solidFill>
                <a:latin typeface="Arial"/>
              </a:rPr>
              <a:t>4</a:t>
            </a:r>
          </a:p>
        </p:txBody>
      </p:sp>
      <p:sp>
        <p:nvSpPr>
          <p:cNvPr id="22" name="TextBox 21"/>
          <p:cNvSpPr txBox="1"/>
          <p:nvPr/>
        </p:nvSpPr>
        <p:spPr>
          <a:xfrm>
            <a:off x="960120" y="5038344"/>
            <a:ext cx="7680960" cy="457200"/>
          </a:xfrm>
          <a:prstGeom prst="rect">
            <a:avLst/>
          </a:prstGeom>
          <a:noFill/>
        </p:spPr>
        <p:txBody>
          <a:bodyPr wrap="square" anchor="ctr">
            <a:normAutofit/>
          </a:bodyPr>
          <a:lstStyle/>
          <a:p>
            <a:pPr algn="l"/>
            <a:r>
              <a:rPr sz="1150" b="0" i="0">
                <a:solidFill>
                  <a:srgbClr val="1C1C1C"/>
                </a:solidFill>
                <a:latin typeface="Arial"/>
              </a:rPr>
              <a:t>Kick-off &amp; personal introduction of the full team</a:t>
            </a:r>
          </a:p>
        </p:txBody>
      </p:sp>
      <p:sp>
        <p:nvSpPr>
          <p:cNvPr id="23" name="TextBox 22"/>
          <p:cNvSpPr txBox="1"/>
          <p:nvPr/>
        </p:nvSpPr>
        <p:spPr>
          <a:xfrm>
            <a:off x="8732520" y="5038344"/>
            <a:ext cx="2926080" cy="457200"/>
          </a:xfrm>
          <a:prstGeom prst="rect">
            <a:avLst/>
          </a:prstGeom>
          <a:noFill/>
        </p:spPr>
        <p:txBody>
          <a:bodyPr wrap="square" anchor="ctr">
            <a:normAutofit/>
          </a:bodyPr>
          <a:lstStyle/>
          <a:p>
            <a:pPr algn="l"/>
            <a:r>
              <a:rPr sz="950" b="0" i="1">
                <a:solidFill>
                  <a:srgbClr val="7A7A7A"/>
                </a:solidFill>
                <a:latin typeface="Arial"/>
              </a:rPr>
              <a:t>within 2 weeks</a:t>
            </a:r>
          </a:p>
        </p:txBody>
      </p:sp>
      <p:sp>
        <p:nvSpPr>
          <p:cNvPr id="24" name="Rectangle 23"/>
          <p:cNvSpPr/>
          <p:nvPr/>
        </p:nvSpPr>
        <p:spPr>
          <a:xfrm>
            <a:off x="411480" y="5522976"/>
            <a:ext cx="411480" cy="411480"/>
          </a:xfrm>
          <a:prstGeom prst="rect">
            <a:avLst/>
          </a:prstGeom>
          <a:solidFill>
            <a:srgbClr val="C3002B"/>
          </a:solidFill>
          <a:ln w="6350">
            <a:solidFill>
              <a:srgbClr val="E2E2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11480" y="5568696"/>
            <a:ext cx="411480" cy="320040"/>
          </a:xfrm>
          <a:prstGeom prst="rect">
            <a:avLst/>
          </a:prstGeom>
          <a:noFill/>
        </p:spPr>
        <p:txBody>
          <a:bodyPr wrap="square" anchor="t">
            <a:normAutofit/>
          </a:bodyPr>
          <a:lstStyle/>
          <a:p>
            <a:pPr algn="ctr"/>
            <a:r>
              <a:rPr sz="1200" b="1" i="0">
                <a:solidFill>
                  <a:srgbClr val="FFFFFF"/>
                </a:solidFill>
                <a:latin typeface="Arial"/>
              </a:rPr>
              <a:t>5</a:t>
            </a:r>
          </a:p>
        </p:txBody>
      </p:sp>
      <p:sp>
        <p:nvSpPr>
          <p:cNvPr id="26" name="TextBox 25"/>
          <p:cNvSpPr txBox="1"/>
          <p:nvPr/>
        </p:nvSpPr>
        <p:spPr>
          <a:xfrm>
            <a:off x="960120" y="5550408"/>
            <a:ext cx="7680960" cy="457200"/>
          </a:xfrm>
          <a:prstGeom prst="rect">
            <a:avLst/>
          </a:prstGeom>
          <a:noFill/>
        </p:spPr>
        <p:txBody>
          <a:bodyPr wrap="square" anchor="ctr">
            <a:normAutofit/>
          </a:bodyPr>
          <a:lstStyle/>
          <a:p>
            <a:pPr algn="l"/>
            <a:r>
              <a:rPr sz="1150" b="0" i="0">
                <a:solidFill>
                  <a:srgbClr val="1C1C1C"/>
                </a:solidFill>
                <a:latin typeface="Arial"/>
              </a:rPr>
              <a:t>Integral project plan → decide on Phases 1–3</a:t>
            </a:r>
          </a:p>
        </p:txBody>
      </p:sp>
      <p:sp>
        <p:nvSpPr>
          <p:cNvPr id="27" name="TextBox 26"/>
          <p:cNvSpPr txBox="1"/>
          <p:nvPr/>
        </p:nvSpPr>
        <p:spPr>
          <a:xfrm>
            <a:off x="8732520" y="5550408"/>
            <a:ext cx="2926080" cy="457200"/>
          </a:xfrm>
          <a:prstGeom prst="rect">
            <a:avLst/>
          </a:prstGeom>
          <a:noFill/>
        </p:spPr>
        <p:txBody>
          <a:bodyPr wrap="square" anchor="ctr">
            <a:normAutofit/>
          </a:bodyPr>
          <a:lstStyle/>
          <a:p>
            <a:pPr algn="l"/>
            <a:r>
              <a:rPr sz="950" b="0" i="1">
                <a:solidFill>
                  <a:srgbClr val="7A7A7A"/>
                </a:solidFill>
                <a:latin typeface="Arial"/>
              </a:rPr>
              <a:t>end of Phase 0</a:t>
            </a:r>
          </a:p>
        </p:txBody>
      </p:sp>
      <p:sp>
        <p:nvSpPr>
          <p:cNvPr id="28" name="Rectangle 27"/>
          <p:cNvSpPr/>
          <p:nvPr/>
        </p:nvSpPr>
        <p:spPr>
          <a:xfrm>
            <a:off x="411480" y="6080760"/>
            <a:ext cx="11338560" cy="566928"/>
          </a:xfrm>
          <a:prstGeom prst="rect">
            <a:avLst/>
          </a:prstGeom>
          <a:solidFill>
            <a:srgbClr val="C3002B"/>
          </a:solidFill>
          <a:ln w="6350">
            <a:solidFill>
              <a:srgbClr val="E2E2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40080" y="6172200"/>
            <a:ext cx="10972800" cy="411480"/>
          </a:xfrm>
          <a:prstGeom prst="rect">
            <a:avLst/>
          </a:prstGeom>
          <a:noFill/>
        </p:spPr>
        <p:txBody>
          <a:bodyPr wrap="square" anchor="t">
            <a:normAutofit/>
          </a:bodyPr>
          <a:lstStyle/>
          <a:p>
            <a:pPr algn="l"/>
            <a:r>
              <a:rPr sz="1150" b="1" i="0">
                <a:solidFill>
                  <a:srgbClr val="FFFFFF"/>
                </a:solidFill>
                <a:latin typeface="Arial"/>
              </a:rPr>
              <a:t>Sjoerd Bezemer  ·  +31 (0)6 128 485 42  ·  sjoerd.bezemer@cushwake.com      |      Frank Okker — Head of PDS Netherlands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